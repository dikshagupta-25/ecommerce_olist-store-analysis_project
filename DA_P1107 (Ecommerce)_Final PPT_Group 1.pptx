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64" r:id="rId2"/>
    <p:sldId id="268" r:id="rId3"/>
    <p:sldId id="269" r:id="rId4"/>
    <p:sldId id="270" r:id="rId5"/>
    <p:sldId id="271" r:id="rId6"/>
    <p:sldId id="272" r:id="rId7"/>
    <p:sldId id="273" r:id="rId8"/>
    <p:sldId id="274" r:id="rId9"/>
    <p:sldId id="278" r:id="rId10"/>
    <p:sldId id="275" r:id="rId11"/>
    <p:sldId id="277" r:id="rId12"/>
  </p:sldIdLst>
  <p:sldSz cx="12192000" cy="6858000"/>
  <p:notesSz cx="6858000" cy="9144000"/>
  <p:defaultText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5969"/>
    <a:srgbClr val="00A0A8"/>
    <a:srgbClr val="FEC630"/>
    <a:srgbClr val="52CBBE"/>
    <a:srgbClr val="5D7373"/>
    <a:srgbClr val="52C9BD"/>
    <a:srgbClr val="F0E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5B76B38-C114-4B1D-8312-FE729E4AC29E}" v="157" dt="2025-11-22T06:21:34.495"/>
    <p1510:client id="{CEB9FDCC-5E57-4EA5-B767-AE0FBFD292CC}" v="56" dt="2025-11-22T13:42:40.34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651" autoAdjust="0"/>
    <p:restoredTop sz="93447" autoAdjust="0"/>
  </p:normalViewPr>
  <p:slideViewPr>
    <p:cSldViewPr snapToGrid="0">
      <p:cViewPr varScale="1">
        <p:scale>
          <a:sx n="80" d="100"/>
          <a:sy n="80" d="100"/>
        </p:scale>
        <p:origin x="1824" y="5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elfolie">
    <p:spTree>
      <p:nvGrpSpPr>
        <p:cNvPr id="1" name=""/>
        <p:cNvGrpSpPr/>
        <p:nvPr/>
      </p:nvGrpSpPr>
      <p:grpSpPr>
        <a:xfrm>
          <a:off x="0" y="0"/>
          <a:ext cx="0" cy="0"/>
          <a:chOff x="0" y="0"/>
          <a:chExt cx="0" cy="0"/>
        </a:xfrm>
      </p:grpSpPr>
      <p:sp>
        <p:nvSpPr>
          <p:cNvPr id="2" name="Titel 1"/>
          <p:cNvSpPr>
            <a:spLocks noGrp="1"/>
          </p:cNvSpPr>
          <p:nvPr>
            <p:ph type="ctrTitle"/>
          </p:nvPr>
        </p:nvSpPr>
        <p:spPr>
          <a:xfrm>
            <a:off x="1524000" y="1122363"/>
            <a:ext cx="9144000" cy="2387600"/>
          </a:xfrm>
        </p:spPr>
        <p:txBody>
          <a:bodyPr anchor="b"/>
          <a:lstStyle>
            <a:lvl1pPr algn="ctr">
              <a:defRPr sz="6000"/>
            </a:lvl1pPr>
          </a:lstStyle>
          <a:p>
            <a:r>
              <a:rPr lang="de-DE"/>
              <a:t>Titelmasterformat durch Klicken bearbeiten</a:t>
            </a:r>
          </a:p>
        </p:txBody>
      </p:sp>
      <p:sp>
        <p:nvSpPr>
          <p:cNvPr id="3" name="Untertitel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de-DE"/>
              <a:t>Formatvorlage des Untertitelmasters durch Klicken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07.01.2026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46036472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el und Inhal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idx="1"/>
          </p:nvPr>
        </p:nvSpPr>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07.01.2026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8746772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Abschnitts-&#10;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1850" y="1709738"/>
            <a:ext cx="10515600" cy="2852737"/>
          </a:xfrm>
        </p:spPr>
        <p:txBody>
          <a:bodyPr anchor="b"/>
          <a:lstStyle>
            <a:lvl1pPr>
              <a:defRPr sz="6000"/>
            </a:lvl1pPr>
          </a:lstStyle>
          <a:p>
            <a:r>
              <a:rPr lang="de-DE"/>
              <a:t>Titelmasterformat durch Klicken bearbeiten</a:t>
            </a:r>
          </a:p>
        </p:txBody>
      </p:sp>
      <p:sp>
        <p:nvSpPr>
          <p:cNvPr id="3" name="Textplatzhalt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de-DE"/>
              <a:t>Formatvorlagen des Textmasters bearbeiten</a:t>
            </a:r>
          </a:p>
        </p:txBody>
      </p:sp>
      <p:sp>
        <p:nvSpPr>
          <p:cNvPr id="4" name="Datumsplatzhalter 3"/>
          <p:cNvSpPr>
            <a:spLocks noGrp="1"/>
          </p:cNvSpPr>
          <p:nvPr>
            <p:ph type="dt" sz="half" idx="10"/>
          </p:nvPr>
        </p:nvSpPr>
        <p:spPr/>
        <p:txBody>
          <a:bodyPr/>
          <a:lstStyle/>
          <a:p>
            <a:fld id="{3FDFAF59-80FD-42F8-B77B-6179688B7234}" type="datetimeFigureOut">
              <a:rPr lang="de-DE" smtClean="0"/>
              <a:t>07.01.2026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2536175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Zwei Inhalt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Inhaltsplatzhalter 2"/>
          <p:cNvSpPr>
            <a:spLocks noGrp="1"/>
          </p:cNvSpPr>
          <p:nvPr>
            <p:ph sz="half" idx="1"/>
          </p:nvPr>
        </p:nvSpPr>
        <p:spPr>
          <a:xfrm>
            <a:off x="838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Inhaltsplatzhalter 3"/>
          <p:cNvSpPr>
            <a:spLocks noGrp="1"/>
          </p:cNvSpPr>
          <p:nvPr>
            <p:ph sz="half" idx="2"/>
          </p:nvPr>
        </p:nvSpPr>
        <p:spPr>
          <a:xfrm>
            <a:off x="6172200" y="1825625"/>
            <a:ext cx="5181600" cy="435133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Datumsplatzhalter 4"/>
          <p:cNvSpPr>
            <a:spLocks noGrp="1"/>
          </p:cNvSpPr>
          <p:nvPr>
            <p:ph type="dt" sz="half" idx="10"/>
          </p:nvPr>
        </p:nvSpPr>
        <p:spPr/>
        <p:txBody>
          <a:bodyPr/>
          <a:lstStyle/>
          <a:p>
            <a:fld id="{3FDFAF59-80FD-42F8-B77B-6179688B7234}" type="datetimeFigureOut">
              <a:rPr lang="de-DE" smtClean="0"/>
              <a:t>07.01.2026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79403679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Vergleich">
    <p:spTree>
      <p:nvGrpSpPr>
        <p:cNvPr id="1" name=""/>
        <p:cNvGrpSpPr/>
        <p:nvPr/>
      </p:nvGrpSpPr>
      <p:grpSpPr>
        <a:xfrm>
          <a:off x="0" y="0"/>
          <a:ext cx="0" cy="0"/>
          <a:chOff x="0" y="0"/>
          <a:chExt cx="0" cy="0"/>
        </a:xfrm>
      </p:grpSpPr>
      <p:sp>
        <p:nvSpPr>
          <p:cNvPr id="2" name="Titel 1"/>
          <p:cNvSpPr>
            <a:spLocks noGrp="1"/>
          </p:cNvSpPr>
          <p:nvPr>
            <p:ph type="title"/>
          </p:nvPr>
        </p:nvSpPr>
        <p:spPr>
          <a:xfrm>
            <a:off x="839788" y="365125"/>
            <a:ext cx="10515600" cy="1325563"/>
          </a:xfrm>
        </p:spPr>
        <p:txBody>
          <a:bodyPr/>
          <a:lstStyle/>
          <a:p>
            <a:r>
              <a:rPr lang="de-DE"/>
              <a:t>Titelmasterformat durch Klicken bearbeiten</a:t>
            </a:r>
          </a:p>
        </p:txBody>
      </p:sp>
      <p:sp>
        <p:nvSpPr>
          <p:cNvPr id="3" name="Textplatzhalt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4" name="Inhaltsplatzhalter 3"/>
          <p:cNvSpPr>
            <a:spLocks noGrp="1"/>
          </p:cNvSpPr>
          <p:nvPr>
            <p:ph sz="half" idx="2"/>
          </p:nvPr>
        </p:nvSpPr>
        <p:spPr>
          <a:xfrm>
            <a:off x="839788" y="2505075"/>
            <a:ext cx="5157787"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5" name="Textplatzhalt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de-DE"/>
              <a:t>Formatvorlagen des Textmasters bearbeiten</a:t>
            </a:r>
          </a:p>
        </p:txBody>
      </p:sp>
      <p:sp>
        <p:nvSpPr>
          <p:cNvPr id="6" name="Inhaltsplatzhalter 5"/>
          <p:cNvSpPr>
            <a:spLocks noGrp="1"/>
          </p:cNvSpPr>
          <p:nvPr>
            <p:ph sz="quarter" idx="4"/>
          </p:nvPr>
        </p:nvSpPr>
        <p:spPr>
          <a:xfrm>
            <a:off x="6172200" y="2505075"/>
            <a:ext cx="5183188" cy="3684588"/>
          </a:xfrm>
        </p:spPr>
        <p:txBody>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7" name="Datumsplatzhalter 6"/>
          <p:cNvSpPr>
            <a:spLocks noGrp="1"/>
          </p:cNvSpPr>
          <p:nvPr>
            <p:ph type="dt" sz="half" idx="10"/>
          </p:nvPr>
        </p:nvSpPr>
        <p:spPr/>
        <p:txBody>
          <a:bodyPr/>
          <a:lstStyle/>
          <a:p>
            <a:fld id="{3FDFAF59-80FD-42F8-B77B-6179688B7234}" type="datetimeFigureOut">
              <a:rPr lang="de-DE" smtClean="0"/>
              <a:t>07.01.2026</a:t>
            </a:fld>
            <a:endParaRPr lang="de-DE"/>
          </a:p>
        </p:txBody>
      </p:sp>
      <p:sp>
        <p:nvSpPr>
          <p:cNvPr id="8" name="Fußzeilenplatzhalter 7"/>
          <p:cNvSpPr>
            <a:spLocks noGrp="1"/>
          </p:cNvSpPr>
          <p:nvPr>
            <p:ph type="ftr" sz="quarter" idx="11"/>
          </p:nvPr>
        </p:nvSpPr>
        <p:spPr/>
        <p:txBody>
          <a:bodyPr/>
          <a:lstStyle/>
          <a:p>
            <a:endParaRPr lang="de-DE"/>
          </a:p>
        </p:txBody>
      </p:sp>
      <p:sp>
        <p:nvSpPr>
          <p:cNvPr id="9" name="Foliennummernplatzhalter 8"/>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41377067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Nur Titel">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Datumsplatzhalter 2"/>
          <p:cNvSpPr>
            <a:spLocks noGrp="1"/>
          </p:cNvSpPr>
          <p:nvPr>
            <p:ph type="dt" sz="half" idx="10"/>
          </p:nvPr>
        </p:nvSpPr>
        <p:spPr/>
        <p:txBody>
          <a:bodyPr/>
          <a:lstStyle/>
          <a:p>
            <a:fld id="{3FDFAF59-80FD-42F8-B77B-6179688B7234}" type="datetimeFigureOut">
              <a:rPr lang="de-DE" smtClean="0"/>
              <a:t>07.01.2026</a:t>
            </a:fld>
            <a:endParaRPr lang="de-DE"/>
          </a:p>
        </p:txBody>
      </p:sp>
      <p:sp>
        <p:nvSpPr>
          <p:cNvPr id="4" name="Fußzeilenplatzhalter 3"/>
          <p:cNvSpPr>
            <a:spLocks noGrp="1"/>
          </p:cNvSpPr>
          <p:nvPr>
            <p:ph type="ftr" sz="quarter" idx="11"/>
          </p:nvPr>
        </p:nvSpPr>
        <p:spPr/>
        <p:txBody>
          <a:bodyPr/>
          <a:lstStyle/>
          <a:p>
            <a:endParaRPr lang="de-DE"/>
          </a:p>
        </p:txBody>
      </p:sp>
      <p:sp>
        <p:nvSpPr>
          <p:cNvPr id="5" name="Foliennummernplatzhalter 4"/>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44033191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Leer">
    <p:spTree>
      <p:nvGrpSpPr>
        <p:cNvPr id="1" name=""/>
        <p:cNvGrpSpPr/>
        <p:nvPr/>
      </p:nvGrpSpPr>
      <p:grpSpPr>
        <a:xfrm>
          <a:off x="0" y="0"/>
          <a:ext cx="0" cy="0"/>
          <a:chOff x="0" y="0"/>
          <a:chExt cx="0" cy="0"/>
        </a:xfrm>
      </p:grpSpPr>
      <p:sp>
        <p:nvSpPr>
          <p:cNvPr id="2" name="Datumsplatzhalter 1"/>
          <p:cNvSpPr>
            <a:spLocks noGrp="1"/>
          </p:cNvSpPr>
          <p:nvPr>
            <p:ph type="dt" sz="half" idx="10"/>
          </p:nvPr>
        </p:nvSpPr>
        <p:spPr/>
        <p:txBody>
          <a:bodyPr/>
          <a:lstStyle/>
          <a:p>
            <a:fld id="{3FDFAF59-80FD-42F8-B77B-6179688B7234}" type="datetimeFigureOut">
              <a:rPr lang="de-DE" smtClean="0"/>
              <a:t>07.01.2026</a:t>
            </a:fld>
            <a:endParaRPr lang="de-DE"/>
          </a:p>
        </p:txBody>
      </p:sp>
      <p:sp>
        <p:nvSpPr>
          <p:cNvPr id="3" name="Fußzeilenplatzhalter 2"/>
          <p:cNvSpPr>
            <a:spLocks noGrp="1"/>
          </p:cNvSpPr>
          <p:nvPr>
            <p:ph type="ftr" sz="quarter" idx="11"/>
          </p:nvPr>
        </p:nvSpPr>
        <p:spPr/>
        <p:txBody>
          <a:bodyPr/>
          <a:lstStyle/>
          <a:p>
            <a:endParaRPr lang="de-DE"/>
          </a:p>
        </p:txBody>
      </p:sp>
      <p:sp>
        <p:nvSpPr>
          <p:cNvPr id="4" name="Foliennummernplatzhalter 3"/>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06195681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Inhalt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Inhaltsplatzhalt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07.01.2026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361600428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ild mit Überschrift">
    <p:spTree>
      <p:nvGrpSpPr>
        <p:cNvPr id="1" name=""/>
        <p:cNvGrpSpPr/>
        <p:nvPr/>
      </p:nvGrpSpPr>
      <p:grpSpPr>
        <a:xfrm>
          <a:off x="0" y="0"/>
          <a:ext cx="0" cy="0"/>
          <a:chOff x="0" y="0"/>
          <a:chExt cx="0" cy="0"/>
        </a:xfrm>
      </p:grpSpPr>
      <p:sp>
        <p:nvSpPr>
          <p:cNvPr id="2" name="Titel 1"/>
          <p:cNvSpPr>
            <a:spLocks noGrp="1"/>
          </p:cNvSpPr>
          <p:nvPr>
            <p:ph type="title"/>
          </p:nvPr>
        </p:nvSpPr>
        <p:spPr>
          <a:xfrm>
            <a:off x="839788" y="457200"/>
            <a:ext cx="3932237" cy="1600200"/>
          </a:xfrm>
        </p:spPr>
        <p:txBody>
          <a:bodyPr anchor="b"/>
          <a:lstStyle>
            <a:lvl1pPr>
              <a:defRPr sz="3200"/>
            </a:lvl1pPr>
          </a:lstStyle>
          <a:p>
            <a:r>
              <a:rPr lang="de-DE"/>
              <a:t>Titelmasterformat durch Klicken bearbeiten</a:t>
            </a:r>
          </a:p>
        </p:txBody>
      </p:sp>
      <p:sp>
        <p:nvSpPr>
          <p:cNvPr id="3" name="Bildplatzhalt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de-DE"/>
          </a:p>
        </p:txBody>
      </p:sp>
      <p:sp>
        <p:nvSpPr>
          <p:cNvPr id="4" name="Textplatzhalt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de-DE"/>
              <a:t>Formatvorlagen des Textmasters bearbeiten</a:t>
            </a:r>
          </a:p>
        </p:txBody>
      </p:sp>
      <p:sp>
        <p:nvSpPr>
          <p:cNvPr id="5" name="Datumsplatzhalter 4"/>
          <p:cNvSpPr>
            <a:spLocks noGrp="1"/>
          </p:cNvSpPr>
          <p:nvPr>
            <p:ph type="dt" sz="half" idx="10"/>
          </p:nvPr>
        </p:nvSpPr>
        <p:spPr/>
        <p:txBody>
          <a:bodyPr/>
          <a:lstStyle/>
          <a:p>
            <a:fld id="{3FDFAF59-80FD-42F8-B77B-6179688B7234}" type="datetimeFigureOut">
              <a:rPr lang="de-DE" smtClean="0"/>
              <a:t>07.01.2026</a:t>
            </a:fld>
            <a:endParaRPr lang="de-DE"/>
          </a:p>
        </p:txBody>
      </p:sp>
      <p:sp>
        <p:nvSpPr>
          <p:cNvPr id="6" name="Fußzeilenplatzhalter 5"/>
          <p:cNvSpPr>
            <a:spLocks noGrp="1"/>
          </p:cNvSpPr>
          <p:nvPr>
            <p:ph type="ftr" sz="quarter" idx="11"/>
          </p:nvPr>
        </p:nvSpPr>
        <p:spPr/>
        <p:txBody>
          <a:bodyPr/>
          <a:lstStyle/>
          <a:p>
            <a:endParaRPr lang="de-DE"/>
          </a:p>
        </p:txBody>
      </p:sp>
      <p:sp>
        <p:nvSpPr>
          <p:cNvPr id="7" name="Foliennummernplatzhalter 6"/>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112689874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el und vertikaler Tex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p>
        </p:txBody>
      </p:sp>
      <p:sp>
        <p:nvSpPr>
          <p:cNvPr id="3" name="Vertikaler Textplatzhalter 2"/>
          <p:cNvSpPr>
            <a:spLocks noGrp="1"/>
          </p:cNvSpPr>
          <p:nvPr>
            <p:ph type="body" orient="vert" idx="1"/>
          </p:nvPr>
        </p:nvSpPr>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07.01.2026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64663590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kaler Titel und Text">
    <p:spTree>
      <p:nvGrpSpPr>
        <p:cNvPr id="1" name=""/>
        <p:cNvGrpSpPr/>
        <p:nvPr/>
      </p:nvGrpSpPr>
      <p:grpSpPr>
        <a:xfrm>
          <a:off x="0" y="0"/>
          <a:ext cx="0" cy="0"/>
          <a:chOff x="0" y="0"/>
          <a:chExt cx="0" cy="0"/>
        </a:xfrm>
      </p:grpSpPr>
      <p:sp>
        <p:nvSpPr>
          <p:cNvPr id="2" name="Vertikaler Titel 1"/>
          <p:cNvSpPr>
            <a:spLocks noGrp="1"/>
          </p:cNvSpPr>
          <p:nvPr>
            <p:ph type="title" orient="vert"/>
          </p:nvPr>
        </p:nvSpPr>
        <p:spPr>
          <a:xfrm>
            <a:off x="8724900" y="365125"/>
            <a:ext cx="2628900" cy="5811838"/>
          </a:xfrm>
        </p:spPr>
        <p:txBody>
          <a:bodyPr vert="eaVert"/>
          <a:lstStyle/>
          <a:p>
            <a:r>
              <a:rPr lang="de-DE"/>
              <a:t>Titelmasterformat durch Klicken bearbeiten</a:t>
            </a:r>
          </a:p>
        </p:txBody>
      </p:sp>
      <p:sp>
        <p:nvSpPr>
          <p:cNvPr id="3" name="Vertikaler Textplatzhalter 2"/>
          <p:cNvSpPr>
            <a:spLocks noGrp="1"/>
          </p:cNvSpPr>
          <p:nvPr>
            <p:ph type="body" orient="vert" idx="1"/>
          </p:nvPr>
        </p:nvSpPr>
        <p:spPr>
          <a:xfrm>
            <a:off x="838200" y="365125"/>
            <a:ext cx="7734300" cy="5811838"/>
          </a:xfrm>
        </p:spPr>
        <p:txBody>
          <a:bodyPr vert="eaVert"/>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10"/>
          </p:nvPr>
        </p:nvSpPr>
        <p:spPr/>
        <p:txBody>
          <a:bodyPr/>
          <a:lstStyle/>
          <a:p>
            <a:fld id="{3FDFAF59-80FD-42F8-B77B-6179688B7234}" type="datetimeFigureOut">
              <a:rPr lang="de-DE" smtClean="0"/>
              <a:t>07.01.2026</a:t>
            </a:fld>
            <a:endParaRPr lang="de-DE"/>
          </a:p>
        </p:txBody>
      </p:sp>
      <p:sp>
        <p:nvSpPr>
          <p:cNvPr id="5" name="Fußzeilenplatzhalter 4"/>
          <p:cNvSpPr>
            <a:spLocks noGrp="1"/>
          </p:cNvSpPr>
          <p:nvPr>
            <p:ph type="ftr" sz="quarter" idx="11"/>
          </p:nvPr>
        </p:nvSpPr>
        <p:spPr/>
        <p:txBody>
          <a:bodyPr/>
          <a:lstStyle/>
          <a:p>
            <a:endParaRPr lang="de-DE"/>
          </a:p>
        </p:txBody>
      </p:sp>
      <p:sp>
        <p:nvSpPr>
          <p:cNvPr id="6" name="Foliennummernplatzhalter 5"/>
          <p:cNvSpPr>
            <a:spLocks noGrp="1"/>
          </p:cNvSpPr>
          <p:nvPr>
            <p:ph type="sldNum" sz="quarter" idx="12"/>
          </p:nvPr>
        </p:nvSpPr>
        <p:spPr/>
        <p:txBody>
          <a:bodyPr/>
          <a:lstStyle/>
          <a:p>
            <a:fld id="{A4489FD0-501B-4C6F-9CB2-8996B7BF4EFE}" type="slidenum">
              <a:rPr lang="de-DE" smtClean="0"/>
              <a:t>‹#›</a:t>
            </a:fld>
            <a:endParaRPr lang="de-DE"/>
          </a:p>
        </p:txBody>
      </p:sp>
    </p:spTree>
    <p:extLst>
      <p:ext uri="{BB962C8B-B14F-4D97-AF65-F5344CB8AC3E}">
        <p14:creationId xmlns:p14="http://schemas.microsoft.com/office/powerpoint/2010/main" val="29471114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0EEF0"/>
        </a:solidFill>
        <a:effectLst/>
      </p:bgPr>
    </p:bg>
    <p:spTree>
      <p:nvGrpSpPr>
        <p:cNvPr id="1" name=""/>
        <p:cNvGrpSpPr/>
        <p:nvPr/>
      </p:nvGrpSpPr>
      <p:grpSpPr>
        <a:xfrm>
          <a:off x="0" y="0"/>
          <a:ext cx="0" cy="0"/>
          <a:chOff x="0" y="0"/>
          <a:chExt cx="0" cy="0"/>
        </a:xfrm>
      </p:grpSpPr>
      <p:sp>
        <p:nvSpPr>
          <p:cNvPr id="2" name="Titelplatzhalt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de-DE"/>
              <a:t>Titelmasterformat durch Klicken bearbeiten</a:t>
            </a:r>
          </a:p>
        </p:txBody>
      </p:sp>
      <p:sp>
        <p:nvSpPr>
          <p:cNvPr id="3" name="Textplatzhalt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de-DE"/>
              <a:t>Formatvorlagen des Textmasters bearbeiten</a:t>
            </a:r>
          </a:p>
          <a:p>
            <a:pPr lvl="1"/>
            <a:r>
              <a:rPr lang="de-DE"/>
              <a:t>Zweite Ebene</a:t>
            </a:r>
          </a:p>
          <a:p>
            <a:pPr lvl="2"/>
            <a:r>
              <a:rPr lang="de-DE"/>
              <a:t>Dritte Ebene</a:t>
            </a:r>
          </a:p>
          <a:p>
            <a:pPr lvl="3"/>
            <a:r>
              <a:rPr lang="de-DE"/>
              <a:t>Vierte Ebene</a:t>
            </a:r>
          </a:p>
          <a:p>
            <a:pPr lvl="4"/>
            <a:r>
              <a:rPr lang="de-DE"/>
              <a:t>Fünfte Ebene</a:t>
            </a:r>
          </a:p>
        </p:txBody>
      </p:sp>
      <p:sp>
        <p:nvSpPr>
          <p:cNvPr id="4" name="Datumsplatzhalt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FDFAF59-80FD-42F8-B77B-6179688B7234}" type="datetimeFigureOut">
              <a:rPr lang="de-DE" smtClean="0"/>
              <a:t>07.01.2026</a:t>
            </a:fld>
            <a:endParaRPr lang="de-DE"/>
          </a:p>
        </p:txBody>
      </p:sp>
      <p:sp>
        <p:nvSpPr>
          <p:cNvPr id="5" name="Fußzeilenplatzhalt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de-DE"/>
          </a:p>
        </p:txBody>
      </p:sp>
      <p:sp>
        <p:nvSpPr>
          <p:cNvPr id="6" name="Foliennummernplatzhalt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489FD0-501B-4C6F-9CB2-8996B7BF4EFE}" type="slidenum">
              <a:rPr lang="de-DE" smtClean="0"/>
              <a:t>‹#›</a:t>
            </a:fld>
            <a:endParaRPr lang="de-DE"/>
          </a:p>
        </p:txBody>
      </p:sp>
    </p:spTree>
    <p:extLst>
      <p:ext uri="{BB962C8B-B14F-4D97-AF65-F5344CB8AC3E}">
        <p14:creationId xmlns:p14="http://schemas.microsoft.com/office/powerpoint/2010/main" val="37318752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png"/><Relationship Id="rId1" Type="http://schemas.openxmlformats.org/officeDocument/2006/relationships/slideLayout" Target="../slideLayouts/slideLayout7.xml"/><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3.sv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png"/><Relationship Id="rId1" Type="http://schemas.openxmlformats.org/officeDocument/2006/relationships/slideLayout" Target="../slideLayouts/slideLayout7.xml"/><Relationship Id="rId5" Type="http://schemas.openxmlformats.org/officeDocument/2006/relationships/image" Target="../media/image14.jpeg"/><Relationship Id="rId4" Type="http://schemas.openxmlformats.org/officeDocument/2006/relationships/image" Target="../media/image13.jpeg"/></Relationships>
</file>

<file path=ppt/slides/_rels/slide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png"/><Relationship Id="rId1" Type="http://schemas.openxmlformats.org/officeDocument/2006/relationships/slideLayout" Target="../slideLayouts/slideLayout7.xml"/><Relationship Id="rId4" Type="http://schemas.openxmlformats.org/officeDocument/2006/relationships/image" Target="../media/image16.jpeg"/></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TextBox 49">
            <a:extLst>
              <a:ext uri="{FF2B5EF4-FFF2-40B4-BE49-F238E27FC236}">
                <a16:creationId xmlns:a16="http://schemas.microsoft.com/office/drawing/2014/main" id="{9EB0FD16-689C-476C-8309-C7173C257513}"/>
              </a:ext>
            </a:extLst>
          </p:cNvPr>
          <p:cNvSpPr txBox="1"/>
          <p:nvPr/>
        </p:nvSpPr>
        <p:spPr>
          <a:xfrm>
            <a:off x="3942996" y="1338291"/>
            <a:ext cx="7278915" cy="1908215"/>
          </a:xfrm>
          <a:prstGeom prst="rect">
            <a:avLst/>
          </a:prstGeom>
          <a:noFill/>
        </p:spPr>
        <p:txBody>
          <a:bodyPr wrap="square" rtlCol="0">
            <a:spAutoFit/>
          </a:bodyPr>
          <a:lstStyle/>
          <a:p>
            <a:pPr algn="ctr"/>
            <a:r>
              <a:rPr lang="en-US" sz="11800" dirty="0">
                <a:solidFill>
                  <a:srgbClr val="FF5969"/>
                </a:solidFill>
                <a:latin typeface="Tw Cen MT" panose="020B0602020104020603" pitchFamily="34" charset="0"/>
              </a:rPr>
              <a:t>WELCOME</a:t>
            </a:r>
          </a:p>
        </p:txBody>
      </p:sp>
      <p:sp>
        <p:nvSpPr>
          <p:cNvPr id="57" name="TextBox 56">
            <a:extLst>
              <a:ext uri="{FF2B5EF4-FFF2-40B4-BE49-F238E27FC236}">
                <a16:creationId xmlns:a16="http://schemas.microsoft.com/office/drawing/2014/main" id="{4F202974-31A3-4642-B671-F0DBBB7B4663}"/>
              </a:ext>
            </a:extLst>
          </p:cNvPr>
          <p:cNvSpPr txBox="1"/>
          <p:nvPr/>
        </p:nvSpPr>
        <p:spPr>
          <a:xfrm>
            <a:off x="3987082" y="3010736"/>
            <a:ext cx="7278915" cy="1354217"/>
          </a:xfrm>
          <a:prstGeom prst="rect">
            <a:avLst/>
          </a:prstGeom>
          <a:noFill/>
        </p:spPr>
        <p:txBody>
          <a:bodyPr wrap="square" rtlCol="0">
            <a:spAutoFit/>
          </a:bodyPr>
          <a:lstStyle/>
          <a:p>
            <a:pPr algn="ctr"/>
            <a:r>
              <a:rPr lang="en-US" sz="4100" dirty="0">
                <a:solidFill>
                  <a:srgbClr val="52CBBE"/>
                </a:solidFill>
                <a:latin typeface="Tw Cen MT" panose="020B0602020104020603" pitchFamily="34" charset="0"/>
              </a:rPr>
              <a:t>FINAL PRESENTATION OF PROJECT</a:t>
            </a:r>
          </a:p>
        </p:txBody>
      </p:sp>
      <p:sp>
        <p:nvSpPr>
          <p:cNvPr id="58" name="TextBox 57">
            <a:extLst>
              <a:ext uri="{FF2B5EF4-FFF2-40B4-BE49-F238E27FC236}">
                <a16:creationId xmlns:a16="http://schemas.microsoft.com/office/drawing/2014/main" id="{79BCE1F0-A71E-4D4B-BE6A-A381604C28D2}"/>
              </a:ext>
            </a:extLst>
          </p:cNvPr>
          <p:cNvSpPr txBox="1"/>
          <p:nvPr/>
        </p:nvSpPr>
        <p:spPr>
          <a:xfrm>
            <a:off x="4204269" y="4531359"/>
            <a:ext cx="7136733" cy="523220"/>
          </a:xfrm>
          <a:prstGeom prst="rect">
            <a:avLst/>
          </a:prstGeom>
          <a:noFill/>
        </p:spPr>
        <p:txBody>
          <a:bodyPr wrap="square" rtlCol="0">
            <a:spAutoFit/>
          </a:bodyPr>
          <a:lstStyle/>
          <a:p>
            <a:pPr algn="ctr"/>
            <a:r>
              <a:rPr lang="en-US" sz="2800" dirty="0">
                <a:solidFill>
                  <a:schemeClr val="tx1">
                    <a:lumMod val="75000"/>
                    <a:lumOff val="25000"/>
                  </a:schemeClr>
                </a:solidFill>
                <a:latin typeface="Tw Cen MT" panose="020B0602020104020603" pitchFamily="34" charset="0"/>
              </a:rPr>
              <a:t>OLIST STORE E-COMMERCE</a:t>
            </a:r>
          </a:p>
        </p:txBody>
      </p:sp>
      <p:grpSp>
        <p:nvGrpSpPr>
          <p:cNvPr id="19" name="Group 18">
            <a:extLst>
              <a:ext uri="{FF2B5EF4-FFF2-40B4-BE49-F238E27FC236}">
                <a16:creationId xmlns:a16="http://schemas.microsoft.com/office/drawing/2014/main" id="{C8A16B82-6A3C-46F5-8D32-072FDF89864A}"/>
              </a:ext>
            </a:extLst>
          </p:cNvPr>
          <p:cNvGrpSpPr/>
          <p:nvPr/>
        </p:nvGrpSpPr>
        <p:grpSpPr>
          <a:xfrm>
            <a:off x="-9302800" y="0"/>
            <a:ext cx="12482920" cy="6858000"/>
            <a:chOff x="-290920" y="0"/>
            <a:chExt cx="12482920" cy="6858000"/>
          </a:xfrm>
        </p:grpSpPr>
        <p:sp>
          <p:nvSpPr>
            <p:cNvPr id="20" name="Rectangle 19">
              <a:extLst>
                <a:ext uri="{FF2B5EF4-FFF2-40B4-BE49-F238E27FC236}">
                  <a16:creationId xmlns:a16="http://schemas.microsoft.com/office/drawing/2014/main" id="{2F391CEE-E392-4A9D-BD11-6954B994FB42}"/>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Freeform: Shape 20">
              <a:extLst>
                <a:ext uri="{FF2B5EF4-FFF2-40B4-BE49-F238E27FC236}">
                  <a16:creationId xmlns:a16="http://schemas.microsoft.com/office/drawing/2014/main" id="{7AC43ACA-5000-40E2-80D3-19833F9F1A3F}"/>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TextBox 21">
              <a:extLst>
                <a:ext uri="{FF2B5EF4-FFF2-40B4-BE49-F238E27FC236}">
                  <a16:creationId xmlns:a16="http://schemas.microsoft.com/office/drawing/2014/main" id="{BE022673-C77C-4E8F-AF41-8B283703E87E}"/>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23" name="Picture 22">
              <a:extLst>
                <a:ext uri="{FF2B5EF4-FFF2-40B4-BE49-F238E27FC236}">
                  <a16:creationId xmlns:a16="http://schemas.microsoft.com/office/drawing/2014/main" id="{E8AD023B-AE8D-405F-90E6-27B0D470799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24" name="Group 23">
            <a:extLst>
              <a:ext uri="{FF2B5EF4-FFF2-40B4-BE49-F238E27FC236}">
                <a16:creationId xmlns:a16="http://schemas.microsoft.com/office/drawing/2014/main" id="{69A27401-3327-4871-86AC-B461CA62C3AC}"/>
              </a:ext>
            </a:extLst>
          </p:cNvPr>
          <p:cNvGrpSpPr/>
          <p:nvPr/>
        </p:nvGrpSpPr>
        <p:grpSpPr>
          <a:xfrm>
            <a:off x="-8798784" y="0"/>
            <a:ext cx="11447504" cy="6858000"/>
            <a:chOff x="213096" y="0"/>
            <a:chExt cx="11447504" cy="6858000"/>
          </a:xfrm>
        </p:grpSpPr>
        <p:sp>
          <p:nvSpPr>
            <p:cNvPr id="25" name="Rectangle 24">
              <a:extLst>
                <a:ext uri="{FF2B5EF4-FFF2-40B4-BE49-F238E27FC236}">
                  <a16:creationId xmlns:a16="http://schemas.microsoft.com/office/drawing/2014/main" id="{706C029B-A799-4206-A656-A006D8F8399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63328131-EC42-4D6D-A247-91FD3D23E58C}"/>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3A728384-87ED-4E87-8F78-97EB653FDC67}"/>
                </a:ext>
              </a:extLst>
            </p:cNvPr>
            <p:cNvSpPr txBox="1"/>
            <p:nvPr/>
          </p:nvSpPr>
          <p:spPr>
            <a:xfrm rot="16200000">
              <a:off x="10299505" y="3147721"/>
              <a:ext cx="2075860"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28" name="Picture 27">
              <a:extLst>
                <a:ext uri="{FF2B5EF4-FFF2-40B4-BE49-F238E27FC236}">
                  <a16:creationId xmlns:a16="http://schemas.microsoft.com/office/drawing/2014/main" id="{2B44F548-697F-412D-9B99-861C272463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29" name="Group 28">
            <a:extLst>
              <a:ext uri="{FF2B5EF4-FFF2-40B4-BE49-F238E27FC236}">
                <a16:creationId xmlns:a16="http://schemas.microsoft.com/office/drawing/2014/main" id="{C0099890-786A-4F87-960D-5DADE5168909}"/>
              </a:ext>
            </a:extLst>
          </p:cNvPr>
          <p:cNvGrpSpPr/>
          <p:nvPr/>
        </p:nvGrpSpPr>
        <p:grpSpPr>
          <a:xfrm>
            <a:off x="-7847639" y="0"/>
            <a:ext cx="9961092" cy="6858000"/>
            <a:chOff x="491575" y="0"/>
            <a:chExt cx="9961092" cy="6858000"/>
          </a:xfrm>
        </p:grpSpPr>
        <p:sp>
          <p:nvSpPr>
            <p:cNvPr id="30" name="Rectangle 29">
              <a:extLst>
                <a:ext uri="{FF2B5EF4-FFF2-40B4-BE49-F238E27FC236}">
                  <a16:creationId xmlns:a16="http://schemas.microsoft.com/office/drawing/2014/main" id="{CE9AAB1E-3A13-4745-A574-9EE6806378C9}"/>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1" name="Freeform: Shape 30">
              <a:extLst>
                <a:ext uri="{FF2B5EF4-FFF2-40B4-BE49-F238E27FC236}">
                  <a16:creationId xmlns:a16="http://schemas.microsoft.com/office/drawing/2014/main" id="{1BC0F905-3F71-4932-B130-39D508C4D117}"/>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a:extLst>
                <a:ext uri="{FF2B5EF4-FFF2-40B4-BE49-F238E27FC236}">
                  <a16:creationId xmlns:a16="http://schemas.microsoft.com/office/drawing/2014/main" id="{93EC5869-A976-4328-A864-2BB04E7E7BFC}"/>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33" name="Picture 32">
              <a:extLst>
                <a:ext uri="{FF2B5EF4-FFF2-40B4-BE49-F238E27FC236}">
                  <a16:creationId xmlns:a16="http://schemas.microsoft.com/office/drawing/2014/main" id="{7C8E4AB7-ADC0-4FEE-AE7A-994F5DAD3FE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34" name="Group 33">
            <a:extLst>
              <a:ext uri="{FF2B5EF4-FFF2-40B4-BE49-F238E27FC236}">
                <a16:creationId xmlns:a16="http://schemas.microsoft.com/office/drawing/2014/main" id="{0E4F6447-6163-4D6A-A8D2-BD63B6CB3A42}"/>
              </a:ext>
            </a:extLst>
          </p:cNvPr>
          <p:cNvGrpSpPr/>
          <p:nvPr/>
        </p:nvGrpSpPr>
        <p:grpSpPr>
          <a:xfrm>
            <a:off x="-7985197" y="0"/>
            <a:ext cx="9574094" cy="6858000"/>
            <a:chOff x="491575" y="0"/>
            <a:chExt cx="9574094" cy="6858000"/>
          </a:xfrm>
        </p:grpSpPr>
        <p:sp>
          <p:nvSpPr>
            <p:cNvPr id="35" name="Rectangle 34">
              <a:extLst>
                <a:ext uri="{FF2B5EF4-FFF2-40B4-BE49-F238E27FC236}">
                  <a16:creationId xmlns:a16="http://schemas.microsoft.com/office/drawing/2014/main" id="{5CB8CB55-9DEC-4367-900E-7257FE1B874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Freeform: Shape 35">
              <a:extLst>
                <a:ext uri="{FF2B5EF4-FFF2-40B4-BE49-F238E27FC236}">
                  <a16:creationId xmlns:a16="http://schemas.microsoft.com/office/drawing/2014/main" id="{9DBAEDD6-7153-4AFF-BDC7-5A225B4B5642}"/>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7" name="TextBox 36">
              <a:extLst>
                <a:ext uri="{FF2B5EF4-FFF2-40B4-BE49-F238E27FC236}">
                  <a16:creationId xmlns:a16="http://schemas.microsoft.com/office/drawing/2014/main" id="{12F9D37B-DE70-4087-8A7F-BBA0BAF5B6CF}"/>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38" name="Picture 37">
              <a:extLst>
                <a:ext uri="{FF2B5EF4-FFF2-40B4-BE49-F238E27FC236}">
                  <a16:creationId xmlns:a16="http://schemas.microsoft.com/office/drawing/2014/main" id="{6FA13E8D-3FCC-4EC2-BD8C-6CE7CA0ECD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9" name="Rectangle 38">
            <a:extLst>
              <a:ext uri="{FF2B5EF4-FFF2-40B4-BE49-F238E27FC236}">
                <a16:creationId xmlns:a16="http://schemas.microsoft.com/office/drawing/2014/main" id="{71382190-201C-4BAE-91F3-296A26671C96}"/>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0" name="Group 39">
            <a:extLst>
              <a:ext uri="{FF2B5EF4-FFF2-40B4-BE49-F238E27FC236}">
                <a16:creationId xmlns:a16="http://schemas.microsoft.com/office/drawing/2014/main" id="{3FD3EE0D-FD02-4885-9AC0-03F414A9888F}"/>
              </a:ext>
            </a:extLst>
          </p:cNvPr>
          <p:cNvGrpSpPr/>
          <p:nvPr/>
        </p:nvGrpSpPr>
        <p:grpSpPr>
          <a:xfrm>
            <a:off x="-7638543" y="-1"/>
            <a:ext cx="8692332" cy="6858000"/>
            <a:chOff x="718505" y="-1"/>
            <a:chExt cx="8692332" cy="6858000"/>
          </a:xfrm>
        </p:grpSpPr>
        <p:sp>
          <p:nvSpPr>
            <p:cNvPr id="41" name="Rectangle 40">
              <a:extLst>
                <a:ext uri="{FF2B5EF4-FFF2-40B4-BE49-F238E27FC236}">
                  <a16:creationId xmlns:a16="http://schemas.microsoft.com/office/drawing/2014/main" id="{60A9D552-2EF0-4DB4-9DC6-F52F2FD55E3C}"/>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2" name="Freeform: Shape 41">
              <a:extLst>
                <a:ext uri="{FF2B5EF4-FFF2-40B4-BE49-F238E27FC236}">
                  <a16:creationId xmlns:a16="http://schemas.microsoft.com/office/drawing/2014/main" id="{DA27D1F1-923F-4591-A07A-39E775B734F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3" name="TextBox 42">
              <a:extLst>
                <a:ext uri="{FF2B5EF4-FFF2-40B4-BE49-F238E27FC236}">
                  <a16:creationId xmlns:a16="http://schemas.microsoft.com/office/drawing/2014/main" id="{0E895421-2372-4C7F-93D2-3B0353A6E7BD}"/>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44" name="Picture 43">
              <a:extLst>
                <a:ext uri="{FF2B5EF4-FFF2-40B4-BE49-F238E27FC236}">
                  <a16:creationId xmlns:a16="http://schemas.microsoft.com/office/drawing/2014/main" id="{1A9D6167-F7B8-4BFF-8BC5-2D13EF0CFF8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45" name="Group 44">
            <a:extLst>
              <a:ext uri="{FF2B5EF4-FFF2-40B4-BE49-F238E27FC236}">
                <a16:creationId xmlns:a16="http://schemas.microsoft.com/office/drawing/2014/main" id="{76789F00-2688-429D-926C-15F83152FDBE}"/>
              </a:ext>
            </a:extLst>
          </p:cNvPr>
          <p:cNvGrpSpPr/>
          <p:nvPr/>
        </p:nvGrpSpPr>
        <p:grpSpPr>
          <a:xfrm>
            <a:off x="-9395082" y="-1"/>
            <a:ext cx="9927504" cy="6858000"/>
            <a:chOff x="-9337032" y="-1"/>
            <a:chExt cx="9927504" cy="6858000"/>
          </a:xfrm>
        </p:grpSpPr>
        <p:sp>
          <p:nvSpPr>
            <p:cNvPr id="46" name="Rectangle 45">
              <a:extLst>
                <a:ext uri="{FF2B5EF4-FFF2-40B4-BE49-F238E27FC236}">
                  <a16:creationId xmlns:a16="http://schemas.microsoft.com/office/drawing/2014/main" id="{FF862AB6-114D-4C6A-B849-5A11B3650265}"/>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Freeform: Shape 46">
              <a:extLst>
                <a:ext uri="{FF2B5EF4-FFF2-40B4-BE49-F238E27FC236}">
                  <a16:creationId xmlns:a16="http://schemas.microsoft.com/office/drawing/2014/main" id="{30105858-8A3E-4676-96A7-18C1A74E36F4}"/>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8" name="TextBox 47">
              <a:extLst>
                <a:ext uri="{FF2B5EF4-FFF2-40B4-BE49-F238E27FC236}">
                  <a16:creationId xmlns:a16="http://schemas.microsoft.com/office/drawing/2014/main" id="{8A634BD7-1512-45B6-AFE4-1EEA636625CB}"/>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49" name="Picture 48">
              <a:extLst>
                <a:ext uri="{FF2B5EF4-FFF2-40B4-BE49-F238E27FC236}">
                  <a16:creationId xmlns:a16="http://schemas.microsoft.com/office/drawing/2014/main" id="{F08704A4-CABE-4989-8BF7-C10A6BB40ED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18" name="Group 17">
            <a:extLst>
              <a:ext uri="{FF2B5EF4-FFF2-40B4-BE49-F238E27FC236}">
                <a16:creationId xmlns:a16="http://schemas.microsoft.com/office/drawing/2014/main" id="{0EC80786-6F38-D83E-F043-B3810116B6D4}"/>
              </a:ext>
            </a:extLst>
          </p:cNvPr>
          <p:cNvGrpSpPr/>
          <p:nvPr/>
        </p:nvGrpSpPr>
        <p:grpSpPr>
          <a:xfrm>
            <a:off x="-12211189" y="0"/>
            <a:ext cx="12211854" cy="6858000"/>
            <a:chOff x="-9337032" y="-1"/>
            <a:chExt cx="9927504" cy="6858000"/>
          </a:xfrm>
        </p:grpSpPr>
        <p:sp>
          <p:nvSpPr>
            <p:cNvPr id="60" name="Rectangle 59">
              <a:extLst>
                <a:ext uri="{FF2B5EF4-FFF2-40B4-BE49-F238E27FC236}">
                  <a16:creationId xmlns:a16="http://schemas.microsoft.com/office/drawing/2014/main" id="{C43C7D68-501D-FD90-706F-5588116949E7}"/>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1" name="Freeform: Shape 60">
              <a:extLst>
                <a:ext uri="{FF2B5EF4-FFF2-40B4-BE49-F238E27FC236}">
                  <a16:creationId xmlns:a16="http://schemas.microsoft.com/office/drawing/2014/main" id="{152AA8CA-6447-F190-1382-F77C8CA355E6}"/>
                </a:ext>
              </a:extLst>
            </p:cNvPr>
            <p:cNvSpPr/>
            <p:nvPr/>
          </p:nvSpPr>
          <p:spPr>
            <a:xfrm>
              <a:off x="-465949" y="2337438"/>
              <a:ext cx="1056421"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2" name="TextBox 61">
              <a:extLst>
                <a:ext uri="{FF2B5EF4-FFF2-40B4-BE49-F238E27FC236}">
                  <a16:creationId xmlns:a16="http://schemas.microsoft.com/office/drawing/2014/main" id="{72BD0493-C37C-B3D5-9769-25871A68B87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follow</a:t>
              </a:r>
            </a:p>
          </p:txBody>
        </p:sp>
        <p:pic>
          <p:nvPicPr>
            <p:cNvPr id="63" name="Picture 62">
              <a:extLst>
                <a:ext uri="{FF2B5EF4-FFF2-40B4-BE49-F238E27FC236}">
                  <a16:creationId xmlns:a16="http://schemas.microsoft.com/office/drawing/2014/main" id="{033BC024-0FED-C1AF-C80F-D6333F756F8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69" name="Group 68">
            <a:extLst>
              <a:ext uri="{FF2B5EF4-FFF2-40B4-BE49-F238E27FC236}">
                <a16:creationId xmlns:a16="http://schemas.microsoft.com/office/drawing/2014/main" id="{2A60D2F5-9D6C-5CCE-C74F-C0FC85CCF9D3}"/>
              </a:ext>
            </a:extLst>
          </p:cNvPr>
          <p:cNvGrpSpPr/>
          <p:nvPr/>
        </p:nvGrpSpPr>
        <p:grpSpPr>
          <a:xfrm>
            <a:off x="-8680591" y="0"/>
            <a:ext cx="8692332" cy="6858000"/>
            <a:chOff x="718505" y="-1"/>
            <a:chExt cx="8692332" cy="6858000"/>
          </a:xfrm>
        </p:grpSpPr>
        <p:sp>
          <p:nvSpPr>
            <p:cNvPr id="70" name="Rectangle 69">
              <a:extLst>
                <a:ext uri="{FF2B5EF4-FFF2-40B4-BE49-F238E27FC236}">
                  <a16:creationId xmlns:a16="http://schemas.microsoft.com/office/drawing/2014/main" id="{9202A4DA-4B1A-77BD-A61B-E004C02587CF}"/>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1" name="Freeform: Shape 70">
              <a:extLst>
                <a:ext uri="{FF2B5EF4-FFF2-40B4-BE49-F238E27FC236}">
                  <a16:creationId xmlns:a16="http://schemas.microsoft.com/office/drawing/2014/main" id="{0A65F6E0-31DD-5581-74A9-CF5FF1587436}"/>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2" name="TextBox 71">
              <a:extLst>
                <a:ext uri="{FF2B5EF4-FFF2-40B4-BE49-F238E27FC236}">
                  <a16:creationId xmlns:a16="http://schemas.microsoft.com/office/drawing/2014/main" id="{645C50F2-B3ED-1026-D376-1623D611DE96}"/>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73" name="Picture 72">
              <a:extLst>
                <a:ext uri="{FF2B5EF4-FFF2-40B4-BE49-F238E27FC236}">
                  <a16:creationId xmlns:a16="http://schemas.microsoft.com/office/drawing/2014/main" id="{B924F86E-48E1-2209-CB88-8FF83330A5B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FBCC394C-4D51-0935-218A-173C1569E611}"/>
              </a:ext>
            </a:extLst>
          </p:cNvPr>
          <p:cNvGrpSpPr/>
          <p:nvPr/>
        </p:nvGrpSpPr>
        <p:grpSpPr>
          <a:xfrm>
            <a:off x="-10070144" y="-2"/>
            <a:ext cx="9574094" cy="6858000"/>
            <a:chOff x="491575" y="0"/>
            <a:chExt cx="9574094" cy="6858000"/>
          </a:xfrm>
        </p:grpSpPr>
        <p:sp>
          <p:nvSpPr>
            <p:cNvPr id="3" name="Rectangle 2">
              <a:extLst>
                <a:ext uri="{FF2B5EF4-FFF2-40B4-BE49-F238E27FC236}">
                  <a16:creationId xmlns:a16="http://schemas.microsoft.com/office/drawing/2014/main" id="{499FD61C-9A8A-E98A-0F2E-EAD0CDB17636}"/>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96DA6107-7472-0D48-EC51-E75A1B13D617}"/>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51991FCB-0E30-AAB3-25A5-B6073943ACD1}"/>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6" name="Picture 5">
              <a:extLst>
                <a:ext uri="{FF2B5EF4-FFF2-40B4-BE49-F238E27FC236}">
                  <a16:creationId xmlns:a16="http://schemas.microsoft.com/office/drawing/2014/main" id="{C575A6B0-74CF-5A03-73BD-B37F1AE846E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 name="Group 6">
            <a:extLst>
              <a:ext uri="{FF2B5EF4-FFF2-40B4-BE49-F238E27FC236}">
                <a16:creationId xmlns:a16="http://schemas.microsoft.com/office/drawing/2014/main" id="{DC666557-0DDF-E23C-BD10-E07C4B710E10}"/>
              </a:ext>
            </a:extLst>
          </p:cNvPr>
          <p:cNvGrpSpPr/>
          <p:nvPr/>
        </p:nvGrpSpPr>
        <p:grpSpPr>
          <a:xfrm>
            <a:off x="-10591510" y="-4"/>
            <a:ext cx="9574094" cy="6858000"/>
            <a:chOff x="491575" y="0"/>
            <a:chExt cx="9574094" cy="6858000"/>
          </a:xfrm>
        </p:grpSpPr>
        <p:sp>
          <p:nvSpPr>
            <p:cNvPr id="8" name="Rectangle 7">
              <a:extLst>
                <a:ext uri="{FF2B5EF4-FFF2-40B4-BE49-F238E27FC236}">
                  <a16:creationId xmlns:a16="http://schemas.microsoft.com/office/drawing/2014/main" id="{3C4BF1F2-43A6-F4D9-1658-B216DEF29238}"/>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64A4B9A8-A5EC-293C-2532-C5201B973C1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0A3D23B0-535A-F1BD-FDB2-76BB871CDF8D}"/>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11" name="Picture 10">
              <a:extLst>
                <a:ext uri="{FF2B5EF4-FFF2-40B4-BE49-F238E27FC236}">
                  <a16:creationId xmlns:a16="http://schemas.microsoft.com/office/drawing/2014/main" id="{C668A596-094B-752B-C5D7-CDFC844FFDE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Tree>
    <p:extLst>
      <p:ext uri="{BB962C8B-B14F-4D97-AF65-F5344CB8AC3E}">
        <p14:creationId xmlns:p14="http://schemas.microsoft.com/office/powerpoint/2010/main" val="75866100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066ACF4C-6F8C-46FC-8362-2E05C90EEAFA}"/>
              </a:ext>
            </a:extLst>
          </p:cNvPr>
          <p:cNvGrpSpPr/>
          <p:nvPr/>
        </p:nvGrpSpPr>
        <p:grpSpPr>
          <a:xfrm>
            <a:off x="-584604" y="8288"/>
            <a:ext cx="12756302" cy="6858000"/>
            <a:chOff x="-290920" y="0"/>
            <a:chExt cx="12482920" cy="6858000"/>
          </a:xfrm>
        </p:grpSpPr>
        <p:sp>
          <p:nvSpPr>
            <p:cNvPr id="51" name="Rectangle 50">
              <a:extLst>
                <a:ext uri="{FF2B5EF4-FFF2-40B4-BE49-F238E27FC236}">
                  <a16:creationId xmlns:a16="http://schemas.microsoft.com/office/drawing/2014/main" id="{4F373113-18F1-4443-9A8E-5EF06C1D2FEA}"/>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8F99D053-FB83-41F1-B2CB-C10918BC99BC}"/>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7F4373C1-3934-47C3-8F36-E2FB2615CA87}"/>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 </a:t>
              </a:r>
            </a:p>
          </p:txBody>
        </p:sp>
        <p:pic>
          <p:nvPicPr>
            <p:cNvPr id="54" name="Picture 53">
              <a:extLst>
                <a:ext uri="{FF2B5EF4-FFF2-40B4-BE49-F238E27FC236}">
                  <a16:creationId xmlns:a16="http://schemas.microsoft.com/office/drawing/2014/main" id="{5A5E18E8-5A3E-4F1D-8254-6193AA55C07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150C247F-7990-4945-869D-5E2A900F477F}"/>
              </a:ext>
            </a:extLst>
          </p:cNvPr>
          <p:cNvGrpSpPr/>
          <p:nvPr/>
        </p:nvGrpSpPr>
        <p:grpSpPr>
          <a:xfrm>
            <a:off x="-8798784" y="0"/>
            <a:ext cx="11447504" cy="6858000"/>
            <a:chOff x="213096" y="0"/>
            <a:chExt cx="11447504" cy="6858000"/>
          </a:xfrm>
        </p:grpSpPr>
        <p:sp>
          <p:nvSpPr>
            <p:cNvPr id="56" name="Rectangle 55">
              <a:extLst>
                <a:ext uri="{FF2B5EF4-FFF2-40B4-BE49-F238E27FC236}">
                  <a16:creationId xmlns:a16="http://schemas.microsoft.com/office/drawing/2014/main" id="{6D2C93AC-EBE3-4E67-A867-76D5D6BEDB10}"/>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35DBD2B9-E73C-4AE9-91C9-698379867E98}"/>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CD6BDC4B-8313-4203-9F42-C28AC214EB64}"/>
                </a:ext>
              </a:extLst>
            </p:cNvPr>
            <p:cNvSpPr txBox="1"/>
            <p:nvPr/>
          </p:nvSpPr>
          <p:spPr>
            <a:xfrm rot="16200000">
              <a:off x="10262702" y="3184523"/>
              <a:ext cx="214946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44037FC5-8E34-4772-9A87-813F2AD5E4D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BC916508-F80D-434E-B066-812949E5DB94}"/>
              </a:ext>
            </a:extLst>
          </p:cNvPr>
          <p:cNvGrpSpPr/>
          <p:nvPr/>
        </p:nvGrpSpPr>
        <p:grpSpPr>
          <a:xfrm>
            <a:off x="-7847639" y="0"/>
            <a:ext cx="9961092" cy="6858000"/>
            <a:chOff x="491575" y="0"/>
            <a:chExt cx="9961092" cy="6858000"/>
          </a:xfrm>
        </p:grpSpPr>
        <p:sp>
          <p:nvSpPr>
            <p:cNvPr id="61" name="Rectangle 60">
              <a:extLst>
                <a:ext uri="{FF2B5EF4-FFF2-40B4-BE49-F238E27FC236}">
                  <a16:creationId xmlns:a16="http://schemas.microsoft.com/office/drawing/2014/main" id="{CE9E3B68-B936-49FB-94D8-7AC0076CF488}"/>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0D3F9516-66C4-44E6-9877-6C0374B5112C}"/>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32DF4D80-460D-4455-B80A-3BC0C6A12DA2}"/>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7AB39DAF-3109-4CEA-BD1D-C123179FF81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65" name="Group 64">
            <a:extLst>
              <a:ext uri="{FF2B5EF4-FFF2-40B4-BE49-F238E27FC236}">
                <a16:creationId xmlns:a16="http://schemas.microsoft.com/office/drawing/2014/main" id="{92B7020D-701A-4EE7-BDA2-CD171993C203}"/>
              </a:ext>
            </a:extLst>
          </p:cNvPr>
          <p:cNvGrpSpPr/>
          <p:nvPr/>
        </p:nvGrpSpPr>
        <p:grpSpPr>
          <a:xfrm>
            <a:off x="-7985197" y="0"/>
            <a:ext cx="9574094" cy="6858000"/>
            <a:chOff x="491575" y="0"/>
            <a:chExt cx="9574094" cy="6858000"/>
          </a:xfrm>
        </p:grpSpPr>
        <p:sp>
          <p:nvSpPr>
            <p:cNvPr id="66" name="Rectangle 65">
              <a:extLst>
                <a:ext uri="{FF2B5EF4-FFF2-40B4-BE49-F238E27FC236}">
                  <a16:creationId xmlns:a16="http://schemas.microsoft.com/office/drawing/2014/main" id="{3B77930A-0489-40A5-B3D7-053D64BD29C4}"/>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Shape 66">
              <a:extLst>
                <a:ext uri="{FF2B5EF4-FFF2-40B4-BE49-F238E27FC236}">
                  <a16:creationId xmlns:a16="http://schemas.microsoft.com/office/drawing/2014/main" id="{3ED749F6-F5EB-48BD-A697-16D473CCCFE8}"/>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8070AD46-78F1-4169-9AE3-EDECC43BD39B}"/>
                </a:ext>
              </a:extLst>
            </p:cNvPr>
            <p:cNvSpPr txBox="1"/>
            <p:nvPr/>
          </p:nvSpPr>
          <p:spPr>
            <a:xfrm rot="16200000">
              <a:off x="8746452" y="3189607"/>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69" name="Picture 68">
              <a:extLst>
                <a:ext uri="{FF2B5EF4-FFF2-40B4-BE49-F238E27FC236}">
                  <a16:creationId xmlns:a16="http://schemas.microsoft.com/office/drawing/2014/main" id="{22B026A5-B1AC-46D4-AE84-DF77E5A294C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0" name="Rectangle 69">
            <a:extLst>
              <a:ext uri="{FF2B5EF4-FFF2-40B4-BE49-F238E27FC236}">
                <a16:creationId xmlns:a16="http://schemas.microsoft.com/office/drawing/2014/main" id="{371C6EE2-CCA6-4F94-870B-CB9D61CEBE1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1" name="Group 70">
            <a:extLst>
              <a:ext uri="{FF2B5EF4-FFF2-40B4-BE49-F238E27FC236}">
                <a16:creationId xmlns:a16="http://schemas.microsoft.com/office/drawing/2014/main" id="{20422D8F-B19E-425C-93A8-F750F60A06A7}"/>
              </a:ext>
            </a:extLst>
          </p:cNvPr>
          <p:cNvGrpSpPr/>
          <p:nvPr/>
        </p:nvGrpSpPr>
        <p:grpSpPr>
          <a:xfrm>
            <a:off x="-7638543" y="-1"/>
            <a:ext cx="8692332" cy="6858000"/>
            <a:chOff x="718505" y="-1"/>
            <a:chExt cx="8692332" cy="6858000"/>
          </a:xfrm>
        </p:grpSpPr>
        <p:sp>
          <p:nvSpPr>
            <p:cNvPr id="72" name="Rectangle 71">
              <a:extLst>
                <a:ext uri="{FF2B5EF4-FFF2-40B4-BE49-F238E27FC236}">
                  <a16:creationId xmlns:a16="http://schemas.microsoft.com/office/drawing/2014/main" id="{3278AF09-2D0C-4E81-816C-BC1D04E40DC2}"/>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AC2E1C67-7A8F-4EB5-AB00-3C754858084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67795C74-0308-4781-BEE6-B62AE6D17152}"/>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45C46027-B464-4ADA-A3B8-14FF4471BA1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a16="http://schemas.microsoft.com/office/drawing/2014/main" id="{C1D48DDF-B760-4AB3-A520-29238CC2C408}"/>
              </a:ext>
            </a:extLst>
          </p:cNvPr>
          <p:cNvGrpSpPr/>
          <p:nvPr/>
        </p:nvGrpSpPr>
        <p:grpSpPr>
          <a:xfrm>
            <a:off x="-9395082" y="-1"/>
            <a:ext cx="9927504" cy="6858000"/>
            <a:chOff x="-9337032" y="-1"/>
            <a:chExt cx="9927504" cy="6858000"/>
          </a:xfrm>
        </p:grpSpPr>
        <p:sp>
          <p:nvSpPr>
            <p:cNvPr id="77" name="Rectangle 76">
              <a:extLst>
                <a:ext uri="{FF2B5EF4-FFF2-40B4-BE49-F238E27FC236}">
                  <a16:creationId xmlns:a16="http://schemas.microsoft.com/office/drawing/2014/main" id="{FA696B4D-5BCF-47C3-8B8C-BE87154A63B4}"/>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BAAA7B45-7DAF-4C4D-A930-ABA45AC955DD}"/>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701F5CFD-7EE1-475C-A36F-330184D5C6EC}"/>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80" name="Picture 79">
              <a:extLst>
                <a:ext uri="{FF2B5EF4-FFF2-40B4-BE49-F238E27FC236}">
                  <a16:creationId xmlns:a16="http://schemas.microsoft.com/office/drawing/2014/main" id="{B9F42291-FBD0-4239-8D69-22035DCB4AE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84" name="TextBox 83">
            <a:extLst>
              <a:ext uri="{FF2B5EF4-FFF2-40B4-BE49-F238E27FC236}">
                <a16:creationId xmlns:a16="http://schemas.microsoft.com/office/drawing/2014/main" id="{7DC9F996-36A0-4A1D-8C4B-F6DAF0FDA7C8}"/>
              </a:ext>
            </a:extLst>
          </p:cNvPr>
          <p:cNvSpPr txBox="1"/>
          <p:nvPr/>
        </p:nvSpPr>
        <p:spPr>
          <a:xfrm>
            <a:off x="2920397" y="1931204"/>
            <a:ext cx="2208094" cy="830997"/>
          </a:xfrm>
          <a:prstGeom prst="rect">
            <a:avLst/>
          </a:prstGeom>
          <a:noFill/>
        </p:spPr>
        <p:txBody>
          <a:bodyPr wrap="square" rtlCol="0">
            <a:spAutoFit/>
          </a:bodyPr>
          <a:lstStyle/>
          <a:p>
            <a:pPr algn="ctr"/>
            <a:r>
              <a:rPr lang="en-US" sz="2400" dirty="0">
                <a:solidFill>
                  <a:schemeClr val="tx1">
                    <a:lumMod val="65000"/>
                    <a:lumOff val="35000"/>
                  </a:schemeClr>
                </a:solidFill>
                <a:latin typeface="Tw Cen MT" panose="020B0602020104020603" pitchFamily="34" charset="0"/>
              </a:rPr>
              <a:t>S</a:t>
            </a:r>
            <a:r>
              <a:rPr lang="en-US" sz="2400" dirty="0">
                <a:solidFill>
                  <a:schemeClr val="bg1">
                    <a:lumMod val="65000"/>
                  </a:schemeClr>
                </a:solidFill>
                <a:latin typeface="Tw Cen MT" panose="020B0602020104020603" pitchFamily="34" charset="0"/>
              </a:rPr>
              <a:t> </a:t>
            </a:r>
            <a:r>
              <a:rPr lang="en-US" sz="2400" dirty="0">
                <a:solidFill>
                  <a:schemeClr val="tx1">
                    <a:lumMod val="65000"/>
                    <a:lumOff val="35000"/>
                  </a:schemeClr>
                </a:solidFill>
                <a:latin typeface="Tw Cen MT" panose="020B0602020104020603" pitchFamily="34" charset="0"/>
              </a:rPr>
              <a:t>SREEDHAR</a:t>
            </a:r>
          </a:p>
          <a:p>
            <a:pPr algn="ctr"/>
            <a:r>
              <a:rPr lang="en-US" sz="2400" dirty="0">
                <a:solidFill>
                  <a:schemeClr val="tx1">
                    <a:lumMod val="65000"/>
                    <a:lumOff val="35000"/>
                  </a:schemeClr>
                </a:solidFill>
                <a:latin typeface="Tw Cen MT" panose="020B0602020104020603" pitchFamily="34" charset="0"/>
              </a:rPr>
              <a:t>GOWD</a:t>
            </a:r>
          </a:p>
        </p:txBody>
      </p:sp>
      <p:grpSp>
        <p:nvGrpSpPr>
          <p:cNvPr id="7" name="Group 6">
            <a:extLst>
              <a:ext uri="{FF2B5EF4-FFF2-40B4-BE49-F238E27FC236}">
                <a16:creationId xmlns:a16="http://schemas.microsoft.com/office/drawing/2014/main" id="{B9E40158-F862-4F2C-89CC-583E99D40F20}"/>
              </a:ext>
            </a:extLst>
          </p:cNvPr>
          <p:cNvGrpSpPr/>
          <p:nvPr/>
        </p:nvGrpSpPr>
        <p:grpSpPr>
          <a:xfrm>
            <a:off x="-12198159" y="-2"/>
            <a:ext cx="12211854" cy="6858000"/>
            <a:chOff x="-9337032" y="-1"/>
            <a:chExt cx="9927504" cy="6858000"/>
          </a:xfrm>
        </p:grpSpPr>
        <p:sp>
          <p:nvSpPr>
            <p:cNvPr id="8" name="Rectangle 7">
              <a:extLst>
                <a:ext uri="{FF2B5EF4-FFF2-40B4-BE49-F238E27FC236}">
                  <a16:creationId xmlns:a16="http://schemas.microsoft.com/office/drawing/2014/main" id="{BA7C9E66-A81D-FA0B-F6E9-36871B340A71}"/>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35965FAB-6082-C204-F0F2-FC84FE676995}"/>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10" name="TextBox 9">
              <a:extLst>
                <a:ext uri="{FF2B5EF4-FFF2-40B4-BE49-F238E27FC236}">
                  <a16:creationId xmlns:a16="http://schemas.microsoft.com/office/drawing/2014/main" id="{D1BBDE00-2D60-6221-9EDE-8CB7DB9BF97F}"/>
                </a:ext>
              </a:extLst>
            </p:cNvPr>
            <p:cNvSpPr txBox="1"/>
            <p:nvPr/>
          </p:nvSpPr>
          <p:spPr>
            <a:xfrm rot="16200000">
              <a:off x="-738260" y="3250059"/>
              <a:ext cx="1992086" cy="525428"/>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37324011-07CA-9D95-2E67-802579189B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pic>
        <p:nvPicPr>
          <p:cNvPr id="19" name="Picture 18" descr="Female Profile with solid fill">
            <a:extLst>
              <a:ext uri="{FF2B5EF4-FFF2-40B4-BE49-F238E27FC236}">
                <a16:creationId xmlns:a16="http://schemas.microsoft.com/office/drawing/2014/main" id="{C4840C3A-ECE7-709D-A413-F1EB63493884}"/>
              </a:ext>
            </a:extLst>
          </p:cNvPr>
          <p:cNvPicPr>
            <a:picLocks noChangeAspect="1"/>
          </p:cNvPicPr>
          <p:nvPr/>
        </p:nvPicPr>
        <p:blipFill>
          <a:blip r:embed="rId3">
            <a:extLst>
              <a:ext uri="{96DAC541-7B7A-43D3-8B79-37D633B846F1}">
                <asvg:svgBlip xmlns:asvg="http://schemas.microsoft.com/office/drawing/2016/SVG/main" r:embed="rId4"/>
              </a:ext>
            </a:extLst>
          </a:blip>
          <a:srcRect t="4576" b="4576"/>
          <a:stretch/>
        </p:blipFill>
        <p:spPr>
          <a:xfrm>
            <a:off x="3055510" y="3556927"/>
            <a:ext cx="1168400" cy="1061461"/>
          </a:xfrm>
          <a:prstGeom prst="ellipse">
            <a:avLst/>
          </a:prstGeom>
        </p:spPr>
      </p:pic>
      <p:sp>
        <p:nvSpPr>
          <p:cNvPr id="21" name="TextBox 20">
            <a:extLst>
              <a:ext uri="{FF2B5EF4-FFF2-40B4-BE49-F238E27FC236}">
                <a16:creationId xmlns:a16="http://schemas.microsoft.com/office/drawing/2014/main" id="{F1F20ECB-3A1C-3DCF-08F4-8A38298BE61D}"/>
              </a:ext>
            </a:extLst>
          </p:cNvPr>
          <p:cNvSpPr txBox="1"/>
          <p:nvPr/>
        </p:nvSpPr>
        <p:spPr>
          <a:xfrm>
            <a:off x="8673954" y="2014283"/>
            <a:ext cx="2644771" cy="830997"/>
          </a:xfrm>
          <a:prstGeom prst="rect">
            <a:avLst/>
          </a:prstGeom>
          <a:noFill/>
        </p:spPr>
        <p:txBody>
          <a:bodyPr wrap="square" rtlCol="0">
            <a:spAutoFit/>
          </a:bodyPr>
          <a:lstStyle/>
          <a:p>
            <a:pPr algn="ctr"/>
            <a:r>
              <a:rPr lang="en-US" sz="2400" dirty="0">
                <a:solidFill>
                  <a:schemeClr val="tx1">
                    <a:lumMod val="75000"/>
                    <a:lumOff val="25000"/>
                  </a:schemeClr>
                </a:solidFill>
                <a:latin typeface="Tw Cen MT" panose="020B0602020104020603" pitchFamily="34" charset="0"/>
              </a:rPr>
              <a:t>Mrs PRAJAKTA ROHIT ZIRKANDE</a:t>
            </a:r>
          </a:p>
        </p:txBody>
      </p:sp>
      <p:sp>
        <p:nvSpPr>
          <p:cNvPr id="22" name="TextBox 21">
            <a:extLst>
              <a:ext uri="{FF2B5EF4-FFF2-40B4-BE49-F238E27FC236}">
                <a16:creationId xmlns:a16="http://schemas.microsoft.com/office/drawing/2014/main" id="{0F20978E-1CB4-5DA0-DB8F-F2CCCF62BA54}"/>
              </a:ext>
            </a:extLst>
          </p:cNvPr>
          <p:cNvSpPr txBox="1"/>
          <p:nvPr/>
        </p:nvSpPr>
        <p:spPr>
          <a:xfrm>
            <a:off x="5590832" y="2014283"/>
            <a:ext cx="2644771" cy="1200329"/>
          </a:xfrm>
          <a:prstGeom prst="rect">
            <a:avLst/>
          </a:prstGeom>
          <a:noFill/>
        </p:spPr>
        <p:txBody>
          <a:bodyPr wrap="square" rtlCol="0">
            <a:spAutoFit/>
          </a:bodyPr>
          <a:lstStyle/>
          <a:p>
            <a:pPr algn="ctr"/>
            <a:r>
              <a:rPr lang="en-US" sz="2400" dirty="0">
                <a:solidFill>
                  <a:schemeClr val="tx1">
                    <a:lumMod val="85000"/>
                    <a:lumOff val="15000"/>
                  </a:schemeClr>
                </a:solidFill>
                <a:latin typeface="Tw Cen MT" panose="020B0602020104020603" pitchFamily="34" charset="0"/>
              </a:rPr>
              <a:t> </a:t>
            </a:r>
            <a:r>
              <a:rPr lang="en-US" sz="2400" dirty="0">
                <a:solidFill>
                  <a:schemeClr val="tx1">
                    <a:lumMod val="75000"/>
                    <a:lumOff val="25000"/>
                  </a:schemeClr>
                </a:solidFill>
                <a:latin typeface="Tw Cen MT" panose="020B0602020104020603" pitchFamily="34" charset="0"/>
              </a:rPr>
              <a:t>CHINTTIBOINA NAGA VENKATA NANDA KISHORE</a:t>
            </a:r>
          </a:p>
        </p:txBody>
      </p:sp>
      <p:pic>
        <p:nvPicPr>
          <p:cNvPr id="25" name="Picture 24" descr="Female Profile with solid fill">
            <a:extLst>
              <a:ext uri="{FF2B5EF4-FFF2-40B4-BE49-F238E27FC236}">
                <a16:creationId xmlns:a16="http://schemas.microsoft.com/office/drawing/2014/main" id="{D7A21443-C72B-9A72-EA00-5DF1DC9FF07B}"/>
              </a:ext>
            </a:extLst>
          </p:cNvPr>
          <p:cNvPicPr>
            <a:picLocks noChangeAspect="1"/>
          </p:cNvPicPr>
          <p:nvPr/>
        </p:nvPicPr>
        <p:blipFill>
          <a:blip r:embed="rId3">
            <a:extLst>
              <a:ext uri="{96DAC541-7B7A-43D3-8B79-37D633B846F1}">
                <asvg:svgBlip xmlns:asvg="http://schemas.microsoft.com/office/drawing/2016/SVG/main" r:embed="rId4"/>
              </a:ext>
            </a:extLst>
          </a:blip>
          <a:srcRect t="4576" b="4576"/>
          <a:stretch/>
        </p:blipFill>
        <p:spPr>
          <a:xfrm>
            <a:off x="7505554" y="3636894"/>
            <a:ext cx="1168400" cy="1061461"/>
          </a:xfrm>
          <a:prstGeom prst="ellipse">
            <a:avLst/>
          </a:prstGeom>
        </p:spPr>
      </p:pic>
      <p:pic>
        <p:nvPicPr>
          <p:cNvPr id="26" name="Picture 25" descr="Male profile with solid fill">
            <a:extLst>
              <a:ext uri="{FF2B5EF4-FFF2-40B4-BE49-F238E27FC236}">
                <a16:creationId xmlns:a16="http://schemas.microsoft.com/office/drawing/2014/main" id="{D7E2B2AD-B437-6E2D-94D1-EC9A82F54BEB}"/>
              </a:ext>
            </a:extLst>
          </p:cNvPr>
          <p:cNvPicPr>
            <a:picLocks noChangeAspect="1"/>
          </p:cNvPicPr>
          <p:nvPr/>
        </p:nvPicPr>
        <p:blipFill>
          <a:blip r:embed="rId5">
            <a:extLst>
              <a:ext uri="{96DAC541-7B7A-43D3-8B79-37D633B846F1}">
                <asvg:svgBlip xmlns:asvg="http://schemas.microsoft.com/office/drawing/2016/SVG/main" r:embed="rId6"/>
              </a:ext>
            </a:extLst>
          </a:blip>
          <a:srcRect t="4576" b="4576"/>
          <a:stretch/>
        </p:blipFill>
        <p:spPr>
          <a:xfrm>
            <a:off x="6317227" y="906014"/>
            <a:ext cx="1168400" cy="1061461"/>
          </a:xfrm>
          <a:prstGeom prst="ellipse">
            <a:avLst/>
          </a:prstGeom>
        </p:spPr>
      </p:pic>
      <p:sp>
        <p:nvSpPr>
          <p:cNvPr id="29" name="TextBox 28">
            <a:extLst>
              <a:ext uri="{FF2B5EF4-FFF2-40B4-BE49-F238E27FC236}">
                <a16:creationId xmlns:a16="http://schemas.microsoft.com/office/drawing/2014/main" id="{F1EE675F-D889-D93F-3D47-1FEE1B08ACD0}"/>
              </a:ext>
            </a:extLst>
          </p:cNvPr>
          <p:cNvSpPr txBox="1"/>
          <p:nvPr/>
        </p:nvSpPr>
        <p:spPr>
          <a:xfrm>
            <a:off x="4800461" y="4659640"/>
            <a:ext cx="2156017" cy="830997"/>
          </a:xfrm>
          <a:prstGeom prst="rect">
            <a:avLst/>
          </a:prstGeom>
          <a:noFill/>
        </p:spPr>
        <p:txBody>
          <a:bodyPr wrap="square" rtlCol="0">
            <a:spAutoFit/>
          </a:bodyPr>
          <a:lstStyle/>
          <a:p>
            <a:pPr algn="ctr"/>
            <a:r>
              <a:rPr lang="en-US" sz="2400" dirty="0">
                <a:solidFill>
                  <a:schemeClr val="tx1">
                    <a:lumMod val="75000"/>
                    <a:lumOff val="25000"/>
                  </a:schemeClr>
                </a:solidFill>
                <a:latin typeface="Tw Cen MT" panose="020B0602020104020603" pitchFamily="34" charset="0"/>
              </a:rPr>
              <a:t>DIKSHA </a:t>
            </a:r>
          </a:p>
          <a:p>
            <a:pPr algn="ctr"/>
            <a:r>
              <a:rPr lang="en-US" sz="2400" dirty="0">
                <a:solidFill>
                  <a:schemeClr val="tx1">
                    <a:lumMod val="75000"/>
                    <a:lumOff val="25000"/>
                  </a:schemeClr>
                </a:solidFill>
                <a:latin typeface="Tw Cen MT" panose="020B0602020104020603" pitchFamily="34" charset="0"/>
              </a:rPr>
              <a:t>GUPTA</a:t>
            </a:r>
          </a:p>
        </p:txBody>
      </p:sp>
      <p:sp>
        <p:nvSpPr>
          <p:cNvPr id="30" name="TextBox 29">
            <a:extLst>
              <a:ext uri="{FF2B5EF4-FFF2-40B4-BE49-F238E27FC236}">
                <a16:creationId xmlns:a16="http://schemas.microsoft.com/office/drawing/2014/main" id="{13A1ED12-1CBE-C3DC-B4BC-60D259C4CB45}"/>
              </a:ext>
            </a:extLst>
          </p:cNvPr>
          <p:cNvSpPr txBox="1"/>
          <p:nvPr/>
        </p:nvSpPr>
        <p:spPr>
          <a:xfrm>
            <a:off x="2589523" y="4663232"/>
            <a:ext cx="2260255" cy="830997"/>
          </a:xfrm>
          <a:prstGeom prst="rect">
            <a:avLst/>
          </a:prstGeom>
          <a:noFill/>
        </p:spPr>
        <p:txBody>
          <a:bodyPr wrap="square" rtlCol="0">
            <a:spAutoFit/>
          </a:bodyPr>
          <a:lstStyle/>
          <a:p>
            <a:pPr algn="ctr"/>
            <a:r>
              <a:rPr lang="en-US" sz="2400" dirty="0">
                <a:solidFill>
                  <a:schemeClr val="tx1">
                    <a:lumMod val="75000"/>
                    <a:lumOff val="25000"/>
                  </a:schemeClr>
                </a:solidFill>
                <a:latin typeface="Tw Cen MT" panose="020B0602020104020603" pitchFamily="34" charset="0"/>
              </a:rPr>
              <a:t>SMRUTISHREE BEHERA</a:t>
            </a:r>
          </a:p>
        </p:txBody>
      </p:sp>
      <p:grpSp>
        <p:nvGrpSpPr>
          <p:cNvPr id="31" name="Group 30">
            <a:extLst>
              <a:ext uri="{FF2B5EF4-FFF2-40B4-BE49-F238E27FC236}">
                <a16:creationId xmlns:a16="http://schemas.microsoft.com/office/drawing/2014/main" id="{8EECB86F-5DD4-486E-C371-D33C0ACA243F}"/>
              </a:ext>
            </a:extLst>
          </p:cNvPr>
          <p:cNvGrpSpPr/>
          <p:nvPr/>
        </p:nvGrpSpPr>
        <p:grpSpPr>
          <a:xfrm>
            <a:off x="-9259242" y="0"/>
            <a:ext cx="8692332" cy="6858000"/>
            <a:chOff x="718505" y="-1"/>
            <a:chExt cx="8692332" cy="6858000"/>
          </a:xfrm>
        </p:grpSpPr>
        <p:sp>
          <p:nvSpPr>
            <p:cNvPr id="32" name="Rectangle 31">
              <a:extLst>
                <a:ext uri="{FF2B5EF4-FFF2-40B4-BE49-F238E27FC236}">
                  <a16:creationId xmlns:a16="http://schemas.microsoft.com/office/drawing/2014/main" id="{C9013B3A-14B1-45D6-8D5E-849C3EEB5AA5}"/>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Freeform: Shape 32">
              <a:extLst>
                <a:ext uri="{FF2B5EF4-FFF2-40B4-BE49-F238E27FC236}">
                  <a16:creationId xmlns:a16="http://schemas.microsoft.com/office/drawing/2014/main" id="{7E90FFE5-CB14-8952-154B-97BEF6DC0C4B}"/>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a:extLst>
                <a:ext uri="{FF2B5EF4-FFF2-40B4-BE49-F238E27FC236}">
                  <a16:creationId xmlns:a16="http://schemas.microsoft.com/office/drawing/2014/main" id="{7C5BEE52-418D-BBB9-77DB-BD63DFDCD2B9}"/>
                </a:ext>
              </a:extLst>
            </p:cNvPr>
            <p:cNvSpPr txBox="1"/>
            <p:nvPr/>
          </p:nvSpPr>
          <p:spPr>
            <a:xfrm rot="16200000">
              <a:off x="7996860" y="3284378"/>
              <a:ext cx="2181624"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35" name="Picture 34">
              <a:extLst>
                <a:ext uri="{FF2B5EF4-FFF2-40B4-BE49-F238E27FC236}">
                  <a16:creationId xmlns:a16="http://schemas.microsoft.com/office/drawing/2014/main" id="{CB33B97C-894B-908D-EE9F-5E684411C6D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5B2520C9-7761-8A11-AC5F-986E6D3FD260}"/>
              </a:ext>
            </a:extLst>
          </p:cNvPr>
          <p:cNvGrpSpPr/>
          <p:nvPr/>
        </p:nvGrpSpPr>
        <p:grpSpPr>
          <a:xfrm>
            <a:off x="-10674846" y="0"/>
            <a:ext cx="9574094" cy="6858000"/>
            <a:chOff x="491575" y="0"/>
            <a:chExt cx="9574094" cy="6858000"/>
          </a:xfrm>
        </p:grpSpPr>
        <p:sp>
          <p:nvSpPr>
            <p:cNvPr id="3" name="Rectangle 2">
              <a:extLst>
                <a:ext uri="{FF2B5EF4-FFF2-40B4-BE49-F238E27FC236}">
                  <a16:creationId xmlns:a16="http://schemas.microsoft.com/office/drawing/2014/main" id="{FC30FB10-AB1A-789F-B30C-FB8CC125FD82}"/>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6B924407-1743-53AA-6F1F-A0BC7C882907}"/>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CABDB758-9820-F05D-5294-35F21698CE73}"/>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6" name="Picture 5">
              <a:extLst>
                <a:ext uri="{FF2B5EF4-FFF2-40B4-BE49-F238E27FC236}">
                  <a16:creationId xmlns:a16="http://schemas.microsoft.com/office/drawing/2014/main" id="{0DF68320-8C60-D828-468B-631EC87A4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pic>
        <p:nvPicPr>
          <p:cNvPr id="12" name="Picture 25" descr="Male profile with solid fill">
            <a:extLst>
              <a:ext uri="{FF2B5EF4-FFF2-40B4-BE49-F238E27FC236}">
                <a16:creationId xmlns:a16="http://schemas.microsoft.com/office/drawing/2014/main" id="{DC727856-02AD-2B86-DFEA-2F3DF995C4F8}"/>
              </a:ext>
            </a:extLst>
          </p:cNvPr>
          <p:cNvPicPr>
            <a:picLocks noChangeAspect="1"/>
          </p:cNvPicPr>
          <p:nvPr/>
        </p:nvPicPr>
        <p:blipFill>
          <a:blip r:embed="rId5">
            <a:extLst>
              <a:ext uri="{96DAC541-7B7A-43D3-8B79-37D633B846F1}">
                <asvg:svgBlip xmlns:asvg="http://schemas.microsoft.com/office/drawing/2016/SVG/main" r:embed="rId6"/>
              </a:ext>
            </a:extLst>
          </a:blip>
          <a:srcRect t="4576" b="4576"/>
          <a:stretch/>
        </p:blipFill>
        <p:spPr>
          <a:xfrm>
            <a:off x="3386902" y="906015"/>
            <a:ext cx="1168400" cy="1061461"/>
          </a:xfrm>
          <a:prstGeom prst="ellipse">
            <a:avLst/>
          </a:prstGeom>
        </p:spPr>
      </p:pic>
      <p:pic>
        <p:nvPicPr>
          <p:cNvPr id="13" name="Picture 12">
            <a:extLst>
              <a:ext uri="{FF2B5EF4-FFF2-40B4-BE49-F238E27FC236}">
                <a16:creationId xmlns:a16="http://schemas.microsoft.com/office/drawing/2014/main" id="{23ADF742-5C96-A163-B40B-0AB3CAA56801}"/>
              </a:ext>
            </a:extLst>
          </p:cNvPr>
          <p:cNvPicPr>
            <a:picLocks noChangeAspect="1"/>
          </p:cNvPicPr>
          <p:nvPr/>
        </p:nvPicPr>
        <p:blipFill>
          <a:blip r:embed="rId7"/>
          <a:stretch>
            <a:fillRect/>
          </a:stretch>
        </p:blipFill>
        <p:spPr>
          <a:xfrm>
            <a:off x="5258733" y="3610592"/>
            <a:ext cx="1164437" cy="1060796"/>
          </a:xfrm>
          <a:prstGeom prst="rect">
            <a:avLst/>
          </a:prstGeom>
        </p:spPr>
      </p:pic>
      <p:pic>
        <p:nvPicPr>
          <p:cNvPr id="14" name="Picture 13">
            <a:extLst>
              <a:ext uri="{FF2B5EF4-FFF2-40B4-BE49-F238E27FC236}">
                <a16:creationId xmlns:a16="http://schemas.microsoft.com/office/drawing/2014/main" id="{6761500E-EE0D-A613-D3E0-279C0460D399}"/>
              </a:ext>
            </a:extLst>
          </p:cNvPr>
          <p:cNvPicPr>
            <a:picLocks noChangeAspect="1"/>
          </p:cNvPicPr>
          <p:nvPr/>
        </p:nvPicPr>
        <p:blipFill>
          <a:blip r:embed="rId8"/>
          <a:stretch>
            <a:fillRect/>
          </a:stretch>
        </p:blipFill>
        <p:spPr>
          <a:xfrm>
            <a:off x="9572770" y="3607544"/>
            <a:ext cx="1164437" cy="1066892"/>
          </a:xfrm>
          <a:prstGeom prst="rect">
            <a:avLst/>
          </a:prstGeom>
        </p:spPr>
      </p:pic>
      <p:pic>
        <p:nvPicPr>
          <p:cNvPr id="15" name="Picture 14">
            <a:extLst>
              <a:ext uri="{FF2B5EF4-FFF2-40B4-BE49-F238E27FC236}">
                <a16:creationId xmlns:a16="http://schemas.microsoft.com/office/drawing/2014/main" id="{5EEF95BD-2DFB-B679-EB15-AB7DDFC804BE}"/>
              </a:ext>
            </a:extLst>
          </p:cNvPr>
          <p:cNvPicPr>
            <a:picLocks noChangeAspect="1"/>
          </p:cNvPicPr>
          <p:nvPr/>
        </p:nvPicPr>
        <p:blipFill>
          <a:blip r:embed="rId9"/>
          <a:stretch>
            <a:fillRect/>
          </a:stretch>
        </p:blipFill>
        <p:spPr>
          <a:xfrm>
            <a:off x="9379271" y="953483"/>
            <a:ext cx="1170533" cy="1060796"/>
          </a:xfrm>
          <a:prstGeom prst="rect">
            <a:avLst/>
          </a:prstGeom>
        </p:spPr>
      </p:pic>
      <p:sp>
        <p:nvSpPr>
          <p:cNvPr id="18" name="TextBox 17">
            <a:extLst>
              <a:ext uri="{FF2B5EF4-FFF2-40B4-BE49-F238E27FC236}">
                <a16:creationId xmlns:a16="http://schemas.microsoft.com/office/drawing/2014/main" id="{B3A46223-60EC-F928-49D0-952A94067B59}"/>
              </a:ext>
            </a:extLst>
          </p:cNvPr>
          <p:cNvSpPr txBox="1"/>
          <p:nvPr/>
        </p:nvSpPr>
        <p:spPr>
          <a:xfrm>
            <a:off x="6810375" y="5305425"/>
            <a:ext cx="184731" cy="369332"/>
          </a:xfrm>
          <a:prstGeom prst="rect">
            <a:avLst/>
          </a:prstGeom>
          <a:noFill/>
        </p:spPr>
        <p:txBody>
          <a:bodyPr wrap="none" rtlCol="0">
            <a:spAutoFit/>
          </a:bodyPr>
          <a:lstStyle/>
          <a:p>
            <a:endParaRPr lang="en-IN" dirty="0"/>
          </a:p>
        </p:txBody>
      </p:sp>
      <p:sp>
        <p:nvSpPr>
          <p:cNvPr id="16" name="TextBox 15">
            <a:extLst>
              <a:ext uri="{FF2B5EF4-FFF2-40B4-BE49-F238E27FC236}">
                <a16:creationId xmlns:a16="http://schemas.microsoft.com/office/drawing/2014/main" id="{785A49D3-E4EB-F08F-5172-BF23AFAA7C80}"/>
              </a:ext>
            </a:extLst>
          </p:cNvPr>
          <p:cNvSpPr txBox="1"/>
          <p:nvPr/>
        </p:nvSpPr>
        <p:spPr>
          <a:xfrm>
            <a:off x="9159597" y="4724558"/>
            <a:ext cx="2070378" cy="830997"/>
          </a:xfrm>
          <a:prstGeom prst="rect">
            <a:avLst/>
          </a:prstGeom>
          <a:noFill/>
        </p:spPr>
        <p:txBody>
          <a:bodyPr wrap="square" rtlCol="0">
            <a:spAutoFit/>
          </a:bodyPr>
          <a:lstStyle/>
          <a:p>
            <a:pPr algn="ctr"/>
            <a:r>
              <a:rPr lang="en-US" sz="2400" dirty="0">
                <a:solidFill>
                  <a:schemeClr val="tx1">
                    <a:lumMod val="75000"/>
                    <a:lumOff val="25000"/>
                  </a:schemeClr>
                </a:solidFill>
                <a:latin typeface="Tw Cen MT" panose="020B0602020104020603" pitchFamily="34" charset="0"/>
              </a:rPr>
              <a:t>ASRA FATEMA</a:t>
            </a:r>
          </a:p>
          <a:p>
            <a:pPr algn="ctr"/>
            <a:r>
              <a:rPr lang="en-US" sz="2400" dirty="0">
                <a:solidFill>
                  <a:schemeClr val="tx1">
                    <a:lumMod val="75000"/>
                    <a:lumOff val="25000"/>
                  </a:schemeClr>
                </a:solidFill>
                <a:latin typeface="Tw Cen MT" panose="020B0602020104020603" pitchFamily="34" charset="0"/>
              </a:rPr>
              <a:t>.ZUBAIR.QUAZI</a:t>
            </a:r>
          </a:p>
        </p:txBody>
      </p:sp>
      <p:sp>
        <p:nvSpPr>
          <p:cNvPr id="17" name="TextBox 16">
            <a:extLst>
              <a:ext uri="{FF2B5EF4-FFF2-40B4-BE49-F238E27FC236}">
                <a16:creationId xmlns:a16="http://schemas.microsoft.com/office/drawing/2014/main" id="{68F6C82C-F787-9BBF-EEB4-476A7C57B589}"/>
              </a:ext>
            </a:extLst>
          </p:cNvPr>
          <p:cNvSpPr txBox="1"/>
          <p:nvPr/>
        </p:nvSpPr>
        <p:spPr>
          <a:xfrm>
            <a:off x="7153533" y="4725855"/>
            <a:ext cx="1932117" cy="830997"/>
          </a:xfrm>
          <a:prstGeom prst="rect">
            <a:avLst/>
          </a:prstGeom>
          <a:noFill/>
        </p:spPr>
        <p:txBody>
          <a:bodyPr wrap="square" rtlCol="0">
            <a:spAutoFit/>
          </a:bodyPr>
          <a:lstStyle/>
          <a:p>
            <a:pPr algn="ctr"/>
            <a:r>
              <a:rPr lang="en-US" sz="2400" dirty="0">
                <a:solidFill>
                  <a:schemeClr val="tx1">
                    <a:lumMod val="75000"/>
                    <a:lumOff val="25000"/>
                  </a:schemeClr>
                </a:solidFill>
                <a:latin typeface="Tw Cen MT" panose="020B0602020104020603" pitchFamily="34" charset="0"/>
              </a:rPr>
              <a:t>PRAKRUTI PANDYA</a:t>
            </a:r>
          </a:p>
        </p:txBody>
      </p:sp>
    </p:spTree>
    <p:extLst>
      <p:ext uri="{BB962C8B-B14F-4D97-AF65-F5344CB8AC3E}">
        <p14:creationId xmlns:p14="http://schemas.microsoft.com/office/powerpoint/2010/main" val="200170612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p:cTn id="7" dur="500" fill="hold"/>
                                        <p:tgtEl>
                                          <p:spTgt spid="19"/>
                                        </p:tgtEl>
                                        <p:attrNameLst>
                                          <p:attrName>ppt_w</p:attrName>
                                        </p:attrNameLst>
                                      </p:cBhvr>
                                      <p:tavLst>
                                        <p:tav tm="0">
                                          <p:val>
                                            <p:fltVal val="0"/>
                                          </p:val>
                                        </p:tav>
                                        <p:tav tm="100000">
                                          <p:val>
                                            <p:strVal val="#ppt_w"/>
                                          </p:val>
                                        </p:tav>
                                      </p:tavLst>
                                    </p:anim>
                                    <p:anim calcmode="lin" valueType="num">
                                      <p:cBhvr>
                                        <p:cTn id="8" dur="500" fill="hold"/>
                                        <p:tgtEl>
                                          <p:spTgt spid="19"/>
                                        </p:tgtEl>
                                        <p:attrNameLst>
                                          <p:attrName>ppt_h</p:attrName>
                                        </p:attrNameLst>
                                      </p:cBhvr>
                                      <p:tavLst>
                                        <p:tav tm="0">
                                          <p:val>
                                            <p:fltVal val="0"/>
                                          </p:val>
                                        </p:tav>
                                        <p:tav tm="100000">
                                          <p:val>
                                            <p:strVal val="#ppt_h"/>
                                          </p:val>
                                        </p:tav>
                                      </p:tavLst>
                                    </p:anim>
                                    <p:animEffect transition="in" filter="fade">
                                      <p:cBhvr>
                                        <p:cTn id="9" dur="500"/>
                                        <p:tgtEl>
                                          <p:spTgt spid="19"/>
                                        </p:tgtEl>
                                      </p:cBhvr>
                                    </p:animEffect>
                                  </p:childTnLst>
                                </p:cTn>
                              </p:par>
                              <p:par>
                                <p:cTn id="10" presetID="53" presetClass="entr" presetSubtype="16" fill="hold" nodeType="withEffect">
                                  <p:stCondLst>
                                    <p:cond delay="0"/>
                                  </p:stCondLst>
                                  <p:childTnLst>
                                    <p:set>
                                      <p:cBhvr>
                                        <p:cTn id="11" dur="1" fill="hold">
                                          <p:stCondLst>
                                            <p:cond delay="0"/>
                                          </p:stCondLst>
                                        </p:cTn>
                                        <p:tgtEl>
                                          <p:spTgt spid="25"/>
                                        </p:tgtEl>
                                        <p:attrNameLst>
                                          <p:attrName>style.visibility</p:attrName>
                                        </p:attrNameLst>
                                      </p:cBhvr>
                                      <p:to>
                                        <p:strVal val="visible"/>
                                      </p:to>
                                    </p:set>
                                    <p:anim calcmode="lin" valueType="num">
                                      <p:cBhvr>
                                        <p:cTn id="12" dur="500" fill="hold"/>
                                        <p:tgtEl>
                                          <p:spTgt spid="25"/>
                                        </p:tgtEl>
                                        <p:attrNameLst>
                                          <p:attrName>ppt_w</p:attrName>
                                        </p:attrNameLst>
                                      </p:cBhvr>
                                      <p:tavLst>
                                        <p:tav tm="0">
                                          <p:val>
                                            <p:fltVal val="0"/>
                                          </p:val>
                                        </p:tav>
                                        <p:tav tm="100000">
                                          <p:val>
                                            <p:strVal val="#ppt_w"/>
                                          </p:val>
                                        </p:tav>
                                      </p:tavLst>
                                    </p:anim>
                                    <p:anim calcmode="lin" valueType="num">
                                      <p:cBhvr>
                                        <p:cTn id="13" dur="500" fill="hold"/>
                                        <p:tgtEl>
                                          <p:spTgt spid="25"/>
                                        </p:tgtEl>
                                        <p:attrNameLst>
                                          <p:attrName>ppt_h</p:attrName>
                                        </p:attrNameLst>
                                      </p:cBhvr>
                                      <p:tavLst>
                                        <p:tav tm="0">
                                          <p:val>
                                            <p:fltVal val="0"/>
                                          </p:val>
                                        </p:tav>
                                        <p:tav tm="100000">
                                          <p:val>
                                            <p:strVal val="#ppt_h"/>
                                          </p:val>
                                        </p:tav>
                                      </p:tavLst>
                                    </p:anim>
                                    <p:animEffect transition="in" filter="fade">
                                      <p:cBhvr>
                                        <p:cTn id="14" dur="500"/>
                                        <p:tgtEl>
                                          <p:spTgt spid="25"/>
                                        </p:tgtEl>
                                      </p:cBhvr>
                                    </p:animEffect>
                                  </p:childTnLst>
                                </p:cTn>
                              </p:par>
                              <p:par>
                                <p:cTn id="15" presetID="53" presetClass="entr" presetSubtype="16" fill="hold" nodeType="withEffect">
                                  <p:stCondLst>
                                    <p:cond delay="0"/>
                                  </p:stCondLst>
                                  <p:childTnLst>
                                    <p:set>
                                      <p:cBhvr>
                                        <p:cTn id="16" dur="1" fill="hold">
                                          <p:stCondLst>
                                            <p:cond delay="0"/>
                                          </p:stCondLst>
                                        </p:cTn>
                                        <p:tgtEl>
                                          <p:spTgt spid="26"/>
                                        </p:tgtEl>
                                        <p:attrNameLst>
                                          <p:attrName>style.visibility</p:attrName>
                                        </p:attrNameLst>
                                      </p:cBhvr>
                                      <p:to>
                                        <p:strVal val="visible"/>
                                      </p:to>
                                    </p:set>
                                    <p:anim calcmode="lin" valueType="num">
                                      <p:cBhvr>
                                        <p:cTn id="17" dur="500" fill="hold"/>
                                        <p:tgtEl>
                                          <p:spTgt spid="26"/>
                                        </p:tgtEl>
                                        <p:attrNameLst>
                                          <p:attrName>ppt_w</p:attrName>
                                        </p:attrNameLst>
                                      </p:cBhvr>
                                      <p:tavLst>
                                        <p:tav tm="0">
                                          <p:val>
                                            <p:fltVal val="0"/>
                                          </p:val>
                                        </p:tav>
                                        <p:tav tm="100000">
                                          <p:val>
                                            <p:strVal val="#ppt_w"/>
                                          </p:val>
                                        </p:tav>
                                      </p:tavLst>
                                    </p:anim>
                                    <p:anim calcmode="lin" valueType="num">
                                      <p:cBhvr>
                                        <p:cTn id="18" dur="500" fill="hold"/>
                                        <p:tgtEl>
                                          <p:spTgt spid="26"/>
                                        </p:tgtEl>
                                        <p:attrNameLst>
                                          <p:attrName>ppt_h</p:attrName>
                                        </p:attrNameLst>
                                      </p:cBhvr>
                                      <p:tavLst>
                                        <p:tav tm="0">
                                          <p:val>
                                            <p:fltVal val="0"/>
                                          </p:val>
                                        </p:tav>
                                        <p:tav tm="100000">
                                          <p:val>
                                            <p:strVal val="#ppt_h"/>
                                          </p:val>
                                        </p:tav>
                                      </p:tavLst>
                                    </p:anim>
                                    <p:animEffect transition="in" filter="fade">
                                      <p:cBhvr>
                                        <p:cTn id="19" dur="500"/>
                                        <p:tgtEl>
                                          <p:spTgt spid="26"/>
                                        </p:tgtEl>
                                      </p:cBhvr>
                                    </p:animEffect>
                                  </p:childTnLst>
                                </p:cTn>
                              </p:par>
                              <p:par>
                                <p:cTn id="20" presetID="53" presetClass="entr" presetSubtype="16" fill="hold" nodeType="withEffect">
                                  <p:stCondLst>
                                    <p:cond delay="0"/>
                                  </p:stCondLst>
                                  <p:childTnLst>
                                    <p:set>
                                      <p:cBhvr>
                                        <p:cTn id="21" dur="1" fill="hold">
                                          <p:stCondLst>
                                            <p:cond delay="0"/>
                                          </p:stCondLst>
                                        </p:cTn>
                                        <p:tgtEl>
                                          <p:spTgt spid="12"/>
                                        </p:tgtEl>
                                        <p:attrNameLst>
                                          <p:attrName>style.visibility</p:attrName>
                                        </p:attrNameLst>
                                      </p:cBhvr>
                                      <p:to>
                                        <p:strVal val="visible"/>
                                      </p:to>
                                    </p:set>
                                    <p:anim calcmode="lin" valueType="num">
                                      <p:cBhvr>
                                        <p:cTn id="22" dur="500" fill="hold"/>
                                        <p:tgtEl>
                                          <p:spTgt spid="12"/>
                                        </p:tgtEl>
                                        <p:attrNameLst>
                                          <p:attrName>ppt_w</p:attrName>
                                        </p:attrNameLst>
                                      </p:cBhvr>
                                      <p:tavLst>
                                        <p:tav tm="0">
                                          <p:val>
                                            <p:fltVal val="0"/>
                                          </p:val>
                                        </p:tav>
                                        <p:tav tm="100000">
                                          <p:val>
                                            <p:strVal val="#ppt_w"/>
                                          </p:val>
                                        </p:tav>
                                      </p:tavLst>
                                    </p:anim>
                                    <p:anim calcmode="lin" valueType="num">
                                      <p:cBhvr>
                                        <p:cTn id="23" dur="500" fill="hold"/>
                                        <p:tgtEl>
                                          <p:spTgt spid="12"/>
                                        </p:tgtEl>
                                        <p:attrNameLst>
                                          <p:attrName>ppt_h</p:attrName>
                                        </p:attrNameLst>
                                      </p:cBhvr>
                                      <p:tavLst>
                                        <p:tav tm="0">
                                          <p:val>
                                            <p:fltVal val="0"/>
                                          </p:val>
                                        </p:tav>
                                        <p:tav tm="100000">
                                          <p:val>
                                            <p:strVal val="#ppt_h"/>
                                          </p:val>
                                        </p:tav>
                                      </p:tavLst>
                                    </p:anim>
                                    <p:animEffect transition="in" filter="fade">
                                      <p:cBhvr>
                                        <p:cTn id="2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3" name="Group 32">
            <a:extLst>
              <a:ext uri="{FF2B5EF4-FFF2-40B4-BE49-F238E27FC236}">
                <a16:creationId xmlns:a16="http://schemas.microsoft.com/office/drawing/2014/main" id="{BC3001EC-9F33-4C39-B780-199714C83EA2}"/>
              </a:ext>
            </a:extLst>
          </p:cNvPr>
          <p:cNvGrpSpPr/>
          <p:nvPr/>
        </p:nvGrpSpPr>
        <p:grpSpPr>
          <a:xfrm>
            <a:off x="-290920" y="0"/>
            <a:ext cx="12482920" cy="6858000"/>
            <a:chOff x="-290920" y="0"/>
            <a:chExt cx="12482920" cy="6858000"/>
          </a:xfrm>
        </p:grpSpPr>
        <p:sp>
          <p:nvSpPr>
            <p:cNvPr id="34" name="Rectangle 33">
              <a:extLst>
                <a:ext uri="{FF2B5EF4-FFF2-40B4-BE49-F238E27FC236}">
                  <a16:creationId xmlns:a16="http://schemas.microsoft.com/office/drawing/2014/main" id="{129B5C97-F627-4A85-B003-5396A9D964D5}"/>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5" name="Freeform: Shape 34">
              <a:extLst>
                <a:ext uri="{FF2B5EF4-FFF2-40B4-BE49-F238E27FC236}">
                  <a16:creationId xmlns:a16="http://schemas.microsoft.com/office/drawing/2014/main" id="{A97C14D5-0388-44F5-AD76-F8BBAF179CD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6" name="TextBox 35">
              <a:extLst>
                <a:ext uri="{FF2B5EF4-FFF2-40B4-BE49-F238E27FC236}">
                  <a16:creationId xmlns:a16="http://schemas.microsoft.com/office/drawing/2014/main" id="{2151F346-69C6-4F86-BC1F-C57BA2384CC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37" name="Picture 36">
              <a:extLst>
                <a:ext uri="{FF2B5EF4-FFF2-40B4-BE49-F238E27FC236}">
                  <a16:creationId xmlns:a16="http://schemas.microsoft.com/office/drawing/2014/main" id="{52B367FE-8530-4052-AD96-2D6FBE490F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38" name="Group 37">
            <a:extLst>
              <a:ext uri="{FF2B5EF4-FFF2-40B4-BE49-F238E27FC236}">
                <a16:creationId xmlns:a16="http://schemas.microsoft.com/office/drawing/2014/main" id="{63E93C38-ECA5-4094-81E9-196A3BD19EBD}"/>
              </a:ext>
            </a:extLst>
          </p:cNvPr>
          <p:cNvGrpSpPr/>
          <p:nvPr/>
        </p:nvGrpSpPr>
        <p:grpSpPr>
          <a:xfrm>
            <a:off x="737518" y="-2"/>
            <a:ext cx="11463303" cy="6858000"/>
            <a:chOff x="213096" y="0"/>
            <a:chExt cx="11447505" cy="6858000"/>
          </a:xfrm>
        </p:grpSpPr>
        <p:sp>
          <p:nvSpPr>
            <p:cNvPr id="39" name="Rectangle 38">
              <a:extLst>
                <a:ext uri="{FF2B5EF4-FFF2-40B4-BE49-F238E27FC236}">
                  <a16:creationId xmlns:a16="http://schemas.microsoft.com/office/drawing/2014/main" id="{5C85080E-7B66-43F0-AB4D-3A69B13C005A}"/>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50000"/>
                  </a:schemeClr>
                </a:solidFill>
              </a:endParaRPr>
            </a:p>
          </p:txBody>
        </p:sp>
        <p:sp>
          <p:nvSpPr>
            <p:cNvPr id="40" name="Freeform: Shape 39">
              <a:extLst>
                <a:ext uri="{FF2B5EF4-FFF2-40B4-BE49-F238E27FC236}">
                  <a16:creationId xmlns:a16="http://schemas.microsoft.com/office/drawing/2014/main" id="{405DAC1A-9BF8-460E-8D8B-77BFB6B27FF9}"/>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2">
                    <a:lumMod val="50000"/>
                  </a:schemeClr>
                </a:solidFill>
              </a:endParaRPr>
            </a:p>
          </p:txBody>
        </p:sp>
        <p:sp>
          <p:nvSpPr>
            <p:cNvPr id="41" name="TextBox 40">
              <a:extLst>
                <a:ext uri="{FF2B5EF4-FFF2-40B4-BE49-F238E27FC236}">
                  <a16:creationId xmlns:a16="http://schemas.microsoft.com/office/drawing/2014/main" id="{90DCA374-CD21-448B-8791-8A04A9A9A552}"/>
                </a:ext>
              </a:extLst>
            </p:cNvPr>
            <p:cNvSpPr txBox="1"/>
            <p:nvPr/>
          </p:nvSpPr>
          <p:spPr>
            <a:xfrm rot="16200000">
              <a:off x="10204735" y="3242491"/>
              <a:ext cx="2265401" cy="646331"/>
            </a:xfrm>
            <a:prstGeom prst="rect">
              <a:avLst/>
            </a:prstGeom>
            <a:noFill/>
          </p:spPr>
          <p:txBody>
            <a:bodyPr wrap="square" rtlCol="0">
              <a:spAutoFit/>
            </a:bodyPr>
            <a:lstStyle/>
            <a:p>
              <a:pPr algn="ctr"/>
              <a:r>
                <a:rPr lang="en-US" sz="3600" b="1" dirty="0">
                  <a:solidFill>
                    <a:schemeClr val="bg2">
                      <a:lumMod val="50000"/>
                    </a:schemeClr>
                  </a:solidFill>
                  <a:latin typeface="Tw Cen MT" panose="020B0602020104020603" pitchFamily="34" charset="0"/>
                </a:rPr>
                <a:t>Summary</a:t>
              </a:r>
            </a:p>
          </p:txBody>
        </p:sp>
        <p:pic>
          <p:nvPicPr>
            <p:cNvPr id="42" name="Picture 41">
              <a:extLst>
                <a:ext uri="{FF2B5EF4-FFF2-40B4-BE49-F238E27FC236}">
                  <a16:creationId xmlns:a16="http://schemas.microsoft.com/office/drawing/2014/main" id="{83A620A7-5483-4447-9670-0F8D67F3627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43" name="Group 42">
            <a:extLst>
              <a:ext uri="{FF2B5EF4-FFF2-40B4-BE49-F238E27FC236}">
                <a16:creationId xmlns:a16="http://schemas.microsoft.com/office/drawing/2014/main" id="{B02914A7-C65F-4EFB-8FF4-9BB283DC3935}"/>
              </a:ext>
            </a:extLst>
          </p:cNvPr>
          <p:cNvGrpSpPr/>
          <p:nvPr/>
        </p:nvGrpSpPr>
        <p:grpSpPr>
          <a:xfrm>
            <a:off x="-7847639" y="0"/>
            <a:ext cx="9961092" cy="6858000"/>
            <a:chOff x="491575" y="0"/>
            <a:chExt cx="9961092" cy="6858000"/>
          </a:xfrm>
        </p:grpSpPr>
        <p:sp>
          <p:nvSpPr>
            <p:cNvPr id="44" name="Rectangle 43">
              <a:extLst>
                <a:ext uri="{FF2B5EF4-FFF2-40B4-BE49-F238E27FC236}">
                  <a16:creationId xmlns:a16="http://schemas.microsoft.com/office/drawing/2014/main" id="{99DA66B2-8A11-4397-B997-59A37787FEF8}"/>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5" name="Freeform: Shape 44">
              <a:extLst>
                <a:ext uri="{FF2B5EF4-FFF2-40B4-BE49-F238E27FC236}">
                  <a16:creationId xmlns:a16="http://schemas.microsoft.com/office/drawing/2014/main" id="{71A8923D-952E-459F-92C0-CCE4C5E45F8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6" name="TextBox 45">
              <a:extLst>
                <a:ext uri="{FF2B5EF4-FFF2-40B4-BE49-F238E27FC236}">
                  <a16:creationId xmlns:a16="http://schemas.microsoft.com/office/drawing/2014/main" id="{DD73F442-B2F9-477E-B4DE-956CBA09D9C3}"/>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47" name="Picture 46">
              <a:extLst>
                <a:ext uri="{FF2B5EF4-FFF2-40B4-BE49-F238E27FC236}">
                  <a16:creationId xmlns:a16="http://schemas.microsoft.com/office/drawing/2014/main" id="{7654DCD4-7920-4D83-8D7F-6D3A71A169A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48" name="Group 47">
            <a:extLst>
              <a:ext uri="{FF2B5EF4-FFF2-40B4-BE49-F238E27FC236}">
                <a16:creationId xmlns:a16="http://schemas.microsoft.com/office/drawing/2014/main" id="{7A67CF96-B24C-4BAD-8466-B32ECC2753A1}"/>
              </a:ext>
            </a:extLst>
          </p:cNvPr>
          <p:cNvGrpSpPr/>
          <p:nvPr/>
        </p:nvGrpSpPr>
        <p:grpSpPr>
          <a:xfrm>
            <a:off x="-7985197" y="0"/>
            <a:ext cx="9574094" cy="6858000"/>
            <a:chOff x="491575" y="0"/>
            <a:chExt cx="9574094" cy="6858000"/>
          </a:xfrm>
        </p:grpSpPr>
        <p:sp>
          <p:nvSpPr>
            <p:cNvPr id="49" name="Rectangle 48">
              <a:extLst>
                <a:ext uri="{FF2B5EF4-FFF2-40B4-BE49-F238E27FC236}">
                  <a16:creationId xmlns:a16="http://schemas.microsoft.com/office/drawing/2014/main" id="{8B7B7434-49BE-47D6-BAE6-9B9134F0EC8C}"/>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1" name="Freeform: Shape 80">
              <a:extLst>
                <a:ext uri="{FF2B5EF4-FFF2-40B4-BE49-F238E27FC236}">
                  <a16:creationId xmlns:a16="http://schemas.microsoft.com/office/drawing/2014/main" id="{080296C0-D397-432D-B5A1-CA7DA186EB1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2" name="TextBox 81">
              <a:extLst>
                <a:ext uri="{FF2B5EF4-FFF2-40B4-BE49-F238E27FC236}">
                  <a16:creationId xmlns:a16="http://schemas.microsoft.com/office/drawing/2014/main" id="{73DE47E8-526D-4A96-A671-69E14D20D1EB}"/>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83" name="Picture 82">
              <a:extLst>
                <a:ext uri="{FF2B5EF4-FFF2-40B4-BE49-F238E27FC236}">
                  <a16:creationId xmlns:a16="http://schemas.microsoft.com/office/drawing/2014/main" id="{7FD4AAEC-83E5-4832-BEA2-517A195B2A7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84" name="Rectangle 83">
            <a:extLst>
              <a:ext uri="{FF2B5EF4-FFF2-40B4-BE49-F238E27FC236}">
                <a16:creationId xmlns:a16="http://schemas.microsoft.com/office/drawing/2014/main" id="{3C6BBB46-3AAE-49B1-8F56-3535CC357FEB}"/>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85" name="Group 84">
            <a:extLst>
              <a:ext uri="{FF2B5EF4-FFF2-40B4-BE49-F238E27FC236}">
                <a16:creationId xmlns:a16="http://schemas.microsoft.com/office/drawing/2014/main" id="{FA452EB0-3109-45BB-9389-19F84818FE30}"/>
              </a:ext>
            </a:extLst>
          </p:cNvPr>
          <p:cNvGrpSpPr/>
          <p:nvPr/>
        </p:nvGrpSpPr>
        <p:grpSpPr>
          <a:xfrm>
            <a:off x="-7638543" y="-1"/>
            <a:ext cx="8692332" cy="6858000"/>
            <a:chOff x="718505" y="-1"/>
            <a:chExt cx="8692332" cy="6858000"/>
          </a:xfrm>
        </p:grpSpPr>
        <p:sp>
          <p:nvSpPr>
            <p:cNvPr id="86" name="Rectangle 85">
              <a:extLst>
                <a:ext uri="{FF2B5EF4-FFF2-40B4-BE49-F238E27FC236}">
                  <a16:creationId xmlns:a16="http://schemas.microsoft.com/office/drawing/2014/main" id="{DF941D0C-24DA-4E77-BE08-34D6F94BD6FB}"/>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7" name="Freeform: Shape 86">
              <a:extLst>
                <a:ext uri="{FF2B5EF4-FFF2-40B4-BE49-F238E27FC236}">
                  <a16:creationId xmlns:a16="http://schemas.microsoft.com/office/drawing/2014/main" id="{09747D82-077A-45F5-8822-6A7F978E7845}"/>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8" name="TextBox 87">
              <a:extLst>
                <a:ext uri="{FF2B5EF4-FFF2-40B4-BE49-F238E27FC236}">
                  <a16:creationId xmlns:a16="http://schemas.microsoft.com/office/drawing/2014/main" id="{D0B26FA9-EA76-44C1-BA33-E4EBB060AC7E}"/>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89" name="Picture 88">
              <a:extLst>
                <a:ext uri="{FF2B5EF4-FFF2-40B4-BE49-F238E27FC236}">
                  <a16:creationId xmlns:a16="http://schemas.microsoft.com/office/drawing/2014/main" id="{EF138C1A-5B68-42BE-B6B8-0EE1F4738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90" name="Group 89">
            <a:extLst>
              <a:ext uri="{FF2B5EF4-FFF2-40B4-BE49-F238E27FC236}">
                <a16:creationId xmlns:a16="http://schemas.microsoft.com/office/drawing/2014/main" id="{2C48F6F2-7791-4D91-ADEC-77FE8FA739E3}"/>
              </a:ext>
            </a:extLst>
          </p:cNvPr>
          <p:cNvGrpSpPr/>
          <p:nvPr/>
        </p:nvGrpSpPr>
        <p:grpSpPr>
          <a:xfrm>
            <a:off x="-9395082" y="-1"/>
            <a:ext cx="9927504" cy="6858000"/>
            <a:chOff x="-9337032" y="-1"/>
            <a:chExt cx="9927504" cy="6858000"/>
          </a:xfrm>
        </p:grpSpPr>
        <p:sp>
          <p:nvSpPr>
            <p:cNvPr id="91" name="Rectangle 90">
              <a:extLst>
                <a:ext uri="{FF2B5EF4-FFF2-40B4-BE49-F238E27FC236}">
                  <a16:creationId xmlns:a16="http://schemas.microsoft.com/office/drawing/2014/main" id="{F8ED37E9-9873-442F-9B7C-7F4BC1A8F51E}"/>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2" name="Freeform: Shape 91">
              <a:extLst>
                <a:ext uri="{FF2B5EF4-FFF2-40B4-BE49-F238E27FC236}">
                  <a16:creationId xmlns:a16="http://schemas.microsoft.com/office/drawing/2014/main" id="{F2E020DE-B46A-4F47-97AB-BB6C9038FA2E}"/>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3" name="TextBox 92">
              <a:extLst>
                <a:ext uri="{FF2B5EF4-FFF2-40B4-BE49-F238E27FC236}">
                  <a16:creationId xmlns:a16="http://schemas.microsoft.com/office/drawing/2014/main" id="{7CF05B7C-3B2D-4CAB-9132-7B756B44206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94" name="Picture 93">
              <a:extLst>
                <a:ext uri="{FF2B5EF4-FFF2-40B4-BE49-F238E27FC236}">
                  <a16:creationId xmlns:a16="http://schemas.microsoft.com/office/drawing/2014/main" id="{A04E2F48-2025-4003-B590-1DD9577106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2" name="Group 1">
            <a:extLst>
              <a:ext uri="{FF2B5EF4-FFF2-40B4-BE49-F238E27FC236}">
                <a16:creationId xmlns:a16="http://schemas.microsoft.com/office/drawing/2014/main" id="{C0CC9551-551C-7E4C-35BB-B6B2F4522627}"/>
              </a:ext>
            </a:extLst>
          </p:cNvPr>
          <p:cNvGrpSpPr/>
          <p:nvPr/>
        </p:nvGrpSpPr>
        <p:grpSpPr>
          <a:xfrm>
            <a:off x="-12191810" y="0"/>
            <a:ext cx="12211854" cy="6858000"/>
            <a:chOff x="-9337032" y="-1"/>
            <a:chExt cx="9927504" cy="6858000"/>
          </a:xfrm>
        </p:grpSpPr>
        <p:sp>
          <p:nvSpPr>
            <p:cNvPr id="4" name="Rectangle 3">
              <a:extLst>
                <a:ext uri="{FF2B5EF4-FFF2-40B4-BE49-F238E27FC236}">
                  <a16:creationId xmlns:a16="http://schemas.microsoft.com/office/drawing/2014/main" id="{3543E3D5-FB6A-1BBD-E3DF-42736A969F1E}"/>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Freeform: Shape 4">
              <a:extLst>
                <a:ext uri="{FF2B5EF4-FFF2-40B4-BE49-F238E27FC236}">
                  <a16:creationId xmlns:a16="http://schemas.microsoft.com/office/drawing/2014/main" id="{CD0B04A4-F4C8-636D-ED4A-37249D6A8B30}"/>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p>
          </p:txBody>
        </p:sp>
        <p:sp>
          <p:nvSpPr>
            <p:cNvPr id="6" name="TextBox 5">
              <a:extLst>
                <a:ext uri="{FF2B5EF4-FFF2-40B4-BE49-F238E27FC236}">
                  <a16:creationId xmlns:a16="http://schemas.microsoft.com/office/drawing/2014/main" id="{724BFDEC-2C19-DCBE-BCB7-41661FF74768}"/>
                </a:ext>
              </a:extLst>
            </p:cNvPr>
            <p:cNvSpPr txBox="1"/>
            <p:nvPr/>
          </p:nvSpPr>
          <p:spPr>
            <a:xfrm rot="16200000">
              <a:off x="-738260" y="3250059"/>
              <a:ext cx="1992086" cy="525428"/>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8" name="Picture 7">
              <a:extLst>
                <a:ext uri="{FF2B5EF4-FFF2-40B4-BE49-F238E27FC236}">
                  <a16:creationId xmlns:a16="http://schemas.microsoft.com/office/drawing/2014/main" id="{8C10849F-49AD-943F-4D63-3FCDAE304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11" name="TextBox 10">
            <a:extLst>
              <a:ext uri="{FF2B5EF4-FFF2-40B4-BE49-F238E27FC236}">
                <a16:creationId xmlns:a16="http://schemas.microsoft.com/office/drawing/2014/main" id="{4C83BB09-0197-4F75-3FC2-D2ACF2368C2B}"/>
              </a:ext>
            </a:extLst>
          </p:cNvPr>
          <p:cNvSpPr txBox="1"/>
          <p:nvPr/>
        </p:nvSpPr>
        <p:spPr>
          <a:xfrm>
            <a:off x="4986670" y="414667"/>
            <a:ext cx="3240439" cy="461665"/>
          </a:xfrm>
          <a:prstGeom prst="rect">
            <a:avLst/>
          </a:prstGeom>
          <a:noFill/>
        </p:spPr>
        <p:txBody>
          <a:bodyPr wrap="square" rtlCol="0">
            <a:spAutoFit/>
          </a:bodyPr>
          <a:lstStyle/>
          <a:p>
            <a:pPr algn="ctr"/>
            <a:r>
              <a:rPr lang="en-IN" sz="2400" dirty="0">
                <a:solidFill>
                  <a:srgbClr val="00A0A8"/>
                </a:solidFill>
                <a:latin typeface="Berlin Sans FB Demi" panose="020E0802020502020306" pitchFamily="34" charset="0"/>
              </a:rPr>
              <a:t>PROJECT SUMMARY</a:t>
            </a:r>
          </a:p>
        </p:txBody>
      </p:sp>
      <p:sp>
        <p:nvSpPr>
          <p:cNvPr id="12" name="TextBox 11">
            <a:extLst>
              <a:ext uri="{FF2B5EF4-FFF2-40B4-BE49-F238E27FC236}">
                <a16:creationId xmlns:a16="http://schemas.microsoft.com/office/drawing/2014/main" id="{FC25CE72-DD70-0D1F-241B-381EF9845CF8}"/>
              </a:ext>
            </a:extLst>
          </p:cNvPr>
          <p:cNvSpPr txBox="1"/>
          <p:nvPr/>
        </p:nvSpPr>
        <p:spPr>
          <a:xfrm>
            <a:off x="2628593" y="857237"/>
            <a:ext cx="8586513" cy="1200329"/>
          </a:xfrm>
          <a:prstGeom prst="rect">
            <a:avLst/>
          </a:prstGeom>
          <a:noFill/>
        </p:spPr>
        <p:txBody>
          <a:bodyPr wrap="square" rtlCol="0">
            <a:spAutoFit/>
          </a:bodyPr>
          <a:lstStyle/>
          <a:p>
            <a:pPr algn="just"/>
            <a:r>
              <a:rPr lang="en-US" dirty="0">
                <a:solidFill>
                  <a:schemeClr val="tx1">
                    <a:lumMod val="75000"/>
                    <a:lumOff val="25000"/>
                  </a:schemeClr>
                </a:solidFill>
              </a:rPr>
              <a:t>To analyze Olist Store e-commerce data </a:t>
            </a:r>
            <a:r>
              <a:rPr lang="en-US" b="1" dirty="0">
                <a:solidFill>
                  <a:schemeClr val="tx1">
                    <a:lumMod val="75000"/>
                    <a:lumOff val="25000"/>
                  </a:schemeClr>
                </a:solidFill>
              </a:rPr>
              <a:t>using Excel, SQL, Tableau, and Power BI</a:t>
            </a:r>
            <a:r>
              <a:rPr lang="en-US" dirty="0">
                <a:solidFill>
                  <a:schemeClr val="tx1">
                    <a:lumMod val="75000"/>
                    <a:lumOff val="25000"/>
                  </a:schemeClr>
                </a:solidFill>
              </a:rPr>
              <a:t> to identify sales and customer behavior trends, evaluate delivery and seller performance, and support data-driven decision-making to improve operational efficiency and customer satisfaction.</a:t>
            </a:r>
            <a:endParaRPr lang="en-IN" dirty="0">
              <a:solidFill>
                <a:schemeClr val="tx1">
                  <a:lumMod val="75000"/>
                  <a:lumOff val="25000"/>
                </a:schemeClr>
              </a:solidFill>
            </a:endParaRPr>
          </a:p>
        </p:txBody>
      </p:sp>
      <p:sp>
        <p:nvSpPr>
          <p:cNvPr id="13" name="TextBox 12">
            <a:extLst>
              <a:ext uri="{FF2B5EF4-FFF2-40B4-BE49-F238E27FC236}">
                <a16:creationId xmlns:a16="http://schemas.microsoft.com/office/drawing/2014/main" id="{50E9F566-4F12-FF88-5EF5-4098B0EC88E3}"/>
              </a:ext>
            </a:extLst>
          </p:cNvPr>
          <p:cNvSpPr txBox="1"/>
          <p:nvPr/>
        </p:nvSpPr>
        <p:spPr>
          <a:xfrm>
            <a:off x="1997581" y="2034717"/>
            <a:ext cx="3240439" cy="461665"/>
          </a:xfrm>
          <a:prstGeom prst="rect">
            <a:avLst/>
          </a:prstGeom>
          <a:noFill/>
        </p:spPr>
        <p:txBody>
          <a:bodyPr wrap="square" rtlCol="0">
            <a:spAutoFit/>
          </a:bodyPr>
          <a:lstStyle/>
          <a:p>
            <a:pPr algn="ctr"/>
            <a:r>
              <a:rPr lang="en-IN" sz="2400" dirty="0">
                <a:solidFill>
                  <a:srgbClr val="00A0A8"/>
                </a:solidFill>
                <a:latin typeface="Berlin Sans FB Demi" panose="020E0802020502020306" pitchFamily="34" charset="0"/>
              </a:rPr>
              <a:t>KEY OBJECTIVES</a:t>
            </a:r>
          </a:p>
        </p:txBody>
      </p:sp>
      <p:sp>
        <p:nvSpPr>
          <p:cNvPr id="19" name="TextBox 18">
            <a:extLst>
              <a:ext uri="{FF2B5EF4-FFF2-40B4-BE49-F238E27FC236}">
                <a16:creationId xmlns:a16="http://schemas.microsoft.com/office/drawing/2014/main" id="{84E8B473-BDEF-EA1D-189F-36FB0DF6FCA5}"/>
              </a:ext>
            </a:extLst>
          </p:cNvPr>
          <p:cNvSpPr txBox="1"/>
          <p:nvPr/>
        </p:nvSpPr>
        <p:spPr>
          <a:xfrm>
            <a:off x="1484739" y="3726533"/>
            <a:ext cx="3240439" cy="461665"/>
          </a:xfrm>
          <a:prstGeom prst="rect">
            <a:avLst/>
          </a:prstGeom>
          <a:noFill/>
        </p:spPr>
        <p:txBody>
          <a:bodyPr wrap="square" rtlCol="0">
            <a:spAutoFit/>
          </a:bodyPr>
          <a:lstStyle/>
          <a:p>
            <a:pPr algn="ctr"/>
            <a:r>
              <a:rPr lang="en-IN" sz="2400" dirty="0">
                <a:solidFill>
                  <a:srgbClr val="00A0A8"/>
                </a:solidFill>
                <a:latin typeface="Berlin Sans FB Demi" panose="020E0802020502020306" pitchFamily="34" charset="0"/>
              </a:rPr>
              <a:t>IMPACTS</a:t>
            </a:r>
          </a:p>
        </p:txBody>
      </p:sp>
      <p:grpSp>
        <p:nvGrpSpPr>
          <p:cNvPr id="21" name="Group 20">
            <a:extLst>
              <a:ext uri="{FF2B5EF4-FFF2-40B4-BE49-F238E27FC236}">
                <a16:creationId xmlns:a16="http://schemas.microsoft.com/office/drawing/2014/main" id="{A4DE722C-63B0-3EC1-AF16-C08767A1B4B4}"/>
              </a:ext>
            </a:extLst>
          </p:cNvPr>
          <p:cNvGrpSpPr/>
          <p:nvPr/>
        </p:nvGrpSpPr>
        <p:grpSpPr>
          <a:xfrm>
            <a:off x="-9299563" y="-2"/>
            <a:ext cx="8692332" cy="6858000"/>
            <a:chOff x="718505" y="-1"/>
            <a:chExt cx="8692332" cy="6858000"/>
          </a:xfrm>
        </p:grpSpPr>
        <p:sp>
          <p:nvSpPr>
            <p:cNvPr id="22" name="Rectangle 21">
              <a:extLst>
                <a:ext uri="{FF2B5EF4-FFF2-40B4-BE49-F238E27FC236}">
                  <a16:creationId xmlns:a16="http://schemas.microsoft.com/office/drawing/2014/main" id="{DD59DAB2-9A23-F008-8AB4-F362261132ED}"/>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Freeform: Shape 22">
              <a:extLst>
                <a:ext uri="{FF2B5EF4-FFF2-40B4-BE49-F238E27FC236}">
                  <a16:creationId xmlns:a16="http://schemas.microsoft.com/office/drawing/2014/main" id="{CC9A0865-F65B-82D7-9E48-EAB9F1FC61AB}"/>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a:extLst>
                <a:ext uri="{FF2B5EF4-FFF2-40B4-BE49-F238E27FC236}">
                  <a16:creationId xmlns:a16="http://schemas.microsoft.com/office/drawing/2014/main" id="{D0193D01-6E14-E1E6-E4DA-EC857019077D}"/>
                </a:ext>
              </a:extLst>
            </p:cNvPr>
            <p:cNvSpPr txBox="1"/>
            <p:nvPr/>
          </p:nvSpPr>
          <p:spPr>
            <a:xfrm rot="16200000">
              <a:off x="7996859" y="3284379"/>
              <a:ext cx="218162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25" name="Picture 24">
              <a:extLst>
                <a:ext uri="{FF2B5EF4-FFF2-40B4-BE49-F238E27FC236}">
                  <a16:creationId xmlns:a16="http://schemas.microsoft.com/office/drawing/2014/main" id="{6DB9DC4D-16E7-31F9-62F3-1B32A063CE4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5" name="Group 14">
            <a:extLst>
              <a:ext uri="{FF2B5EF4-FFF2-40B4-BE49-F238E27FC236}">
                <a16:creationId xmlns:a16="http://schemas.microsoft.com/office/drawing/2014/main" id="{C761C365-0681-E9B9-8FEF-3D16EAA79480}"/>
              </a:ext>
            </a:extLst>
          </p:cNvPr>
          <p:cNvGrpSpPr/>
          <p:nvPr/>
        </p:nvGrpSpPr>
        <p:grpSpPr>
          <a:xfrm>
            <a:off x="-10674846" y="0"/>
            <a:ext cx="9571127" cy="6858000"/>
            <a:chOff x="491575" y="0"/>
            <a:chExt cx="9574094" cy="6858000"/>
          </a:xfrm>
        </p:grpSpPr>
        <p:sp>
          <p:nvSpPr>
            <p:cNvPr id="16" name="Rectangle 15">
              <a:extLst>
                <a:ext uri="{FF2B5EF4-FFF2-40B4-BE49-F238E27FC236}">
                  <a16:creationId xmlns:a16="http://schemas.microsoft.com/office/drawing/2014/main" id="{62149D4D-B971-3AD9-D20E-0A0DCF139F07}"/>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9FB13E52-2080-E279-5A2A-FA40F613CDE1}"/>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TextBox 25">
              <a:extLst>
                <a:ext uri="{FF2B5EF4-FFF2-40B4-BE49-F238E27FC236}">
                  <a16:creationId xmlns:a16="http://schemas.microsoft.com/office/drawing/2014/main" id="{014B3A93-4C5B-6A0D-A2F3-C742F913B992}"/>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7" name="Picture 26">
              <a:extLst>
                <a:ext uri="{FF2B5EF4-FFF2-40B4-BE49-F238E27FC236}">
                  <a16:creationId xmlns:a16="http://schemas.microsoft.com/office/drawing/2014/main" id="{343FA84F-26F0-6C9C-ABF9-51F7771C8F3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 name="Rectangle 2">
            <a:extLst>
              <a:ext uri="{FF2B5EF4-FFF2-40B4-BE49-F238E27FC236}">
                <a16:creationId xmlns:a16="http://schemas.microsoft.com/office/drawing/2014/main" id="{17353B13-2296-810F-8460-E6334B56F240}"/>
              </a:ext>
            </a:extLst>
          </p:cNvPr>
          <p:cNvSpPr>
            <a:spLocks noChangeArrowheads="1"/>
          </p:cNvSpPr>
          <p:nvPr/>
        </p:nvSpPr>
        <p:spPr bwMode="auto">
          <a:xfrm>
            <a:off x="2371190" y="4089481"/>
            <a:ext cx="5990743" cy="255454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600" b="0" i="0" u="none" strike="noStrike" cap="none" normalizeH="0" baseline="0" dirty="0">
                <a:ln>
                  <a:noFill/>
                </a:ln>
                <a:solidFill>
                  <a:schemeClr val="tx1">
                    <a:lumMod val="75000"/>
                    <a:lumOff val="25000"/>
                  </a:schemeClr>
                </a:solidFill>
                <a:effectLst/>
                <a:latin typeface="Arial" panose="020B0604020202020204" pitchFamily="34" charset="0"/>
              </a:rPr>
              <a:t>Here are</a:t>
            </a:r>
            <a:r>
              <a:rPr kumimoji="0" lang="en-US" altLang="en-US" sz="1600" b="1" i="0" u="none" strike="noStrike" cap="none" normalizeH="0" baseline="0" dirty="0">
                <a:ln>
                  <a:noFill/>
                </a:ln>
                <a:solidFill>
                  <a:schemeClr val="tx1">
                    <a:lumMod val="75000"/>
                    <a:lumOff val="25000"/>
                  </a:schemeClr>
                </a:solidFill>
                <a:effectLst/>
                <a:latin typeface="Arial" panose="020B0604020202020204" pitchFamily="34" charset="0"/>
              </a:rPr>
              <a:t> </a:t>
            </a:r>
            <a:r>
              <a:rPr kumimoji="0" lang="en-US" altLang="en-US" sz="1600" i="0" u="none" strike="noStrike" cap="none" normalizeH="0" baseline="0" dirty="0">
                <a:ln>
                  <a:noFill/>
                </a:ln>
                <a:solidFill>
                  <a:schemeClr val="tx1">
                    <a:lumMod val="75000"/>
                    <a:lumOff val="25000"/>
                  </a:schemeClr>
                </a:solidFill>
                <a:effectLst/>
                <a:latin typeface="Arial" panose="020B0604020202020204" pitchFamily="34" charset="0"/>
              </a:rPr>
              <a:t>impact points </a:t>
            </a:r>
            <a:r>
              <a:rPr kumimoji="0" lang="en-US" altLang="en-US" sz="1600" b="0" i="0" u="none" strike="noStrike" cap="none" normalizeH="0" baseline="0" dirty="0">
                <a:ln>
                  <a:noFill/>
                </a:ln>
                <a:solidFill>
                  <a:schemeClr val="tx1">
                    <a:lumMod val="75000"/>
                    <a:lumOff val="25000"/>
                  </a:schemeClr>
                </a:solidFill>
                <a:effectLst/>
                <a:latin typeface="Arial" panose="020B0604020202020204" pitchFamily="34" charset="0"/>
              </a:rPr>
              <a:t>for </a:t>
            </a:r>
            <a:r>
              <a:rPr lang="en-US" altLang="en-US" sz="1600" dirty="0">
                <a:solidFill>
                  <a:schemeClr val="tx1">
                    <a:lumMod val="75000"/>
                    <a:lumOff val="25000"/>
                  </a:schemeClr>
                </a:solidFill>
                <a:latin typeface="Arial" panose="020B0604020202020204" pitchFamily="34" charset="0"/>
              </a:rPr>
              <a:t>Olist store Ecommerce</a:t>
            </a:r>
            <a:r>
              <a:rPr kumimoji="0" lang="en-US" altLang="en-US" sz="1600" b="0" i="0" u="none" strike="noStrike" cap="none" normalizeH="0" baseline="0" dirty="0">
                <a:ln>
                  <a:noFill/>
                </a:ln>
                <a:solidFill>
                  <a:schemeClr val="tx1">
                    <a:lumMod val="75000"/>
                    <a:lumOff val="25000"/>
                  </a:schemeClr>
                </a:solidFill>
                <a:effectLst/>
                <a:latin typeface="Arial" panose="020B0604020202020204" pitchFamily="34" charset="0"/>
              </a:rPr>
              <a:t>:</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Higher operational efficiency</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Reduced data inconsistencies and errors</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Improved customer shopping experience</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Time-saving automated reporting</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Clear visualization of key sales and delivery metrics</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Better coordination between sellers, logistics, and operations</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Increased customer engagement and satisfaction</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Stronger data-driven business planning</a:t>
            </a:r>
          </a:p>
          <a:p>
            <a:pPr marL="285750" marR="0" lvl="0" indent="-285750" algn="l"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lang="en-US" altLang="en-US" sz="1600" dirty="0">
              <a:solidFill>
                <a:schemeClr val="tx1">
                  <a:lumMod val="75000"/>
                  <a:lumOff val="25000"/>
                </a:schemeClr>
              </a:solidFill>
              <a:latin typeface="Arial" panose="020B0604020202020204" pitchFamily="34" charset="0"/>
            </a:endParaRPr>
          </a:p>
        </p:txBody>
      </p:sp>
      <p:sp>
        <p:nvSpPr>
          <p:cNvPr id="28" name="TextBox 27">
            <a:extLst>
              <a:ext uri="{FF2B5EF4-FFF2-40B4-BE49-F238E27FC236}">
                <a16:creationId xmlns:a16="http://schemas.microsoft.com/office/drawing/2014/main" id="{4FF3EC09-5EB3-F8EE-75A2-55507908583B}"/>
              </a:ext>
            </a:extLst>
          </p:cNvPr>
          <p:cNvSpPr txBox="1"/>
          <p:nvPr/>
        </p:nvSpPr>
        <p:spPr>
          <a:xfrm>
            <a:off x="2404713" y="2402584"/>
            <a:ext cx="7030875" cy="1323439"/>
          </a:xfrm>
          <a:prstGeom prst="rect">
            <a:avLst/>
          </a:prstGeom>
          <a:noFill/>
        </p:spPr>
        <p:txBody>
          <a:bodyPr wrap="square">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Build a SQL data model linking orders and revenue</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Integrate customer, seller, product, and delivery data</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Create interactive dashboards for business insights</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Clean and prepare data for accurate analysis</a:t>
            </a:r>
          </a:p>
          <a:p>
            <a:pPr marL="285750" lvl="0" indent="-285750" eaLnBrk="0" fontAlgn="base" hangingPunct="0">
              <a:spcBef>
                <a:spcPct val="0"/>
              </a:spcBef>
              <a:spcAft>
                <a:spcPct val="0"/>
              </a:spcAft>
              <a:buFont typeface="Arial" panose="020B0604020202020204" pitchFamily="34" charset="0"/>
              <a:buChar char="•"/>
            </a:pPr>
            <a:r>
              <a:rPr lang="en-US" altLang="en-US" sz="1600" dirty="0">
                <a:solidFill>
                  <a:schemeClr val="tx1">
                    <a:lumMod val="75000"/>
                    <a:lumOff val="25000"/>
                  </a:schemeClr>
                </a:solidFill>
                <a:latin typeface="Arial" panose="020B0604020202020204" pitchFamily="34" charset="0"/>
              </a:rPr>
              <a:t>Automate reports to support faster decision-making</a:t>
            </a:r>
          </a:p>
        </p:txBody>
      </p:sp>
    </p:spTree>
    <p:extLst>
      <p:ext uri="{BB962C8B-B14F-4D97-AF65-F5344CB8AC3E}">
        <p14:creationId xmlns:p14="http://schemas.microsoft.com/office/powerpoint/2010/main" val="1396948566"/>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1"/>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2"/>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13"/>
                                        </p:tgtEl>
                                        <p:attrNameLst>
                                          <p:attrName>style.visibility</p:attrName>
                                        </p:attrNameLst>
                                      </p:cBhvr>
                                      <p:to>
                                        <p:strVal val="visible"/>
                                      </p:to>
                                    </p:set>
                                  </p:childTnLst>
                                </p:cTn>
                              </p:par>
                            </p:childTnLst>
                          </p:cTn>
                        </p:par>
                        <p:par>
                          <p:cTn id="13" fill="hold">
                            <p:stCondLst>
                              <p:cond delay="1500"/>
                            </p:stCondLst>
                            <p:childTnLst>
                              <p:par>
                                <p:cTn id="14" presetID="1" presetClass="entr" presetSubtype="0" fill="hold" grpId="0" nodeType="afterEffect">
                                  <p:stCondLst>
                                    <p:cond delay="0"/>
                                  </p:stCondLst>
                                  <p:childTnLst>
                                    <p:set>
                                      <p:cBhvr>
                                        <p:cTn id="15" dur="1" fill="hold">
                                          <p:stCondLst>
                                            <p:cond delay="499"/>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3" grpId="0"/>
      <p:bldP spid="1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038E6734-F7ED-4197-AE1C-DE222063D26D}"/>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B7FF06C6-EDB2-4E2A-B33F-9667DAB48738}"/>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DD389168-73D4-4CCF-B806-15F4C9CFBC65}"/>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FD36EBE0-2C84-494E-9C0B-54A6EFA86DA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FE3F6E56-804E-434E-AD42-D62A42CB306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208D727C-49D3-4C59-91D3-816C0DD22E21}"/>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A369AF8C-7DC3-4D77-B3F1-5B8A444D2822}"/>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6A173B44-EE6F-4236-9AB2-49524EA553D7}"/>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B40A12D7-9F13-43EC-95DE-B85ADBCAA6B6}"/>
                </a:ext>
              </a:extLst>
            </p:cNvPr>
            <p:cNvSpPr txBox="1"/>
            <p:nvPr/>
          </p:nvSpPr>
          <p:spPr>
            <a:xfrm rot="16200000">
              <a:off x="10299504" y="3147722"/>
              <a:ext cx="2075862"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BA271034-9DEF-432C-A1F3-B6470D25550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7728BA24-99D1-4E44-98AC-50745A94AD6C}"/>
              </a:ext>
            </a:extLst>
          </p:cNvPr>
          <p:cNvGrpSpPr/>
          <p:nvPr/>
        </p:nvGrpSpPr>
        <p:grpSpPr>
          <a:xfrm>
            <a:off x="1157204" y="-5"/>
            <a:ext cx="9970615" cy="6858000"/>
            <a:chOff x="482052" y="25802"/>
            <a:chExt cx="9970615" cy="6858000"/>
          </a:xfrm>
        </p:grpSpPr>
        <p:sp>
          <p:nvSpPr>
            <p:cNvPr id="61" name="Rectangle 60">
              <a:extLst>
                <a:ext uri="{FF2B5EF4-FFF2-40B4-BE49-F238E27FC236}">
                  <a16:creationId xmlns:a16="http://schemas.microsoft.com/office/drawing/2014/main" id="{1079FD4E-778D-428A-B08F-1B97893971C7}"/>
                </a:ext>
              </a:extLst>
            </p:cNvPr>
            <p:cNvSpPr/>
            <p:nvPr/>
          </p:nvSpPr>
          <p:spPr>
            <a:xfrm>
              <a:off x="482052" y="25802"/>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67DB4514-65BA-420D-BBB3-CCF0A5B397C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F86CE46E-7143-4535-BF09-36D36B082851}"/>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4E9D2CC3-AE8C-4CF7-AC14-0BF3748D631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65" name="Group 64">
            <a:extLst>
              <a:ext uri="{FF2B5EF4-FFF2-40B4-BE49-F238E27FC236}">
                <a16:creationId xmlns:a16="http://schemas.microsoft.com/office/drawing/2014/main" id="{2704DBF9-F2DF-4744-9CBE-8384BF790E0F}"/>
              </a:ext>
            </a:extLst>
          </p:cNvPr>
          <p:cNvGrpSpPr/>
          <p:nvPr/>
        </p:nvGrpSpPr>
        <p:grpSpPr>
          <a:xfrm>
            <a:off x="-7985197" y="0"/>
            <a:ext cx="9574094" cy="6858000"/>
            <a:chOff x="491575" y="0"/>
            <a:chExt cx="9574094" cy="6858000"/>
          </a:xfrm>
        </p:grpSpPr>
        <p:sp>
          <p:nvSpPr>
            <p:cNvPr id="66" name="Rectangle 65">
              <a:extLst>
                <a:ext uri="{FF2B5EF4-FFF2-40B4-BE49-F238E27FC236}">
                  <a16:creationId xmlns:a16="http://schemas.microsoft.com/office/drawing/2014/main" id="{D409FCBC-490E-4134-BE82-9429CE5AB00A}"/>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7" name="Freeform: Shape 66">
              <a:extLst>
                <a:ext uri="{FF2B5EF4-FFF2-40B4-BE49-F238E27FC236}">
                  <a16:creationId xmlns:a16="http://schemas.microsoft.com/office/drawing/2014/main" id="{484E2370-4D03-4FD0-B29C-F763767296D4}"/>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8" name="TextBox 67">
              <a:extLst>
                <a:ext uri="{FF2B5EF4-FFF2-40B4-BE49-F238E27FC236}">
                  <a16:creationId xmlns:a16="http://schemas.microsoft.com/office/drawing/2014/main" id="{CE5F8F51-D3FD-42A1-8372-1B4B1B7C336A}"/>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69" name="Picture 68">
              <a:extLst>
                <a:ext uri="{FF2B5EF4-FFF2-40B4-BE49-F238E27FC236}">
                  <a16:creationId xmlns:a16="http://schemas.microsoft.com/office/drawing/2014/main" id="{05E43CA3-886C-4010-B3E2-837CCC6F516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70" name="Rectangle 69">
            <a:extLst>
              <a:ext uri="{FF2B5EF4-FFF2-40B4-BE49-F238E27FC236}">
                <a16:creationId xmlns:a16="http://schemas.microsoft.com/office/drawing/2014/main" id="{87E322DA-3D39-4A36-A521-33E75DDBFF71}"/>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71" name="Group 70">
            <a:extLst>
              <a:ext uri="{FF2B5EF4-FFF2-40B4-BE49-F238E27FC236}">
                <a16:creationId xmlns:a16="http://schemas.microsoft.com/office/drawing/2014/main" id="{831F8BD9-F71B-4D2D-8A60-61BABDC384BB}"/>
              </a:ext>
            </a:extLst>
          </p:cNvPr>
          <p:cNvGrpSpPr/>
          <p:nvPr/>
        </p:nvGrpSpPr>
        <p:grpSpPr>
          <a:xfrm>
            <a:off x="-7638543" y="-1"/>
            <a:ext cx="8692332" cy="6858000"/>
            <a:chOff x="718505" y="-1"/>
            <a:chExt cx="8692332" cy="6858000"/>
          </a:xfrm>
        </p:grpSpPr>
        <p:sp>
          <p:nvSpPr>
            <p:cNvPr id="72" name="Rectangle 71">
              <a:extLst>
                <a:ext uri="{FF2B5EF4-FFF2-40B4-BE49-F238E27FC236}">
                  <a16:creationId xmlns:a16="http://schemas.microsoft.com/office/drawing/2014/main" id="{B470067C-2D0B-4A65-B940-C052473E9422}"/>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66B5D93C-8112-48DA-975B-9DDD27DEADD9}"/>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6D3577A8-E9FC-43B7-B3E2-76EDDA51C160}"/>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36FD3106-E967-44D6-AB4D-A0DA183F7CC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a16="http://schemas.microsoft.com/office/drawing/2014/main" id="{3E930874-288B-4537-8AA6-A601044D9580}"/>
              </a:ext>
            </a:extLst>
          </p:cNvPr>
          <p:cNvGrpSpPr/>
          <p:nvPr/>
        </p:nvGrpSpPr>
        <p:grpSpPr>
          <a:xfrm>
            <a:off x="-9395082" y="-1"/>
            <a:ext cx="9927504" cy="6858000"/>
            <a:chOff x="-9337032" y="-1"/>
            <a:chExt cx="9927504" cy="6858000"/>
          </a:xfrm>
        </p:grpSpPr>
        <p:sp>
          <p:nvSpPr>
            <p:cNvPr id="77" name="Rectangle 76">
              <a:extLst>
                <a:ext uri="{FF2B5EF4-FFF2-40B4-BE49-F238E27FC236}">
                  <a16:creationId xmlns:a16="http://schemas.microsoft.com/office/drawing/2014/main" id="{225CDF0F-0FD1-40B0-BD29-F7D200A3A066}"/>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A02216B9-43DC-4135-9F3E-7EFEAD2EB420}"/>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37342E0B-2429-4B98-AF6A-1DB087CBDE83}"/>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80" name="Picture 79">
              <a:extLst>
                <a:ext uri="{FF2B5EF4-FFF2-40B4-BE49-F238E27FC236}">
                  <a16:creationId xmlns:a16="http://schemas.microsoft.com/office/drawing/2014/main" id="{29879508-5AD7-4FE2-AD55-8AF69ECDBE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sp>
        <p:nvSpPr>
          <p:cNvPr id="5" name="TextBox 4">
            <a:extLst>
              <a:ext uri="{FF2B5EF4-FFF2-40B4-BE49-F238E27FC236}">
                <a16:creationId xmlns:a16="http://schemas.microsoft.com/office/drawing/2014/main" id="{6F49D6A3-D81F-66F4-A27B-8696A6807923}"/>
              </a:ext>
            </a:extLst>
          </p:cNvPr>
          <p:cNvSpPr txBox="1"/>
          <p:nvPr/>
        </p:nvSpPr>
        <p:spPr>
          <a:xfrm>
            <a:off x="3786095" y="419984"/>
            <a:ext cx="5255012" cy="461665"/>
          </a:xfrm>
          <a:prstGeom prst="rect">
            <a:avLst/>
          </a:prstGeom>
          <a:noFill/>
        </p:spPr>
        <p:txBody>
          <a:bodyPr wrap="square" rtlCol="0">
            <a:spAutoFit/>
          </a:bodyPr>
          <a:lstStyle/>
          <a:p>
            <a:r>
              <a:rPr lang="en-IN" sz="2400" dirty="0">
                <a:solidFill>
                  <a:srgbClr val="FFC000"/>
                </a:solidFill>
                <a:latin typeface="Berlin Sans FB Demi" panose="020E0802020502020306" pitchFamily="34" charset="0"/>
              </a:rPr>
              <a:t>KEY PERFORMANCE INDICATORS</a:t>
            </a:r>
          </a:p>
        </p:txBody>
      </p:sp>
      <p:grpSp>
        <p:nvGrpSpPr>
          <p:cNvPr id="20" name="Group 19">
            <a:extLst>
              <a:ext uri="{FF2B5EF4-FFF2-40B4-BE49-F238E27FC236}">
                <a16:creationId xmlns:a16="http://schemas.microsoft.com/office/drawing/2014/main" id="{2FBF78FE-D23B-240A-4BB7-201360466FE1}"/>
              </a:ext>
            </a:extLst>
          </p:cNvPr>
          <p:cNvGrpSpPr/>
          <p:nvPr/>
        </p:nvGrpSpPr>
        <p:grpSpPr>
          <a:xfrm>
            <a:off x="-8676600" y="-5"/>
            <a:ext cx="8692332" cy="6858000"/>
            <a:chOff x="718505" y="-1"/>
            <a:chExt cx="8692332" cy="6858000"/>
          </a:xfrm>
        </p:grpSpPr>
        <p:sp>
          <p:nvSpPr>
            <p:cNvPr id="21" name="Rectangle 20">
              <a:extLst>
                <a:ext uri="{FF2B5EF4-FFF2-40B4-BE49-F238E27FC236}">
                  <a16:creationId xmlns:a16="http://schemas.microsoft.com/office/drawing/2014/main" id="{711D8AD6-0DAB-0A0C-A722-E5446AD7F2CD}"/>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8A9DCF93-71EC-3773-7467-DE453330905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4CE92FF6-A163-E01C-F6AF-B665D080159D}"/>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24" name="Picture 23">
              <a:extLst>
                <a:ext uri="{FF2B5EF4-FFF2-40B4-BE49-F238E27FC236}">
                  <a16:creationId xmlns:a16="http://schemas.microsoft.com/office/drawing/2014/main" id="{C7616CEC-5407-857B-3B98-2AC2AAD8D83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D829D64D-013E-112B-22D9-9233BE89F5AB}"/>
              </a:ext>
            </a:extLst>
          </p:cNvPr>
          <p:cNvGrpSpPr/>
          <p:nvPr/>
        </p:nvGrpSpPr>
        <p:grpSpPr>
          <a:xfrm>
            <a:off x="-9194310" y="-2"/>
            <a:ext cx="8692332" cy="6858000"/>
            <a:chOff x="718505" y="-1"/>
            <a:chExt cx="8692332" cy="6858000"/>
          </a:xfrm>
        </p:grpSpPr>
        <p:sp>
          <p:nvSpPr>
            <p:cNvPr id="3" name="Rectangle 2">
              <a:extLst>
                <a:ext uri="{FF2B5EF4-FFF2-40B4-BE49-F238E27FC236}">
                  <a16:creationId xmlns:a16="http://schemas.microsoft.com/office/drawing/2014/main" id="{7027D9DB-3213-C9ED-948B-DE4EB2A13814}"/>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3A3A4BE8-5324-66BD-0B0E-32A095C2E0DF}"/>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a:extLst>
                <a:ext uri="{FF2B5EF4-FFF2-40B4-BE49-F238E27FC236}">
                  <a16:creationId xmlns:a16="http://schemas.microsoft.com/office/drawing/2014/main" id="{C20B2048-6A31-6BB2-2191-84BC0F73F16F}"/>
                </a:ext>
              </a:extLst>
            </p:cNvPr>
            <p:cNvSpPr txBox="1"/>
            <p:nvPr/>
          </p:nvSpPr>
          <p:spPr>
            <a:xfrm rot="16200000">
              <a:off x="8002279" y="3278957"/>
              <a:ext cx="217078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8" name="Picture 7">
              <a:extLst>
                <a:ext uri="{FF2B5EF4-FFF2-40B4-BE49-F238E27FC236}">
                  <a16:creationId xmlns:a16="http://schemas.microsoft.com/office/drawing/2014/main" id="{33E228AC-612C-285A-A195-3FB5935B1DE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0" name="Group 9">
            <a:extLst>
              <a:ext uri="{FF2B5EF4-FFF2-40B4-BE49-F238E27FC236}">
                <a16:creationId xmlns:a16="http://schemas.microsoft.com/office/drawing/2014/main" id="{C0065B60-BC62-8FB1-BFFD-0CB6EF0DC9CB}"/>
              </a:ext>
            </a:extLst>
          </p:cNvPr>
          <p:cNvGrpSpPr/>
          <p:nvPr/>
        </p:nvGrpSpPr>
        <p:grpSpPr>
          <a:xfrm>
            <a:off x="-10590162" y="-3"/>
            <a:ext cx="9574094" cy="6858000"/>
            <a:chOff x="491575" y="0"/>
            <a:chExt cx="9574094" cy="6858000"/>
          </a:xfrm>
        </p:grpSpPr>
        <p:sp>
          <p:nvSpPr>
            <p:cNvPr id="25" name="Rectangle 24">
              <a:extLst>
                <a:ext uri="{FF2B5EF4-FFF2-40B4-BE49-F238E27FC236}">
                  <a16:creationId xmlns:a16="http://schemas.microsoft.com/office/drawing/2014/main" id="{6C12ACC2-D3B7-F477-7B48-F0680F5B60BE}"/>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Freeform: Shape 25">
              <a:extLst>
                <a:ext uri="{FF2B5EF4-FFF2-40B4-BE49-F238E27FC236}">
                  <a16:creationId xmlns:a16="http://schemas.microsoft.com/office/drawing/2014/main" id="{B35F9F90-D708-24DB-9A24-D591BD48A960}"/>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7" name="TextBox 26">
              <a:extLst>
                <a:ext uri="{FF2B5EF4-FFF2-40B4-BE49-F238E27FC236}">
                  <a16:creationId xmlns:a16="http://schemas.microsoft.com/office/drawing/2014/main" id="{8DB62605-ED81-1A63-43AA-C7F6ED5F3BA3}"/>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8" name="Picture 27">
              <a:extLst>
                <a:ext uri="{FF2B5EF4-FFF2-40B4-BE49-F238E27FC236}">
                  <a16:creationId xmlns:a16="http://schemas.microsoft.com/office/drawing/2014/main" id="{160242E7-0F56-9C19-73F6-7E5C484FDB3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37" name="TextBox 36">
            <a:extLst>
              <a:ext uri="{FF2B5EF4-FFF2-40B4-BE49-F238E27FC236}">
                <a16:creationId xmlns:a16="http://schemas.microsoft.com/office/drawing/2014/main" id="{6101BA12-DFD2-3E7F-5F14-4A5223F0F82E}"/>
              </a:ext>
            </a:extLst>
          </p:cNvPr>
          <p:cNvSpPr txBox="1"/>
          <p:nvPr/>
        </p:nvSpPr>
        <p:spPr>
          <a:xfrm>
            <a:off x="1938307" y="1104900"/>
            <a:ext cx="7970857" cy="5693866"/>
          </a:xfrm>
          <a:prstGeom prst="rect">
            <a:avLst/>
          </a:prstGeom>
          <a:noFill/>
        </p:spPr>
        <p:txBody>
          <a:bodyPr wrap="square" rtlCol="0">
            <a:spAutoFit/>
          </a:bodyPr>
          <a:lstStyle/>
          <a:p>
            <a:pPr marL="285750" lvl="0" indent="-285750" eaLnBrk="0" fontAlgn="base" hangingPunct="0">
              <a:spcBef>
                <a:spcPct val="0"/>
              </a:spcBef>
              <a:spcAft>
                <a:spcPct val="0"/>
              </a:spcAft>
              <a:buFont typeface="Arial" panose="020B0604020202020204" pitchFamily="34" charset="0"/>
              <a:buChar char="•"/>
            </a:pPr>
            <a:r>
              <a:rPr lang="en-US" altLang="en-US" b="1" dirty="0">
                <a:solidFill>
                  <a:schemeClr val="tx1">
                    <a:lumMod val="75000"/>
                    <a:lumOff val="25000"/>
                  </a:schemeClr>
                </a:solidFill>
                <a:latin typeface="Arial" panose="020B0604020202020204" pitchFamily="34" charset="0"/>
              </a:rPr>
              <a:t>Weekday vs Weekend Payment Statistics:</a:t>
            </a:r>
          </a:p>
          <a:p>
            <a:pPr lvl="0" algn="just" eaLnBrk="0" fontAlgn="base" hangingPunct="0">
              <a:spcBef>
                <a:spcPct val="0"/>
              </a:spcBef>
              <a:spcAft>
                <a:spcPct val="0"/>
              </a:spcAft>
            </a:pPr>
            <a:r>
              <a:rPr lang="en-US" altLang="en-US" sz="1600" dirty="0">
                <a:solidFill>
                  <a:schemeClr val="tx1">
                    <a:lumMod val="75000"/>
                    <a:lumOff val="25000"/>
                  </a:schemeClr>
                </a:solidFill>
                <a:latin typeface="Arial" panose="020B0604020202020204" pitchFamily="34" charset="0"/>
              </a:rPr>
              <a:t>Analyzes order volume, total payment value, average payment amount, and payment method usage across weekdays and weekends to understand changes in customer purchasing behavior.</a:t>
            </a:r>
          </a:p>
          <a:p>
            <a:pPr lvl="0" algn="just" eaLnBrk="0" fontAlgn="base" hangingPunct="0">
              <a:spcBef>
                <a:spcPct val="0"/>
              </a:spcBef>
              <a:spcAft>
                <a:spcPct val="0"/>
              </a:spcAft>
            </a:pPr>
            <a:endParaRPr lang="en-US" altLang="en-US" sz="1600" dirty="0">
              <a:solidFill>
                <a:schemeClr val="tx1">
                  <a:lumMod val="75000"/>
                  <a:lumOff val="25000"/>
                </a:schemeClr>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solidFill>
                  <a:schemeClr val="tx1">
                    <a:lumMod val="75000"/>
                    <a:lumOff val="25000"/>
                  </a:schemeClr>
                </a:solidFill>
                <a:latin typeface="Arial" panose="020B0604020202020204" pitchFamily="34" charset="0"/>
              </a:rPr>
              <a:t>High-Rated Credit Card Orders (Review Score = 5):</a:t>
            </a:r>
          </a:p>
          <a:p>
            <a:pPr lvl="0" algn="just" eaLnBrk="0" fontAlgn="base" hangingPunct="0">
              <a:spcBef>
                <a:spcPct val="0"/>
              </a:spcBef>
              <a:spcAft>
                <a:spcPct val="0"/>
              </a:spcAft>
            </a:pPr>
            <a:r>
              <a:rPr lang="en-US" altLang="en-US" sz="1600" dirty="0">
                <a:solidFill>
                  <a:schemeClr val="tx1">
                    <a:lumMod val="75000"/>
                    <a:lumOff val="25000"/>
                  </a:schemeClr>
                </a:solidFill>
                <a:latin typeface="Arial" panose="020B0604020202020204" pitchFamily="34" charset="0"/>
              </a:rPr>
              <a:t>Measures the number of orders with a 5-star review that were paid using a credit card, helping assess customer satisfaction and preferred payment methods.</a:t>
            </a:r>
          </a:p>
          <a:p>
            <a:pPr lvl="0" algn="just" eaLnBrk="0" fontAlgn="base" hangingPunct="0">
              <a:spcBef>
                <a:spcPct val="0"/>
              </a:spcBef>
              <a:spcAft>
                <a:spcPct val="0"/>
              </a:spcAft>
            </a:pPr>
            <a:endParaRPr lang="en-US" altLang="en-US" sz="1600" dirty="0">
              <a:solidFill>
                <a:schemeClr val="tx1">
                  <a:lumMod val="75000"/>
                  <a:lumOff val="25000"/>
                </a:schemeClr>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solidFill>
                  <a:schemeClr val="tx1">
                    <a:lumMod val="75000"/>
                    <a:lumOff val="25000"/>
                  </a:schemeClr>
                </a:solidFill>
                <a:latin typeface="Arial" panose="020B0604020202020204" pitchFamily="34" charset="0"/>
              </a:rPr>
              <a:t>Average Delivery Time:</a:t>
            </a:r>
          </a:p>
          <a:p>
            <a:pPr lvl="0" algn="just" eaLnBrk="0" fontAlgn="base" hangingPunct="0">
              <a:spcBef>
                <a:spcPct val="0"/>
              </a:spcBef>
              <a:spcAft>
                <a:spcPct val="0"/>
              </a:spcAft>
            </a:pPr>
            <a:r>
              <a:rPr lang="en-US" altLang="en-US" sz="1600" dirty="0">
                <a:solidFill>
                  <a:schemeClr val="tx1">
                    <a:lumMod val="75000"/>
                    <a:lumOff val="25000"/>
                  </a:schemeClr>
                </a:solidFill>
                <a:latin typeface="Arial" panose="020B0604020202020204" pitchFamily="34" charset="0"/>
              </a:rPr>
              <a:t>Calculates the average number of days taken to deliver pet shop products, helping evaluate delivery efficiency and identify category-specific logistics challenges.</a:t>
            </a:r>
          </a:p>
          <a:p>
            <a:pPr lvl="0" algn="just" eaLnBrk="0" fontAlgn="base" hangingPunct="0">
              <a:spcBef>
                <a:spcPct val="0"/>
              </a:spcBef>
              <a:spcAft>
                <a:spcPct val="0"/>
              </a:spcAft>
            </a:pPr>
            <a:endParaRPr lang="en-US" altLang="en-US" sz="1600" dirty="0">
              <a:solidFill>
                <a:schemeClr val="tx1">
                  <a:lumMod val="75000"/>
                  <a:lumOff val="25000"/>
                </a:schemeClr>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solidFill>
                  <a:schemeClr val="tx1">
                    <a:lumMod val="75000"/>
                    <a:lumOff val="25000"/>
                  </a:schemeClr>
                </a:solidFill>
                <a:latin typeface="Arial" panose="020B0604020202020204" pitchFamily="34" charset="0"/>
              </a:rPr>
              <a:t>Average Order Price &amp; Payment Value:</a:t>
            </a:r>
          </a:p>
          <a:p>
            <a:pPr lvl="0" algn="just" eaLnBrk="0" fontAlgn="base" hangingPunct="0">
              <a:spcBef>
                <a:spcPct val="0"/>
              </a:spcBef>
              <a:spcAft>
                <a:spcPct val="0"/>
              </a:spcAft>
            </a:pPr>
            <a:r>
              <a:rPr lang="en-US" altLang="en-US" sz="1600" dirty="0">
                <a:solidFill>
                  <a:schemeClr val="tx1">
                    <a:lumMod val="75000"/>
                    <a:lumOff val="25000"/>
                  </a:schemeClr>
                </a:solidFill>
                <a:latin typeface="Arial" panose="020B0604020202020204" pitchFamily="34" charset="0"/>
              </a:rPr>
              <a:t>Analyzes the average product price and payment amount for customers from São Paulo to understand regional spending behavior and support targeted business strategies.</a:t>
            </a:r>
          </a:p>
          <a:p>
            <a:pPr lvl="0" algn="just" eaLnBrk="0" fontAlgn="base" hangingPunct="0">
              <a:spcBef>
                <a:spcPct val="0"/>
              </a:spcBef>
              <a:spcAft>
                <a:spcPct val="0"/>
              </a:spcAft>
            </a:pPr>
            <a:endParaRPr lang="en-US" altLang="en-US" sz="1600" dirty="0">
              <a:solidFill>
                <a:schemeClr val="tx1">
                  <a:lumMod val="75000"/>
                  <a:lumOff val="25000"/>
                </a:schemeClr>
              </a:solidFill>
              <a:latin typeface="Arial" panose="020B0604020202020204" pitchFamily="34" charset="0"/>
            </a:endParaRPr>
          </a:p>
          <a:p>
            <a:pPr marL="285750" lvl="0" indent="-285750" eaLnBrk="0" fontAlgn="base" hangingPunct="0">
              <a:spcBef>
                <a:spcPct val="0"/>
              </a:spcBef>
              <a:spcAft>
                <a:spcPct val="0"/>
              </a:spcAft>
              <a:buFont typeface="Arial" panose="020B0604020202020204" pitchFamily="34" charset="0"/>
              <a:buChar char="•"/>
            </a:pPr>
            <a:r>
              <a:rPr lang="en-US" altLang="en-US" b="1" dirty="0">
                <a:solidFill>
                  <a:schemeClr val="tx1">
                    <a:lumMod val="75000"/>
                    <a:lumOff val="25000"/>
                  </a:schemeClr>
                </a:solidFill>
                <a:latin typeface="Arial" panose="020B0604020202020204" pitchFamily="34" charset="0"/>
              </a:rPr>
              <a:t>Shipping Days vs Review Score Relationship:</a:t>
            </a:r>
          </a:p>
          <a:p>
            <a:pPr lvl="0" algn="just" eaLnBrk="0" fontAlgn="base" hangingPunct="0">
              <a:spcBef>
                <a:spcPct val="0"/>
              </a:spcBef>
              <a:spcAft>
                <a:spcPct val="0"/>
              </a:spcAft>
            </a:pPr>
            <a:r>
              <a:rPr lang="en-US" altLang="en-US" sz="1600" dirty="0">
                <a:solidFill>
                  <a:schemeClr val="tx1">
                    <a:lumMod val="75000"/>
                    <a:lumOff val="25000"/>
                  </a:schemeClr>
                </a:solidFill>
                <a:latin typeface="Arial" panose="020B0604020202020204" pitchFamily="34" charset="0"/>
              </a:rPr>
              <a:t>Examines the impact of delivery time on customer satisfaction by analyzing the relationship between shipping duration and review ratings.</a:t>
            </a:r>
          </a:p>
          <a:p>
            <a:endParaRPr lang="en-IN" dirty="0">
              <a:solidFill>
                <a:schemeClr val="tx1">
                  <a:lumMod val="75000"/>
                  <a:lumOff val="25000"/>
                </a:schemeClr>
              </a:solidFill>
            </a:endParaRPr>
          </a:p>
        </p:txBody>
      </p:sp>
    </p:spTree>
    <p:extLst>
      <p:ext uri="{BB962C8B-B14F-4D97-AF65-F5344CB8AC3E}">
        <p14:creationId xmlns:p14="http://schemas.microsoft.com/office/powerpoint/2010/main" val="2624499212"/>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CD9846FC-755F-4A0E-BAD3-A5D51C0E1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F00A67C9-4929-4EFF-9CB6-292640CD2738}"/>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04CBFB1D-37FD-419F-B98C-860BF5217905}"/>
                </a:ext>
              </a:extLst>
            </p:cNvPr>
            <p:cNvSpPr txBox="1"/>
            <p:nvPr/>
          </p:nvSpPr>
          <p:spPr>
            <a:xfrm rot="16200000">
              <a:off x="10299504" y="3147722"/>
              <a:ext cx="2075862"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60B383F7-52C5-4FB7-AEC3-35A48D735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6F7667A6-1C16-4F0A-A162-61BD16E6BE6B}"/>
              </a:ext>
            </a:extLst>
          </p:cNvPr>
          <p:cNvGrpSpPr/>
          <p:nvPr/>
        </p:nvGrpSpPr>
        <p:grpSpPr>
          <a:xfrm>
            <a:off x="1184133" y="0"/>
            <a:ext cx="9961092" cy="6858000"/>
            <a:chOff x="491575" y="0"/>
            <a:chExt cx="9961092" cy="6858000"/>
          </a:xfrm>
        </p:grpSpPr>
        <p:sp>
          <p:nvSpPr>
            <p:cNvPr id="61" name="Rectangle 60">
              <a:extLst>
                <a:ext uri="{FF2B5EF4-FFF2-40B4-BE49-F238E27FC236}">
                  <a16:creationId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AFD50D6F-822B-4109-8B0C-BA004A0B7145}"/>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0376C61F-147B-441E-B32E-45D5BC1B6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5" name="Group 94">
            <a:extLst>
              <a:ext uri="{FF2B5EF4-FFF2-40B4-BE49-F238E27FC236}">
                <a16:creationId xmlns:a16="http://schemas.microsoft.com/office/drawing/2014/main" id="{4E70D3F9-D583-4ACD-8480-0F4A65ED3C83}"/>
              </a:ext>
            </a:extLst>
          </p:cNvPr>
          <p:cNvGrpSpPr/>
          <p:nvPr/>
        </p:nvGrpSpPr>
        <p:grpSpPr>
          <a:xfrm>
            <a:off x="1029360" y="-4"/>
            <a:ext cx="9574094" cy="6858000"/>
            <a:chOff x="491575" y="0"/>
            <a:chExt cx="9574094" cy="6858000"/>
          </a:xfrm>
        </p:grpSpPr>
        <p:sp>
          <p:nvSpPr>
            <p:cNvPr id="96" name="Rectangle 95">
              <a:extLst>
                <a:ext uri="{FF2B5EF4-FFF2-40B4-BE49-F238E27FC236}">
                  <a16:creationId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E3DB5570-AC77-4396-9748-4183DF7C8396}"/>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F6ED4041-CDD9-443D-802E-47D438790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E7044FAB-DB4A-4E59-B111-8CA4168E7FA4}"/>
              </a:ext>
            </a:extLst>
          </p:cNvPr>
          <p:cNvGrpSpPr/>
          <p:nvPr/>
        </p:nvGrpSpPr>
        <p:grpSpPr>
          <a:xfrm>
            <a:off x="-7638543" y="-1"/>
            <a:ext cx="8692332" cy="6858000"/>
            <a:chOff x="718505" y="-1"/>
            <a:chExt cx="8692332" cy="6858000"/>
          </a:xfrm>
        </p:grpSpPr>
        <p:sp>
          <p:nvSpPr>
            <p:cNvPr id="72" name="Rectangle 71">
              <a:extLst>
                <a:ext uri="{FF2B5EF4-FFF2-40B4-BE49-F238E27FC236}">
                  <a16:creationId xmlns:a16="http://schemas.microsoft.com/office/drawing/2014/main" id="{824F072A-08CC-4CC6-B5EF-C1833A244F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858AC381-BFD1-4A89-AE49-8ADC853A6849}"/>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9DF2E944-82FA-495B-8A5C-9BDE26355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80" name="Picture 79">
              <a:extLst>
                <a:ext uri="{FF2B5EF4-FFF2-40B4-BE49-F238E27FC236}">
                  <a16:creationId xmlns:a16="http://schemas.microsoft.com/office/drawing/2014/main" id="{0F8A56B9-A504-4035-8439-53ED4617B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2" name="Group 1">
            <a:extLst>
              <a:ext uri="{FF2B5EF4-FFF2-40B4-BE49-F238E27FC236}">
                <a16:creationId xmlns:a16="http://schemas.microsoft.com/office/drawing/2014/main" id="{5AD6784A-E2AD-5CDA-6712-F36959B5112D}"/>
              </a:ext>
            </a:extLst>
          </p:cNvPr>
          <p:cNvGrpSpPr/>
          <p:nvPr/>
        </p:nvGrpSpPr>
        <p:grpSpPr>
          <a:xfrm>
            <a:off x="-8683085" y="0"/>
            <a:ext cx="8692332" cy="6858000"/>
            <a:chOff x="718505" y="-1"/>
            <a:chExt cx="8692332" cy="6858000"/>
          </a:xfrm>
        </p:grpSpPr>
        <p:sp>
          <p:nvSpPr>
            <p:cNvPr id="3" name="Rectangle 2">
              <a:extLst>
                <a:ext uri="{FF2B5EF4-FFF2-40B4-BE49-F238E27FC236}">
                  <a16:creationId xmlns:a16="http://schemas.microsoft.com/office/drawing/2014/main" id="{B1A384F9-FBF3-34F0-E5F8-287028CD6F6A}"/>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46979FF7-466D-DEA8-359C-5FDDFCFB9C7C}"/>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611035F7-EB04-6CA5-5884-BD7B016BB57D}"/>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6" name="Picture 5">
              <a:extLst>
                <a:ext uri="{FF2B5EF4-FFF2-40B4-BE49-F238E27FC236}">
                  <a16:creationId xmlns:a16="http://schemas.microsoft.com/office/drawing/2014/main" id="{38A7768B-DEDA-314D-E94E-C9513AFAB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9" name="TextBox 8">
            <a:extLst>
              <a:ext uri="{FF2B5EF4-FFF2-40B4-BE49-F238E27FC236}">
                <a16:creationId xmlns:a16="http://schemas.microsoft.com/office/drawing/2014/main" id="{657C6B83-88D4-2B4C-47E6-F9B4DDFE6C1E}"/>
              </a:ext>
            </a:extLst>
          </p:cNvPr>
          <p:cNvSpPr txBox="1"/>
          <p:nvPr/>
        </p:nvSpPr>
        <p:spPr>
          <a:xfrm>
            <a:off x="4072271" y="203161"/>
            <a:ext cx="3030279" cy="369332"/>
          </a:xfrm>
          <a:prstGeom prst="rect">
            <a:avLst/>
          </a:prstGeom>
          <a:noFill/>
        </p:spPr>
        <p:txBody>
          <a:bodyPr wrap="square" rtlCol="0">
            <a:spAutoFit/>
          </a:bodyPr>
          <a:lstStyle/>
          <a:p>
            <a:pPr algn="ctr"/>
            <a:r>
              <a:rPr lang="en-IN" dirty="0">
                <a:solidFill>
                  <a:srgbClr val="FFC000"/>
                </a:solidFill>
                <a:latin typeface="Berlin Sans FB Demi" panose="020E0802020502020306" pitchFamily="34" charset="0"/>
              </a:rPr>
              <a:t>EXCEL DASHBOARD</a:t>
            </a:r>
          </a:p>
        </p:txBody>
      </p:sp>
      <p:sp>
        <p:nvSpPr>
          <p:cNvPr id="10" name="TextBox 9">
            <a:extLst>
              <a:ext uri="{FF2B5EF4-FFF2-40B4-BE49-F238E27FC236}">
                <a16:creationId xmlns:a16="http://schemas.microsoft.com/office/drawing/2014/main" id="{C3BA3421-9E05-5300-FC46-3F1ECAC6BECA}"/>
              </a:ext>
            </a:extLst>
          </p:cNvPr>
          <p:cNvSpPr txBox="1"/>
          <p:nvPr/>
        </p:nvSpPr>
        <p:spPr>
          <a:xfrm>
            <a:off x="856694" y="4403322"/>
            <a:ext cx="4563057" cy="369332"/>
          </a:xfrm>
          <a:prstGeom prst="rect">
            <a:avLst/>
          </a:prstGeom>
          <a:noFill/>
        </p:spPr>
        <p:txBody>
          <a:bodyPr wrap="square" rtlCol="0">
            <a:spAutoFit/>
          </a:bodyPr>
          <a:lstStyle/>
          <a:p>
            <a:pPr algn="ctr"/>
            <a:r>
              <a:rPr lang="en-IN" dirty="0">
                <a:solidFill>
                  <a:srgbClr val="FFC000"/>
                </a:solidFill>
                <a:latin typeface="Berlin Sans FB Demi" panose="020E0802020502020306" pitchFamily="34" charset="0"/>
              </a:rPr>
              <a:t>INTIAL FINDINGS &amp; DATA TRENDS</a:t>
            </a:r>
          </a:p>
        </p:txBody>
      </p:sp>
      <p:sp>
        <p:nvSpPr>
          <p:cNvPr id="16" name="Rectangle 15">
            <a:extLst>
              <a:ext uri="{FF2B5EF4-FFF2-40B4-BE49-F238E27FC236}">
                <a16:creationId xmlns:a16="http://schemas.microsoft.com/office/drawing/2014/main" id="{F6DEBEE1-5AA7-2E94-D9AA-485846450224}"/>
              </a:ext>
            </a:extLst>
          </p:cNvPr>
          <p:cNvSpPr/>
          <p:nvPr/>
        </p:nvSpPr>
        <p:spPr>
          <a:xfrm>
            <a:off x="1293621" y="4049589"/>
            <a:ext cx="8860671" cy="2723351"/>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7" name="Group 6">
            <a:extLst>
              <a:ext uri="{FF2B5EF4-FFF2-40B4-BE49-F238E27FC236}">
                <a16:creationId xmlns:a16="http://schemas.microsoft.com/office/drawing/2014/main" id="{509AA8E3-BD1A-9687-1D44-1A1774EF6A7A}"/>
              </a:ext>
            </a:extLst>
          </p:cNvPr>
          <p:cNvGrpSpPr/>
          <p:nvPr/>
        </p:nvGrpSpPr>
        <p:grpSpPr>
          <a:xfrm>
            <a:off x="-9213059" y="9362"/>
            <a:ext cx="8703647" cy="6858000"/>
            <a:chOff x="718505" y="-28093"/>
            <a:chExt cx="8703647" cy="6858000"/>
          </a:xfrm>
        </p:grpSpPr>
        <p:sp>
          <p:nvSpPr>
            <p:cNvPr id="12" name="Rectangle 11">
              <a:extLst>
                <a:ext uri="{FF2B5EF4-FFF2-40B4-BE49-F238E27FC236}">
                  <a16:creationId xmlns:a16="http://schemas.microsoft.com/office/drawing/2014/main" id="{3F05A2B4-A8EB-96D7-B8F7-84205BACBD06}"/>
                </a:ext>
              </a:extLst>
            </p:cNvPr>
            <p:cNvSpPr/>
            <p:nvPr/>
          </p:nvSpPr>
          <p:spPr>
            <a:xfrm>
              <a:off x="718505" y="-28093"/>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Freeform: Shape 16">
              <a:extLst>
                <a:ext uri="{FF2B5EF4-FFF2-40B4-BE49-F238E27FC236}">
                  <a16:creationId xmlns:a16="http://schemas.microsoft.com/office/drawing/2014/main" id="{4B663DA4-D0F6-034B-8F90-1FD6DFF8DD1C}"/>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Box 17">
              <a:extLst>
                <a:ext uri="{FF2B5EF4-FFF2-40B4-BE49-F238E27FC236}">
                  <a16:creationId xmlns:a16="http://schemas.microsoft.com/office/drawing/2014/main" id="{49AA065A-A28C-C6D4-FAE8-D3694976DC05}"/>
                </a:ext>
              </a:extLst>
            </p:cNvPr>
            <p:cNvSpPr txBox="1"/>
            <p:nvPr/>
          </p:nvSpPr>
          <p:spPr>
            <a:xfrm rot="16200000">
              <a:off x="8008174" y="3189607"/>
              <a:ext cx="218162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9" name="Picture 18">
              <a:extLst>
                <a:ext uri="{FF2B5EF4-FFF2-40B4-BE49-F238E27FC236}">
                  <a16:creationId xmlns:a16="http://schemas.microsoft.com/office/drawing/2014/main" id="{5E44AD15-14D3-C640-D3D1-53865D4E7D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0" name="Group 19">
            <a:extLst>
              <a:ext uri="{FF2B5EF4-FFF2-40B4-BE49-F238E27FC236}">
                <a16:creationId xmlns:a16="http://schemas.microsoft.com/office/drawing/2014/main" id="{A975F110-0BFE-A0DC-20B2-8950A8026FED}"/>
              </a:ext>
            </a:extLst>
          </p:cNvPr>
          <p:cNvGrpSpPr/>
          <p:nvPr/>
        </p:nvGrpSpPr>
        <p:grpSpPr>
          <a:xfrm>
            <a:off x="-10567177" y="18726"/>
            <a:ext cx="9592777" cy="6858000"/>
            <a:chOff x="491575" y="0"/>
            <a:chExt cx="9574086" cy="6858000"/>
          </a:xfrm>
        </p:grpSpPr>
        <p:sp>
          <p:nvSpPr>
            <p:cNvPr id="21" name="Rectangle 20">
              <a:extLst>
                <a:ext uri="{FF2B5EF4-FFF2-40B4-BE49-F238E27FC236}">
                  <a16:creationId xmlns:a16="http://schemas.microsoft.com/office/drawing/2014/main" id="{CE52FEF5-D0FD-1128-73DA-1D01D4F47B02}"/>
                </a:ext>
              </a:extLst>
            </p:cNvPr>
            <p:cNvSpPr/>
            <p:nvPr/>
          </p:nvSpPr>
          <p:spPr>
            <a:xfrm>
              <a:off x="491575" y="0"/>
              <a:ext cx="9504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Freeform: Shape 21">
              <a:extLst>
                <a:ext uri="{FF2B5EF4-FFF2-40B4-BE49-F238E27FC236}">
                  <a16:creationId xmlns:a16="http://schemas.microsoft.com/office/drawing/2014/main" id="{58D269ED-0317-1680-53EB-BE71FA5A6D6A}"/>
                </a:ext>
              </a:extLst>
            </p:cNvPr>
            <p:cNvSpPr/>
            <p:nvPr/>
          </p:nvSpPr>
          <p:spPr>
            <a:xfrm>
              <a:off x="8822126" y="2351042"/>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extBox 22">
              <a:extLst>
                <a:ext uri="{FF2B5EF4-FFF2-40B4-BE49-F238E27FC236}">
                  <a16:creationId xmlns:a16="http://schemas.microsoft.com/office/drawing/2014/main" id="{EB55D0A2-3CF9-CC95-F7C4-C40DD5329140}"/>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4" name="Picture 23">
              <a:extLst>
                <a:ext uri="{FF2B5EF4-FFF2-40B4-BE49-F238E27FC236}">
                  <a16:creationId xmlns:a16="http://schemas.microsoft.com/office/drawing/2014/main" id="{E4F9ED57-AB04-A6E6-5962-1139BDB758A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sp>
        <p:nvSpPr>
          <p:cNvPr id="25" name="Rectangle 1">
            <a:extLst>
              <a:ext uri="{FF2B5EF4-FFF2-40B4-BE49-F238E27FC236}">
                <a16:creationId xmlns:a16="http://schemas.microsoft.com/office/drawing/2014/main" id="{47773EF6-417A-5C77-67CD-A06D6F58CE10}"/>
              </a:ext>
            </a:extLst>
          </p:cNvPr>
          <p:cNvSpPr>
            <a:spLocks noChangeArrowheads="1"/>
          </p:cNvSpPr>
          <p:nvPr/>
        </p:nvSpPr>
        <p:spPr bwMode="auto">
          <a:xfrm>
            <a:off x="1267099" y="4772656"/>
            <a:ext cx="8037601" cy="206210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indent="-285750" algn="just">
              <a:buFont typeface="Arial" panose="020B0604020202020204" pitchFamily="34" charset="0"/>
              <a:buChar char="•"/>
            </a:pPr>
            <a:r>
              <a:rPr lang="en-US" sz="1600" dirty="0">
                <a:solidFill>
                  <a:schemeClr val="tx1">
                    <a:lumMod val="75000"/>
                    <a:lumOff val="25000"/>
                  </a:schemeClr>
                </a:solidFill>
              </a:rPr>
              <a:t>Handled </a:t>
            </a:r>
            <a:r>
              <a:rPr lang="en-US" sz="1600" b="1" dirty="0">
                <a:solidFill>
                  <a:schemeClr val="tx1">
                    <a:lumMod val="75000"/>
                    <a:lumOff val="25000"/>
                  </a:schemeClr>
                </a:solidFill>
              </a:rPr>
              <a:t>over 100,000 orders</a:t>
            </a:r>
            <a:r>
              <a:rPr lang="en-US" sz="1600" dirty="0">
                <a:solidFill>
                  <a:schemeClr val="tx1">
                    <a:lumMod val="75000"/>
                    <a:lumOff val="25000"/>
                  </a:schemeClr>
                </a:solidFill>
              </a:rPr>
              <a:t>, showing strong sales activity and consistent customer engagement.</a:t>
            </a:r>
          </a:p>
          <a:p>
            <a:pPr marL="285750" indent="-285750" algn="just">
              <a:buFont typeface="Arial" panose="020B0604020202020204" pitchFamily="34" charset="0"/>
              <a:buChar char="•"/>
            </a:pPr>
            <a:r>
              <a:rPr lang="en-US" sz="1600" b="1" dirty="0">
                <a:solidFill>
                  <a:schemeClr val="tx1">
                    <a:lumMod val="75000"/>
                    <a:lumOff val="25000"/>
                  </a:schemeClr>
                </a:solidFill>
              </a:rPr>
              <a:t>Top regions:</a:t>
            </a:r>
            <a:r>
              <a:rPr lang="en-US" sz="1600" dirty="0">
                <a:solidFill>
                  <a:schemeClr val="tx1">
                    <a:lumMod val="75000"/>
                    <a:lumOff val="25000"/>
                  </a:schemeClr>
                </a:solidFill>
              </a:rPr>
              <a:t> São Paulo and Rio de Janeiro lead in order volume, highlighting key markets.</a:t>
            </a:r>
          </a:p>
          <a:p>
            <a:pPr marL="285750" indent="-285750" algn="just">
              <a:buFont typeface="Arial" panose="020B0604020202020204" pitchFamily="34" charset="0"/>
              <a:buChar char="•"/>
            </a:pPr>
            <a:r>
              <a:rPr lang="en-US" sz="1600" b="1" dirty="0">
                <a:solidFill>
                  <a:schemeClr val="tx1">
                    <a:lumMod val="75000"/>
                    <a:lumOff val="25000"/>
                  </a:schemeClr>
                </a:solidFill>
              </a:rPr>
              <a:t>Best-selling categories:</a:t>
            </a:r>
            <a:r>
              <a:rPr lang="en-US" sz="1600" dirty="0">
                <a:solidFill>
                  <a:schemeClr val="tx1">
                    <a:lumMod val="75000"/>
                    <a:lumOff val="25000"/>
                  </a:schemeClr>
                </a:solidFill>
              </a:rPr>
              <a:t> Electronics, fashion, and home appliances drive most sales.</a:t>
            </a:r>
          </a:p>
          <a:p>
            <a:pPr marL="285750" indent="-285750" algn="just">
              <a:buFont typeface="Arial" panose="020B0604020202020204" pitchFamily="34" charset="0"/>
              <a:buChar char="•"/>
            </a:pPr>
            <a:r>
              <a:rPr lang="en-US" sz="1600" b="1" dirty="0">
                <a:solidFill>
                  <a:schemeClr val="tx1">
                    <a:lumMod val="75000"/>
                    <a:lumOff val="25000"/>
                  </a:schemeClr>
                </a:solidFill>
              </a:rPr>
              <a:t>Customer behavior:</a:t>
            </a:r>
            <a:r>
              <a:rPr lang="en-US" sz="1600" dirty="0">
                <a:solidFill>
                  <a:schemeClr val="tx1">
                    <a:lumMod val="75000"/>
                    <a:lumOff val="25000"/>
                  </a:schemeClr>
                </a:solidFill>
              </a:rPr>
              <a:t> Majority are one-time buyers, with repeat purchases steadily growing.</a:t>
            </a:r>
          </a:p>
          <a:p>
            <a:pPr marL="285750" indent="-285750" algn="just">
              <a:buFont typeface="Arial" panose="020B0604020202020204" pitchFamily="34" charset="0"/>
              <a:buChar char="•"/>
            </a:pPr>
            <a:r>
              <a:rPr lang="en-US" sz="1600" b="1" dirty="0">
                <a:solidFill>
                  <a:schemeClr val="tx1">
                    <a:lumMod val="75000"/>
                    <a:lumOff val="25000"/>
                  </a:schemeClr>
                </a:solidFill>
              </a:rPr>
              <a:t>Revenue &amp; satisfaction:</a:t>
            </a:r>
            <a:r>
              <a:rPr lang="en-US" sz="1600" dirty="0">
                <a:solidFill>
                  <a:schemeClr val="tx1">
                    <a:lumMod val="75000"/>
                    <a:lumOff val="25000"/>
                  </a:schemeClr>
                </a:solidFill>
              </a:rPr>
              <a:t> High revenue from top categories; most products have good ratings, though some show delivery or quality complaints.</a:t>
            </a:r>
          </a:p>
          <a:p>
            <a:pPr marL="285750" marR="0" lvl="0" indent="-285750" algn="just" defTabSz="914400" rtl="0" eaLnBrk="0" fontAlgn="base" latinLnBrk="0" hangingPunct="0">
              <a:lnSpc>
                <a:spcPct val="100000"/>
              </a:lnSpc>
              <a:spcBef>
                <a:spcPct val="0"/>
              </a:spcBef>
              <a:spcAft>
                <a:spcPct val="0"/>
              </a:spcAft>
              <a:buClrTx/>
              <a:buSzTx/>
              <a:buFont typeface="Arial" panose="020B0604020202020204" pitchFamily="34" charset="0"/>
              <a:buChar char="•"/>
              <a:tabLst/>
            </a:pPr>
            <a:endParaRPr kumimoji="0" lang="en-US" altLang="en-US" sz="1600" b="0" i="0" u="none" strike="noStrike" cap="none" normalizeH="0" baseline="0" dirty="0">
              <a:ln>
                <a:noFill/>
              </a:ln>
              <a:solidFill>
                <a:schemeClr val="tx1">
                  <a:lumMod val="75000"/>
                  <a:lumOff val="25000"/>
                </a:schemeClr>
              </a:solidFill>
              <a:effectLst/>
              <a:latin typeface="Arial" panose="020B0604020202020204" pitchFamily="34" charset="0"/>
            </a:endParaRPr>
          </a:p>
        </p:txBody>
      </p:sp>
      <p:pic>
        <p:nvPicPr>
          <p:cNvPr id="11" name="Picture 10">
            <a:extLst>
              <a:ext uri="{FF2B5EF4-FFF2-40B4-BE49-F238E27FC236}">
                <a16:creationId xmlns:a16="http://schemas.microsoft.com/office/drawing/2014/main" id="{05E76B60-832E-26FE-7B23-F3E9767BE65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67099" y="611342"/>
            <a:ext cx="8024769" cy="3706923"/>
          </a:xfrm>
          <a:prstGeom prst="rect">
            <a:avLst/>
          </a:prstGeom>
        </p:spPr>
      </p:pic>
    </p:spTree>
    <p:extLst>
      <p:ext uri="{BB962C8B-B14F-4D97-AF65-F5344CB8AC3E}">
        <p14:creationId xmlns:p14="http://schemas.microsoft.com/office/powerpoint/2010/main" val="396520057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CD9846FC-755F-4A0E-BAD3-A5D51C0E1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F00A67C9-4929-4EFF-9CB6-292640CD2738}"/>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04CBFB1D-37FD-419F-B98C-860BF5217905}"/>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60B383F7-52C5-4FB7-AEC3-35A48D735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6F7667A6-1C16-4F0A-A162-61BD16E6BE6B}"/>
              </a:ext>
            </a:extLst>
          </p:cNvPr>
          <p:cNvGrpSpPr/>
          <p:nvPr/>
        </p:nvGrpSpPr>
        <p:grpSpPr>
          <a:xfrm>
            <a:off x="1184133" y="0"/>
            <a:ext cx="9961092" cy="6858000"/>
            <a:chOff x="491575" y="0"/>
            <a:chExt cx="9961092" cy="6858000"/>
          </a:xfrm>
        </p:grpSpPr>
        <p:sp>
          <p:nvSpPr>
            <p:cNvPr id="61" name="Rectangle 60">
              <a:extLst>
                <a:ext uri="{FF2B5EF4-FFF2-40B4-BE49-F238E27FC236}">
                  <a16:creationId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AFD50D6F-822B-4109-8B0C-BA004A0B7145}"/>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0376C61F-147B-441E-B32E-45D5BC1B6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sp>
        <p:nvSpPr>
          <p:cNvPr id="70" name="Rectangle 69">
            <a:extLst>
              <a:ext uri="{FF2B5EF4-FFF2-40B4-BE49-F238E27FC236}">
                <a16:creationId xmlns:a16="http://schemas.microsoft.com/office/drawing/2014/main" id="{990CE96C-B0E8-49CB-B717-EBFFECB66027}"/>
              </a:ext>
            </a:extLst>
          </p:cNvPr>
          <p:cNvSpPr/>
          <p:nvPr/>
        </p:nvSpPr>
        <p:spPr>
          <a:xfrm>
            <a:off x="-7962177" y="-1"/>
            <a:ext cx="5781368"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95" name="Group 94">
            <a:extLst>
              <a:ext uri="{FF2B5EF4-FFF2-40B4-BE49-F238E27FC236}">
                <a16:creationId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E3DB5570-AC77-4396-9748-4183DF7C8396}"/>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F6ED4041-CDD9-443D-802E-47D438790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E7044FAB-DB4A-4E59-B111-8CA4168E7FA4}"/>
              </a:ext>
            </a:extLst>
          </p:cNvPr>
          <p:cNvGrpSpPr/>
          <p:nvPr/>
        </p:nvGrpSpPr>
        <p:grpSpPr>
          <a:xfrm>
            <a:off x="-1703711" y="0"/>
            <a:ext cx="11809156" cy="6858000"/>
            <a:chOff x="-2449883" y="-1"/>
            <a:chExt cx="11860720" cy="6858000"/>
          </a:xfrm>
        </p:grpSpPr>
        <p:sp>
          <p:nvSpPr>
            <p:cNvPr id="72" name="Rectangle 71">
              <a:extLst>
                <a:ext uri="{FF2B5EF4-FFF2-40B4-BE49-F238E27FC236}">
                  <a16:creationId xmlns:a16="http://schemas.microsoft.com/office/drawing/2014/main" id="{824F072A-08CC-4CC6-B5EF-C1833A244FA3}"/>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858AC381-BFD1-4A89-AE49-8ADC853A6849}"/>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9DF2E944-82FA-495B-8A5C-9BDE26355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6" name="Group 75">
            <a:extLst>
              <a:ext uri="{FF2B5EF4-FFF2-40B4-BE49-F238E27FC236}">
                <a16:creationId xmlns:a16="http://schemas.microsoft.com/office/drawing/2014/main" id="{60E31D48-090A-4A9C-AF5C-4B0C49C47C7D}"/>
              </a:ext>
            </a:extLst>
          </p:cNvPr>
          <p:cNvGrpSpPr/>
          <p:nvPr/>
        </p:nvGrpSpPr>
        <p:grpSpPr>
          <a:xfrm>
            <a:off x="-9395082" y="-1"/>
            <a:ext cx="9927504" cy="6858000"/>
            <a:chOff x="-9337032" y="-1"/>
            <a:chExt cx="9927504" cy="6858000"/>
          </a:xfrm>
        </p:grpSpPr>
        <p:sp>
          <p:nvSpPr>
            <p:cNvPr id="77" name="Rectangle 76">
              <a:extLst>
                <a:ext uri="{FF2B5EF4-FFF2-40B4-BE49-F238E27FC236}">
                  <a16:creationId xmlns:a16="http://schemas.microsoft.com/office/drawing/2014/main" id="{3A79A714-CB74-4EFD-9BC1-A7F2F993842A}"/>
                </a:ext>
              </a:extLst>
            </p:cNvPr>
            <p:cNvSpPr/>
            <p:nvPr/>
          </p:nvSpPr>
          <p:spPr>
            <a:xfrm>
              <a:off x="-9337032" y="-1"/>
              <a:ext cx="992350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8" name="Freeform: Shape 77">
              <a:extLst>
                <a:ext uri="{FF2B5EF4-FFF2-40B4-BE49-F238E27FC236}">
                  <a16:creationId xmlns:a16="http://schemas.microsoft.com/office/drawing/2014/main" id="{B006C60A-833A-41C2-A553-8132E7B3A7DB}"/>
                </a:ext>
              </a:extLst>
            </p:cNvPr>
            <p:cNvSpPr/>
            <p:nvPr/>
          </p:nvSpPr>
          <p:spPr>
            <a:xfrm>
              <a:off x="-577928" y="233743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A0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9" name="TextBox 78">
              <a:extLst>
                <a:ext uri="{FF2B5EF4-FFF2-40B4-BE49-F238E27FC236}">
                  <a16:creationId xmlns:a16="http://schemas.microsoft.com/office/drawing/2014/main" id="{95AECC6C-A520-4756-9163-08D14835D791}"/>
                </a:ext>
              </a:extLst>
            </p:cNvPr>
            <p:cNvSpPr txBox="1"/>
            <p:nvPr/>
          </p:nvSpPr>
          <p:spPr>
            <a:xfrm rot="16200000">
              <a:off x="-738260" y="318960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80" name="Picture 79">
              <a:extLst>
                <a:ext uri="{FF2B5EF4-FFF2-40B4-BE49-F238E27FC236}">
                  <a16:creationId xmlns:a16="http://schemas.microsoft.com/office/drawing/2014/main" id="{0F8A56B9-A504-4035-8439-53ED4617B8B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491912" y="3247473"/>
              <a:ext cx="530600" cy="530600"/>
            </a:xfrm>
            <a:prstGeom prst="rect">
              <a:avLst/>
            </a:prstGeom>
          </p:spPr>
        </p:pic>
      </p:grpSp>
      <p:grpSp>
        <p:nvGrpSpPr>
          <p:cNvPr id="2" name="Group 1">
            <a:extLst>
              <a:ext uri="{FF2B5EF4-FFF2-40B4-BE49-F238E27FC236}">
                <a16:creationId xmlns:a16="http://schemas.microsoft.com/office/drawing/2014/main" id="{10C2227B-0285-8B4E-96ED-2BF5E966D107}"/>
              </a:ext>
            </a:extLst>
          </p:cNvPr>
          <p:cNvGrpSpPr/>
          <p:nvPr/>
        </p:nvGrpSpPr>
        <p:grpSpPr>
          <a:xfrm>
            <a:off x="-8708139" y="0"/>
            <a:ext cx="8692332" cy="6858000"/>
            <a:chOff x="718505" y="-1"/>
            <a:chExt cx="8692332" cy="6858000"/>
          </a:xfrm>
        </p:grpSpPr>
        <p:sp>
          <p:nvSpPr>
            <p:cNvPr id="3" name="Rectangle 2">
              <a:extLst>
                <a:ext uri="{FF2B5EF4-FFF2-40B4-BE49-F238E27FC236}">
                  <a16:creationId xmlns:a16="http://schemas.microsoft.com/office/drawing/2014/main" id="{A4BA5614-0BF2-2656-C62C-B493B7FC25A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C05DF823-85E0-1038-076E-82E509ABCF33}"/>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15D88BD2-10B2-9E9B-C8F4-8C713E2269E8}"/>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6" name="Picture 5">
              <a:extLst>
                <a:ext uri="{FF2B5EF4-FFF2-40B4-BE49-F238E27FC236}">
                  <a16:creationId xmlns:a16="http://schemas.microsoft.com/office/drawing/2014/main" id="{24088313-0851-BB40-BBA9-3F5AC69AC52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12" name="TextBox 11">
            <a:extLst>
              <a:ext uri="{FF2B5EF4-FFF2-40B4-BE49-F238E27FC236}">
                <a16:creationId xmlns:a16="http://schemas.microsoft.com/office/drawing/2014/main" id="{C0D8DD35-DA58-F109-7AFD-0CFB22FD495B}"/>
              </a:ext>
            </a:extLst>
          </p:cNvPr>
          <p:cNvSpPr txBox="1"/>
          <p:nvPr/>
        </p:nvSpPr>
        <p:spPr>
          <a:xfrm>
            <a:off x="3274828" y="87574"/>
            <a:ext cx="2821172" cy="369332"/>
          </a:xfrm>
          <a:prstGeom prst="rect">
            <a:avLst/>
          </a:prstGeom>
          <a:noFill/>
        </p:spPr>
        <p:txBody>
          <a:bodyPr wrap="square" rtlCol="0">
            <a:spAutoFit/>
          </a:bodyPr>
          <a:lstStyle/>
          <a:p>
            <a:r>
              <a:rPr lang="en-IN" dirty="0">
                <a:solidFill>
                  <a:srgbClr val="FF5969"/>
                </a:solidFill>
                <a:latin typeface="Berlin Sans FB Demi" panose="020E0802020502020306" pitchFamily="34" charset="0"/>
              </a:rPr>
              <a:t>TABLEAU DASHBOARD</a:t>
            </a:r>
          </a:p>
        </p:txBody>
      </p:sp>
      <p:sp>
        <p:nvSpPr>
          <p:cNvPr id="14" name="TextBox 13">
            <a:extLst>
              <a:ext uri="{FF2B5EF4-FFF2-40B4-BE49-F238E27FC236}">
                <a16:creationId xmlns:a16="http://schemas.microsoft.com/office/drawing/2014/main" id="{7D7FE198-48F1-E339-3475-EB785F67B562}"/>
              </a:ext>
            </a:extLst>
          </p:cNvPr>
          <p:cNvSpPr txBox="1"/>
          <p:nvPr/>
        </p:nvSpPr>
        <p:spPr>
          <a:xfrm>
            <a:off x="841975" y="4396979"/>
            <a:ext cx="3753280" cy="369332"/>
          </a:xfrm>
          <a:prstGeom prst="rect">
            <a:avLst/>
          </a:prstGeom>
          <a:noFill/>
        </p:spPr>
        <p:txBody>
          <a:bodyPr wrap="square" rtlCol="0">
            <a:spAutoFit/>
          </a:bodyPr>
          <a:lstStyle/>
          <a:p>
            <a:r>
              <a:rPr lang="en-IN" dirty="0">
                <a:solidFill>
                  <a:srgbClr val="FF5969"/>
                </a:solidFill>
                <a:latin typeface="Berlin Sans FB Demi" panose="020E0802020502020306" pitchFamily="34" charset="0"/>
              </a:rPr>
              <a:t>VISUALIZATIONS AND INSIGHTED</a:t>
            </a:r>
          </a:p>
        </p:txBody>
      </p:sp>
      <p:grpSp>
        <p:nvGrpSpPr>
          <p:cNvPr id="7" name="Group 6">
            <a:extLst>
              <a:ext uri="{FF2B5EF4-FFF2-40B4-BE49-F238E27FC236}">
                <a16:creationId xmlns:a16="http://schemas.microsoft.com/office/drawing/2014/main" id="{B12819EC-8216-8DAC-831B-C9950C7046E4}"/>
              </a:ext>
            </a:extLst>
          </p:cNvPr>
          <p:cNvGrpSpPr/>
          <p:nvPr/>
        </p:nvGrpSpPr>
        <p:grpSpPr>
          <a:xfrm>
            <a:off x="-9253348" y="-2"/>
            <a:ext cx="8692332" cy="6858000"/>
            <a:chOff x="718505" y="-1"/>
            <a:chExt cx="8692332" cy="6858000"/>
          </a:xfrm>
        </p:grpSpPr>
        <p:sp>
          <p:nvSpPr>
            <p:cNvPr id="8" name="Rectangle 7">
              <a:extLst>
                <a:ext uri="{FF2B5EF4-FFF2-40B4-BE49-F238E27FC236}">
                  <a16:creationId xmlns:a16="http://schemas.microsoft.com/office/drawing/2014/main" id="{682AAA64-004D-9FD5-8BD5-C07F9CA0CD68}"/>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E677C9F8-4FD0-B1B1-3FBB-EED6C8885934}"/>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850E09AA-5E59-06D0-98C3-368E5E1BF060}"/>
                </a:ext>
              </a:extLst>
            </p:cNvPr>
            <p:cNvSpPr txBox="1"/>
            <p:nvPr/>
          </p:nvSpPr>
          <p:spPr>
            <a:xfrm rot="16200000">
              <a:off x="7998760" y="3198704"/>
              <a:ext cx="2177824"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3" name="Picture 12">
              <a:extLst>
                <a:ext uri="{FF2B5EF4-FFF2-40B4-BE49-F238E27FC236}">
                  <a16:creationId xmlns:a16="http://schemas.microsoft.com/office/drawing/2014/main" id="{090ED34A-9293-DD6C-5340-90B54DE5B87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6" name="Group 15">
            <a:extLst>
              <a:ext uri="{FF2B5EF4-FFF2-40B4-BE49-F238E27FC236}">
                <a16:creationId xmlns:a16="http://schemas.microsoft.com/office/drawing/2014/main" id="{0DC2A53C-B2FD-C856-8EF5-925E65FFE312}"/>
              </a:ext>
            </a:extLst>
          </p:cNvPr>
          <p:cNvGrpSpPr/>
          <p:nvPr/>
        </p:nvGrpSpPr>
        <p:grpSpPr>
          <a:xfrm>
            <a:off x="-10673346" y="-3"/>
            <a:ext cx="9574094" cy="6858000"/>
            <a:chOff x="491575" y="0"/>
            <a:chExt cx="9574094" cy="6858000"/>
          </a:xfrm>
        </p:grpSpPr>
        <p:sp>
          <p:nvSpPr>
            <p:cNvPr id="17" name="Rectangle 16">
              <a:extLst>
                <a:ext uri="{FF2B5EF4-FFF2-40B4-BE49-F238E27FC236}">
                  <a16:creationId xmlns:a16="http://schemas.microsoft.com/office/drawing/2014/main" id="{107B13DF-4FEF-A5C7-1B84-86940E1F4A0C}"/>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Freeform: Shape 17">
              <a:extLst>
                <a:ext uri="{FF2B5EF4-FFF2-40B4-BE49-F238E27FC236}">
                  <a16:creationId xmlns:a16="http://schemas.microsoft.com/office/drawing/2014/main" id="{69687230-0BB3-CA97-A700-3D0B67844F03}"/>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1" name="TextBox 20">
              <a:extLst>
                <a:ext uri="{FF2B5EF4-FFF2-40B4-BE49-F238E27FC236}">
                  <a16:creationId xmlns:a16="http://schemas.microsoft.com/office/drawing/2014/main" id="{781455E7-FD67-9D5F-9B6E-849EB1ABF99D}"/>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2" name="Picture 21">
              <a:extLst>
                <a:ext uri="{FF2B5EF4-FFF2-40B4-BE49-F238E27FC236}">
                  <a16:creationId xmlns:a16="http://schemas.microsoft.com/office/drawing/2014/main" id="{EAFFFE27-8004-E4BF-94A0-C3C8C5AA04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pic>
        <p:nvPicPr>
          <p:cNvPr id="11" name="Picture 10">
            <a:extLst>
              <a:ext uri="{FF2B5EF4-FFF2-40B4-BE49-F238E27FC236}">
                <a16:creationId xmlns:a16="http://schemas.microsoft.com/office/drawing/2014/main" id="{662AEDA1-E1A6-9E94-956B-EE524C43912E}"/>
              </a:ext>
            </a:extLst>
          </p:cNvPr>
          <p:cNvPicPr>
            <a:picLocks noChangeAspect="1"/>
          </p:cNvPicPr>
          <p:nvPr/>
        </p:nvPicPr>
        <p:blipFill>
          <a:blip r:embed="rId3"/>
          <a:stretch>
            <a:fillRect/>
          </a:stretch>
        </p:blipFill>
        <p:spPr>
          <a:xfrm>
            <a:off x="771997" y="456906"/>
            <a:ext cx="8153686" cy="3940071"/>
          </a:xfrm>
          <a:prstGeom prst="rect">
            <a:avLst/>
          </a:prstGeom>
        </p:spPr>
      </p:pic>
      <p:sp>
        <p:nvSpPr>
          <p:cNvPr id="20" name="TextBox 19">
            <a:extLst>
              <a:ext uri="{FF2B5EF4-FFF2-40B4-BE49-F238E27FC236}">
                <a16:creationId xmlns:a16="http://schemas.microsoft.com/office/drawing/2014/main" id="{F13A9EF3-C8D1-F7C1-A8D5-593AF81698D1}"/>
              </a:ext>
            </a:extLst>
          </p:cNvPr>
          <p:cNvSpPr txBox="1"/>
          <p:nvPr/>
        </p:nvSpPr>
        <p:spPr>
          <a:xfrm>
            <a:off x="729986" y="4688107"/>
            <a:ext cx="9058275" cy="2400657"/>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Revenue &amp; Sales:</a:t>
            </a:r>
            <a:r>
              <a:rPr lang="en-US" altLang="en-US" sz="1500" dirty="0">
                <a:solidFill>
                  <a:schemeClr val="tx1">
                    <a:lumMod val="75000"/>
                    <a:lumOff val="25000"/>
                  </a:schemeClr>
                </a:solidFill>
                <a:latin typeface="Arial" panose="020B0604020202020204" pitchFamily="34" charset="0"/>
              </a:rPr>
              <a:t> Total sales </a:t>
            </a:r>
            <a:r>
              <a:rPr lang="en-US" altLang="en-US" sz="1500" b="1" dirty="0">
                <a:solidFill>
                  <a:schemeClr val="tx1">
                    <a:lumMod val="75000"/>
                    <a:lumOff val="25000"/>
                  </a:schemeClr>
                </a:solidFill>
                <a:latin typeface="Arial" panose="020B0604020202020204" pitchFamily="34" charset="0"/>
              </a:rPr>
              <a:t>15.7M</a:t>
            </a:r>
            <a:r>
              <a:rPr lang="en-US" altLang="en-US" sz="1500" dirty="0">
                <a:solidFill>
                  <a:schemeClr val="tx1">
                    <a:lumMod val="75000"/>
                    <a:lumOff val="25000"/>
                  </a:schemeClr>
                </a:solidFill>
                <a:latin typeface="Arial" panose="020B0604020202020204" pitchFamily="34" charset="0"/>
              </a:rPr>
              <a:t> and profit </a:t>
            </a:r>
            <a:r>
              <a:rPr lang="en-US" altLang="en-US" sz="1500" b="1" dirty="0">
                <a:solidFill>
                  <a:schemeClr val="tx1">
                    <a:lumMod val="75000"/>
                    <a:lumOff val="25000"/>
                  </a:schemeClr>
                </a:solidFill>
                <a:latin typeface="Arial" panose="020B0604020202020204" pitchFamily="34" charset="0"/>
              </a:rPr>
              <a:t>2.2M</a:t>
            </a:r>
            <a:r>
              <a:rPr lang="en-US" altLang="en-US" sz="1500" dirty="0">
                <a:solidFill>
                  <a:schemeClr val="tx1">
                    <a:lumMod val="75000"/>
                    <a:lumOff val="25000"/>
                  </a:schemeClr>
                </a:solidFill>
                <a:latin typeface="Arial" panose="020B0604020202020204" pitchFamily="34" charset="0"/>
              </a:rPr>
              <a:t>, driven by top categories like health &amp; beauty, watches, and home appliances.</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Customers &amp; Sellers:</a:t>
            </a:r>
            <a:r>
              <a:rPr lang="en-US" altLang="en-US" sz="1500" dirty="0">
                <a:solidFill>
                  <a:schemeClr val="tx1">
                    <a:lumMod val="75000"/>
                    <a:lumOff val="25000"/>
                  </a:schemeClr>
                </a:solidFill>
                <a:latin typeface="Arial" panose="020B0604020202020204" pitchFamily="34" charset="0"/>
              </a:rPr>
              <a:t> </a:t>
            </a:r>
            <a:r>
              <a:rPr lang="en-US" altLang="en-US" sz="1500" b="1" dirty="0">
                <a:solidFill>
                  <a:schemeClr val="tx1">
                    <a:lumMod val="75000"/>
                    <a:lumOff val="25000"/>
                  </a:schemeClr>
                </a:solidFill>
                <a:latin typeface="Arial" panose="020B0604020202020204" pitchFamily="34" charset="0"/>
              </a:rPr>
              <a:t>98,673 customers</a:t>
            </a:r>
            <a:r>
              <a:rPr lang="en-US" altLang="en-US" sz="1500" dirty="0">
                <a:solidFill>
                  <a:schemeClr val="tx1">
                    <a:lumMod val="75000"/>
                    <a:lumOff val="25000"/>
                  </a:schemeClr>
                </a:solidFill>
                <a:latin typeface="Arial" panose="020B0604020202020204" pitchFamily="34" charset="0"/>
              </a:rPr>
              <a:t> and </a:t>
            </a:r>
            <a:r>
              <a:rPr lang="en-US" altLang="en-US" sz="1500" b="1" dirty="0">
                <a:solidFill>
                  <a:schemeClr val="tx1">
                    <a:lumMod val="75000"/>
                    <a:lumOff val="25000"/>
                  </a:schemeClr>
                </a:solidFill>
                <a:latin typeface="Arial" panose="020B0604020202020204" pitchFamily="34" charset="0"/>
              </a:rPr>
              <a:t>3,090 sellers</a:t>
            </a:r>
            <a:r>
              <a:rPr lang="en-US" altLang="en-US" sz="1500" dirty="0">
                <a:solidFill>
                  <a:schemeClr val="tx1">
                    <a:lumMod val="75000"/>
                    <a:lumOff val="25000"/>
                  </a:schemeClr>
                </a:solidFill>
                <a:latin typeface="Arial" panose="020B0604020202020204" pitchFamily="34" charset="0"/>
              </a:rPr>
              <a:t>, showing a strong, active marketplace.</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Delivery Performance:</a:t>
            </a:r>
            <a:r>
              <a:rPr lang="en-US" altLang="en-US" sz="1500" dirty="0">
                <a:solidFill>
                  <a:schemeClr val="tx1">
                    <a:lumMod val="75000"/>
                    <a:lumOff val="25000"/>
                  </a:schemeClr>
                </a:solidFill>
                <a:latin typeface="Arial" panose="020B0604020202020204" pitchFamily="34" charset="0"/>
              </a:rPr>
              <a:t> Average delivery days vary by shop (</a:t>
            </a:r>
            <a:r>
              <a:rPr lang="en-US" altLang="en-US" sz="1500" b="1" dirty="0">
                <a:solidFill>
                  <a:schemeClr val="tx1">
                    <a:lumMod val="75000"/>
                    <a:lumOff val="25000"/>
                  </a:schemeClr>
                </a:solidFill>
                <a:latin typeface="Arial" panose="020B0604020202020204" pitchFamily="34" charset="0"/>
              </a:rPr>
              <a:t>11–16 days</a:t>
            </a:r>
            <a:r>
              <a:rPr lang="en-US" altLang="en-US" sz="1500" dirty="0">
                <a:solidFill>
                  <a:schemeClr val="tx1">
                    <a:lumMod val="75000"/>
                    <a:lumOff val="25000"/>
                  </a:schemeClr>
                </a:solidFill>
                <a:latin typeface="Arial" panose="020B0604020202020204" pitchFamily="34" charset="0"/>
              </a:rPr>
              <a:t>), highlighting logistics improvement opportunities.</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Payment Insights:</a:t>
            </a:r>
            <a:r>
              <a:rPr lang="en-US" altLang="en-US" sz="1500" dirty="0">
                <a:solidFill>
                  <a:schemeClr val="tx1">
                    <a:lumMod val="75000"/>
                    <a:lumOff val="25000"/>
                  </a:schemeClr>
                </a:solidFill>
                <a:latin typeface="Arial" panose="020B0604020202020204" pitchFamily="34" charset="0"/>
              </a:rPr>
              <a:t> </a:t>
            </a:r>
            <a:r>
              <a:rPr lang="en-US" altLang="en-US" sz="1500" b="1" dirty="0">
                <a:solidFill>
                  <a:schemeClr val="tx1">
                    <a:lumMod val="75000"/>
                    <a:lumOff val="25000"/>
                  </a:schemeClr>
                </a:solidFill>
                <a:latin typeface="Arial" panose="020B0604020202020204" pitchFamily="34" charset="0"/>
              </a:rPr>
              <a:t>Credit cards dominate</a:t>
            </a:r>
            <a:r>
              <a:rPr lang="en-US" altLang="en-US" sz="1500" dirty="0">
                <a:solidFill>
                  <a:schemeClr val="tx1">
                    <a:lumMod val="75000"/>
                    <a:lumOff val="25000"/>
                  </a:schemeClr>
                </a:solidFill>
                <a:latin typeface="Arial" panose="020B0604020202020204" pitchFamily="34" charset="0"/>
              </a:rPr>
              <a:t> transactions; avg payment values vary by shop, indicating spending trends.</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Regional Demand:</a:t>
            </a:r>
            <a:r>
              <a:rPr lang="en-US" altLang="en-US" sz="1500" dirty="0">
                <a:solidFill>
                  <a:schemeClr val="tx1">
                    <a:lumMod val="75000"/>
                    <a:lumOff val="25000"/>
                  </a:schemeClr>
                </a:solidFill>
                <a:latin typeface="Arial" panose="020B0604020202020204" pitchFamily="34" charset="0"/>
              </a:rPr>
              <a:t> </a:t>
            </a:r>
            <a:r>
              <a:rPr lang="en-US" altLang="en-US" sz="1500" b="1" dirty="0">
                <a:solidFill>
                  <a:schemeClr val="tx1">
                    <a:lumMod val="75000"/>
                    <a:lumOff val="25000"/>
                  </a:schemeClr>
                </a:solidFill>
                <a:latin typeface="Arial" panose="020B0604020202020204" pitchFamily="34" charset="0"/>
              </a:rPr>
              <a:t>São Paulo</a:t>
            </a:r>
            <a:r>
              <a:rPr lang="en-US" altLang="en-US" sz="1500" dirty="0">
                <a:solidFill>
                  <a:schemeClr val="tx1">
                    <a:lumMod val="75000"/>
                    <a:lumOff val="25000"/>
                  </a:schemeClr>
                </a:solidFill>
                <a:latin typeface="Arial" panose="020B0604020202020204" pitchFamily="34" charset="0"/>
              </a:rPr>
              <a:t> shows high average payment vs. price, reflecting strong market demand.</a:t>
            </a:r>
          </a:p>
          <a:p>
            <a:pPr algn="just"/>
            <a:endParaRPr lang="en-IN" sz="1500" dirty="0">
              <a:solidFill>
                <a:schemeClr val="tx1">
                  <a:lumMod val="75000"/>
                  <a:lumOff val="25000"/>
                </a:schemeClr>
              </a:solidFill>
            </a:endParaRPr>
          </a:p>
        </p:txBody>
      </p:sp>
    </p:spTree>
    <p:extLst>
      <p:ext uri="{BB962C8B-B14F-4D97-AF65-F5344CB8AC3E}">
        <p14:creationId xmlns:p14="http://schemas.microsoft.com/office/powerpoint/2010/main" val="3557959593"/>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2"/>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50" name="Group 49">
            <a:extLst>
              <a:ext uri="{FF2B5EF4-FFF2-40B4-BE49-F238E27FC236}">
                <a16:creationId xmlns:a16="http://schemas.microsoft.com/office/drawing/2014/main" id="{10781169-B7A4-446E-BD33-B9650367A7F9}"/>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CED3AF08-30FC-4AFF-9C5C-99D0A7099514}"/>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99AF1FBA-9557-484A-B305-EE590A192E96}"/>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407E3AA2-679E-4924-AC1B-FE6C3A02C251}"/>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CD9846FC-755F-4A0E-BAD3-A5D51C0E1EB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F00A67C9-4929-4EFF-9CB6-292640CD2738}"/>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3E8CDB02-4760-4298-BC44-93A18EB02F13}"/>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57C0FD50-5E69-463E-A01B-65E9D864A386}"/>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04CBFB1D-37FD-419F-B98C-860BF5217905}"/>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60B383F7-52C5-4FB7-AEC3-35A48D7354A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6F7667A6-1C16-4F0A-A162-61BD16E6BE6B}"/>
              </a:ext>
            </a:extLst>
          </p:cNvPr>
          <p:cNvGrpSpPr/>
          <p:nvPr/>
        </p:nvGrpSpPr>
        <p:grpSpPr>
          <a:xfrm>
            <a:off x="1184133" y="0"/>
            <a:ext cx="9961092" cy="6858000"/>
            <a:chOff x="491575" y="0"/>
            <a:chExt cx="9961092" cy="6858000"/>
          </a:xfrm>
        </p:grpSpPr>
        <p:sp>
          <p:nvSpPr>
            <p:cNvPr id="61" name="Rectangle 60">
              <a:extLst>
                <a:ext uri="{FF2B5EF4-FFF2-40B4-BE49-F238E27FC236}">
                  <a16:creationId xmlns:a16="http://schemas.microsoft.com/office/drawing/2014/main" id="{0E8C29A9-4AAB-442C-A7A4-40DCCE0A9694}"/>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81520FE7-5699-4290-9C3C-51E0C60ECC6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AFD50D6F-822B-4109-8B0C-BA004A0B7145}"/>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0376C61F-147B-441E-B32E-45D5BC1B66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a16="http://schemas.microsoft.com/office/drawing/2014/main" id="{4E70D3F9-D583-4ACD-8480-0F4A65ED3C83}"/>
              </a:ext>
            </a:extLst>
          </p:cNvPr>
          <p:cNvGrpSpPr/>
          <p:nvPr/>
        </p:nvGrpSpPr>
        <p:grpSpPr>
          <a:xfrm>
            <a:off x="1049062" y="0"/>
            <a:ext cx="9574094" cy="6858000"/>
            <a:chOff x="491575" y="0"/>
            <a:chExt cx="9574094" cy="6858000"/>
          </a:xfrm>
        </p:grpSpPr>
        <p:sp>
          <p:nvSpPr>
            <p:cNvPr id="96" name="Rectangle 95">
              <a:extLst>
                <a:ext uri="{FF2B5EF4-FFF2-40B4-BE49-F238E27FC236}">
                  <a16:creationId xmlns:a16="http://schemas.microsoft.com/office/drawing/2014/main" id="{321108FC-08B5-45CC-AB47-1104119B25F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96A47C8C-7F88-484E-817B-572BEDC2BC69}"/>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E3DB5570-AC77-4396-9748-4183DF7C8396}"/>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F6ED4041-CDD9-443D-802E-47D4387906F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E7044FAB-DB4A-4E59-B111-8CA4168E7FA4}"/>
              </a:ext>
            </a:extLst>
          </p:cNvPr>
          <p:cNvGrpSpPr/>
          <p:nvPr/>
        </p:nvGrpSpPr>
        <p:grpSpPr>
          <a:xfrm>
            <a:off x="-1723264" y="-8661"/>
            <a:ext cx="11860720" cy="6892448"/>
            <a:chOff x="-2449883" y="-34449"/>
            <a:chExt cx="11860720" cy="6892448"/>
          </a:xfrm>
        </p:grpSpPr>
        <p:sp>
          <p:nvSpPr>
            <p:cNvPr id="72" name="Rectangle 71">
              <a:extLst>
                <a:ext uri="{FF2B5EF4-FFF2-40B4-BE49-F238E27FC236}">
                  <a16:creationId xmlns:a16="http://schemas.microsoft.com/office/drawing/2014/main" id="{824F072A-08CC-4CC6-B5EF-C1833A244FA3}"/>
                </a:ext>
              </a:extLst>
            </p:cNvPr>
            <p:cNvSpPr/>
            <p:nvPr/>
          </p:nvSpPr>
          <p:spPr>
            <a:xfrm>
              <a:off x="-2449883" y="-34449"/>
              <a:ext cx="11860719" cy="6892448"/>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A3C6C4A9-8B6A-429B-980E-26CD0C3A573E}"/>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858AC381-BFD1-4A89-AE49-8ADC853A6849}"/>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9DF2E944-82FA-495B-8A5C-9BDE2635538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319D70E1-FCF7-3479-1EDE-E0BC34C7EF7B}"/>
              </a:ext>
            </a:extLst>
          </p:cNvPr>
          <p:cNvGrpSpPr/>
          <p:nvPr/>
        </p:nvGrpSpPr>
        <p:grpSpPr>
          <a:xfrm>
            <a:off x="859744" y="-18353"/>
            <a:ext cx="8696212" cy="6840872"/>
            <a:chOff x="757071" y="-22501"/>
            <a:chExt cx="8696212" cy="6806424"/>
          </a:xfrm>
        </p:grpSpPr>
        <p:sp>
          <p:nvSpPr>
            <p:cNvPr id="3" name="Rectangle 2">
              <a:extLst>
                <a:ext uri="{FF2B5EF4-FFF2-40B4-BE49-F238E27FC236}">
                  <a16:creationId xmlns:a16="http://schemas.microsoft.com/office/drawing/2014/main" id="{4FB6440E-210E-1A66-03BD-9AF9D51C0620}"/>
                </a:ext>
              </a:extLst>
            </p:cNvPr>
            <p:cNvSpPr/>
            <p:nvPr/>
          </p:nvSpPr>
          <p:spPr>
            <a:xfrm>
              <a:off x="757071" y="-22501"/>
              <a:ext cx="8692331" cy="6806424"/>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12DDA9CF-34B8-13C6-22CA-332939E29DA4}"/>
                </a:ext>
              </a:extLst>
            </p:cNvPr>
            <p:cNvSpPr/>
            <p:nvPr/>
          </p:nvSpPr>
          <p:spPr>
            <a:xfrm>
              <a:off x="8284883" y="2324175"/>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2F2C139-B961-EEDD-8521-B7C8892784BB}"/>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6" name="Picture 5">
              <a:extLst>
                <a:ext uri="{FF2B5EF4-FFF2-40B4-BE49-F238E27FC236}">
                  <a16:creationId xmlns:a16="http://schemas.microsoft.com/office/drawing/2014/main" id="{A1BB8E9D-0306-33E0-53D2-280341B6A5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 name="Group 6">
            <a:extLst>
              <a:ext uri="{FF2B5EF4-FFF2-40B4-BE49-F238E27FC236}">
                <a16:creationId xmlns:a16="http://schemas.microsoft.com/office/drawing/2014/main" id="{6AF9A6FD-2176-E9BD-2888-D3D8F21F1BE7}"/>
              </a:ext>
            </a:extLst>
          </p:cNvPr>
          <p:cNvGrpSpPr/>
          <p:nvPr/>
        </p:nvGrpSpPr>
        <p:grpSpPr>
          <a:xfrm>
            <a:off x="-7852622" y="-18353"/>
            <a:ext cx="8692332" cy="6858000"/>
            <a:chOff x="718505" y="-1"/>
            <a:chExt cx="8692332" cy="6858000"/>
          </a:xfrm>
        </p:grpSpPr>
        <p:sp>
          <p:nvSpPr>
            <p:cNvPr id="8" name="Rectangle 7">
              <a:extLst>
                <a:ext uri="{FF2B5EF4-FFF2-40B4-BE49-F238E27FC236}">
                  <a16:creationId xmlns:a16="http://schemas.microsoft.com/office/drawing/2014/main" id="{832EB81B-235C-E461-740D-33682D4EC0E7}"/>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53EDDC64-5E92-915E-3F47-0ADFA400940C}"/>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07B0F370-F897-84D7-3FDD-04548A5FEF22}"/>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734CAC68-E461-5F7A-9E12-3B524E103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2" name="Group 11">
            <a:extLst>
              <a:ext uri="{FF2B5EF4-FFF2-40B4-BE49-F238E27FC236}">
                <a16:creationId xmlns:a16="http://schemas.microsoft.com/office/drawing/2014/main" id="{EFC72F5D-824E-A77F-47A7-C4727D3F3360}"/>
              </a:ext>
            </a:extLst>
          </p:cNvPr>
          <p:cNvGrpSpPr/>
          <p:nvPr/>
        </p:nvGrpSpPr>
        <p:grpSpPr>
          <a:xfrm>
            <a:off x="-9261899" y="-8661"/>
            <a:ext cx="9574094" cy="6858000"/>
            <a:chOff x="491575" y="0"/>
            <a:chExt cx="9574094" cy="6858000"/>
          </a:xfrm>
        </p:grpSpPr>
        <p:sp>
          <p:nvSpPr>
            <p:cNvPr id="13" name="Rectangle 12">
              <a:extLst>
                <a:ext uri="{FF2B5EF4-FFF2-40B4-BE49-F238E27FC236}">
                  <a16:creationId xmlns:a16="http://schemas.microsoft.com/office/drawing/2014/main" id="{D61EE833-75F5-B7D5-5798-2E942DA052BF}"/>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1A3E93F-B73F-0809-0097-A9BAE94CC940}"/>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E27A218D-D88B-B2DF-286F-32F7D77DA260}"/>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6" name="Picture 15">
              <a:extLst>
                <a:ext uri="{FF2B5EF4-FFF2-40B4-BE49-F238E27FC236}">
                  <a16:creationId xmlns:a16="http://schemas.microsoft.com/office/drawing/2014/main" id="{31363A2B-CF27-2AD1-FDDB-7B1EBDBA11F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22" name="Group 21">
            <a:extLst>
              <a:ext uri="{FF2B5EF4-FFF2-40B4-BE49-F238E27FC236}">
                <a16:creationId xmlns:a16="http://schemas.microsoft.com/office/drawing/2014/main" id="{C03FE202-E878-FA53-F02A-73C5AFE0D099}"/>
              </a:ext>
            </a:extLst>
          </p:cNvPr>
          <p:cNvGrpSpPr/>
          <p:nvPr/>
        </p:nvGrpSpPr>
        <p:grpSpPr>
          <a:xfrm>
            <a:off x="-8897485" y="-18353"/>
            <a:ext cx="8692332" cy="6892448"/>
            <a:chOff x="718505" y="-34449"/>
            <a:chExt cx="8692332" cy="6892448"/>
          </a:xfrm>
        </p:grpSpPr>
        <p:sp>
          <p:nvSpPr>
            <p:cNvPr id="23" name="Rectangle 22">
              <a:extLst>
                <a:ext uri="{FF2B5EF4-FFF2-40B4-BE49-F238E27FC236}">
                  <a16:creationId xmlns:a16="http://schemas.microsoft.com/office/drawing/2014/main" id="{F84F590D-A0CD-2074-89D1-A1859A64997A}"/>
                </a:ext>
              </a:extLst>
            </p:cNvPr>
            <p:cNvSpPr/>
            <p:nvPr/>
          </p:nvSpPr>
          <p:spPr>
            <a:xfrm>
              <a:off x="718505" y="-34449"/>
              <a:ext cx="8692331" cy="6892448"/>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6C86C32C-C499-F4C0-4FDC-8BB13D35DC56}"/>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AC209636-47EB-023E-911B-39A505BC9327}"/>
                </a:ext>
              </a:extLst>
            </p:cNvPr>
            <p:cNvSpPr txBox="1"/>
            <p:nvPr/>
          </p:nvSpPr>
          <p:spPr>
            <a:xfrm rot="16200000">
              <a:off x="8025849" y="3255388"/>
              <a:ext cx="212364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6" name="Picture 25">
              <a:extLst>
                <a:ext uri="{FF2B5EF4-FFF2-40B4-BE49-F238E27FC236}">
                  <a16:creationId xmlns:a16="http://schemas.microsoft.com/office/drawing/2014/main" id="{DE8834A0-E7C7-55A6-EE5C-E7C0B4630AF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29" name="TextBox 28">
            <a:extLst>
              <a:ext uri="{FF2B5EF4-FFF2-40B4-BE49-F238E27FC236}">
                <a16:creationId xmlns:a16="http://schemas.microsoft.com/office/drawing/2014/main" id="{1A58C744-F585-3570-479C-C6E93ADE1160}"/>
              </a:ext>
            </a:extLst>
          </p:cNvPr>
          <p:cNvSpPr txBox="1"/>
          <p:nvPr/>
        </p:nvSpPr>
        <p:spPr>
          <a:xfrm>
            <a:off x="3023609" y="105574"/>
            <a:ext cx="3539111" cy="369332"/>
          </a:xfrm>
          <a:prstGeom prst="rect">
            <a:avLst/>
          </a:prstGeom>
          <a:noFill/>
        </p:spPr>
        <p:txBody>
          <a:bodyPr wrap="square" rtlCol="0">
            <a:spAutoFit/>
          </a:bodyPr>
          <a:lstStyle/>
          <a:p>
            <a:r>
              <a:rPr lang="en-IN" dirty="0">
                <a:solidFill>
                  <a:srgbClr val="00B0F0"/>
                </a:solidFill>
                <a:latin typeface="Berlin Sans FB Demi" panose="020E0802020502020306" pitchFamily="34" charset="0"/>
              </a:rPr>
              <a:t>POWER BI DASHBOARD</a:t>
            </a:r>
          </a:p>
        </p:txBody>
      </p:sp>
      <p:sp>
        <p:nvSpPr>
          <p:cNvPr id="19" name="TextBox 18">
            <a:extLst>
              <a:ext uri="{FF2B5EF4-FFF2-40B4-BE49-F238E27FC236}">
                <a16:creationId xmlns:a16="http://schemas.microsoft.com/office/drawing/2014/main" id="{AF595CBB-9B69-534A-A66A-F17FEDB32CFE}"/>
              </a:ext>
            </a:extLst>
          </p:cNvPr>
          <p:cNvSpPr txBox="1"/>
          <p:nvPr/>
        </p:nvSpPr>
        <p:spPr>
          <a:xfrm>
            <a:off x="941585" y="4029867"/>
            <a:ext cx="6309774" cy="369332"/>
          </a:xfrm>
          <a:prstGeom prst="rect">
            <a:avLst/>
          </a:prstGeom>
          <a:noFill/>
        </p:spPr>
        <p:txBody>
          <a:bodyPr wrap="square" rtlCol="0">
            <a:spAutoFit/>
          </a:bodyPr>
          <a:lstStyle/>
          <a:p>
            <a:r>
              <a:rPr lang="en-US" dirty="0">
                <a:solidFill>
                  <a:srgbClr val="00B0F0"/>
                </a:solidFill>
                <a:latin typeface="Berlin Sans FB Demi" panose="020E0802020502020306" pitchFamily="34" charset="0"/>
              </a:rPr>
              <a:t>ADVANCED ANALYSIS AND PERFORMANCE TRACKING</a:t>
            </a:r>
            <a:endParaRPr lang="en-IN" dirty="0">
              <a:solidFill>
                <a:srgbClr val="00B0F0"/>
              </a:solidFill>
              <a:latin typeface="Berlin Sans FB Demi" panose="020E0802020502020306" pitchFamily="34" charset="0"/>
            </a:endParaRPr>
          </a:p>
        </p:txBody>
      </p:sp>
      <p:pic>
        <p:nvPicPr>
          <p:cNvPr id="18" name="Picture 17">
            <a:extLst>
              <a:ext uri="{FF2B5EF4-FFF2-40B4-BE49-F238E27FC236}">
                <a16:creationId xmlns:a16="http://schemas.microsoft.com/office/drawing/2014/main" id="{B54DFAE6-BF13-ACF6-1B9F-D619E213BA37}"/>
              </a:ext>
            </a:extLst>
          </p:cNvPr>
          <p:cNvPicPr>
            <a:picLocks noChangeAspect="1"/>
          </p:cNvPicPr>
          <p:nvPr/>
        </p:nvPicPr>
        <p:blipFill>
          <a:blip r:embed="rId3"/>
          <a:stretch>
            <a:fillRect/>
          </a:stretch>
        </p:blipFill>
        <p:spPr>
          <a:xfrm>
            <a:off x="998443" y="483565"/>
            <a:ext cx="7283355" cy="3505175"/>
          </a:xfrm>
          <a:prstGeom prst="rect">
            <a:avLst/>
          </a:prstGeom>
        </p:spPr>
      </p:pic>
      <p:sp>
        <p:nvSpPr>
          <p:cNvPr id="27" name="TextBox 26">
            <a:extLst>
              <a:ext uri="{FF2B5EF4-FFF2-40B4-BE49-F238E27FC236}">
                <a16:creationId xmlns:a16="http://schemas.microsoft.com/office/drawing/2014/main" id="{93B8283D-A9DF-2440-730D-96DB43BC256B}"/>
              </a:ext>
            </a:extLst>
          </p:cNvPr>
          <p:cNvSpPr txBox="1"/>
          <p:nvPr/>
        </p:nvSpPr>
        <p:spPr>
          <a:xfrm>
            <a:off x="929775" y="4367410"/>
            <a:ext cx="7778669" cy="2169825"/>
          </a:xfrm>
          <a:prstGeom prst="rect">
            <a:avLst/>
          </a:prstGeom>
          <a:noFill/>
        </p:spPr>
        <p:txBody>
          <a:bodyPr wrap="square" rtlCol="0">
            <a:spAutoFit/>
          </a:bodyPr>
          <a:lstStyle/>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Revenue &amp; Sales Insight:</a:t>
            </a:r>
            <a:r>
              <a:rPr lang="en-US" altLang="en-US" sz="1500" dirty="0">
                <a:solidFill>
                  <a:schemeClr val="tx1">
                    <a:lumMod val="75000"/>
                    <a:lumOff val="25000"/>
                  </a:schemeClr>
                </a:solidFill>
                <a:latin typeface="Arial" panose="020B0604020202020204" pitchFamily="34" charset="0"/>
              </a:rPr>
              <a:t> High order volumes and peak-season trends highlight key opportunities to optimize pricing, promotions, and product availability.</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Customer Behavior Insight:</a:t>
            </a:r>
            <a:r>
              <a:rPr lang="en-US" altLang="en-US" sz="1500" dirty="0">
                <a:solidFill>
                  <a:schemeClr val="tx1">
                    <a:lumMod val="75000"/>
                    <a:lumOff val="25000"/>
                  </a:schemeClr>
                </a:solidFill>
                <a:latin typeface="Arial" panose="020B0604020202020204" pitchFamily="34" charset="0"/>
              </a:rPr>
              <a:t> One-time vs. repeat purchase patterns, along with top customer regions, reveal opportunities for loyalty programs and targeted engagement.</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Product &amp; Category Insight:</a:t>
            </a:r>
            <a:r>
              <a:rPr lang="en-US" altLang="en-US" sz="1500" dirty="0">
                <a:solidFill>
                  <a:schemeClr val="tx1">
                    <a:lumMod val="75000"/>
                    <a:lumOff val="25000"/>
                  </a:schemeClr>
                </a:solidFill>
                <a:latin typeface="Arial" panose="020B0604020202020204" pitchFamily="34" charset="0"/>
              </a:rPr>
              <a:t> Top-selling categories like electronics, fashion, and home appliances drive most revenue, while underperforming categories indicate areas for growth.</a:t>
            </a:r>
          </a:p>
          <a:p>
            <a:pPr lvl="0" algn="just" eaLnBrk="0" fontAlgn="base" hangingPunct="0">
              <a:spcBef>
                <a:spcPct val="0"/>
              </a:spcBef>
              <a:spcAft>
                <a:spcPct val="0"/>
              </a:spcAft>
              <a:buFontTx/>
              <a:buChar char="•"/>
            </a:pPr>
            <a:r>
              <a:rPr lang="en-US" altLang="en-US" sz="1500" b="1" dirty="0">
                <a:solidFill>
                  <a:schemeClr val="tx1">
                    <a:lumMod val="75000"/>
                    <a:lumOff val="25000"/>
                  </a:schemeClr>
                </a:solidFill>
                <a:latin typeface="Arial" panose="020B0604020202020204" pitchFamily="34" charset="0"/>
              </a:rPr>
              <a:t>Operational &amp; Delivery Insight:</a:t>
            </a:r>
            <a:r>
              <a:rPr lang="en-US" altLang="en-US" sz="1500" dirty="0">
                <a:solidFill>
                  <a:schemeClr val="tx1">
                    <a:lumMod val="75000"/>
                    <a:lumOff val="25000"/>
                  </a:schemeClr>
                </a:solidFill>
                <a:latin typeface="Arial" panose="020B0604020202020204" pitchFamily="34" charset="0"/>
              </a:rPr>
              <a:t> Payment preferences, order fulfillment, and delivery timelines help track efficiency, highlight potential delays, and optimize logistics strategies.</a:t>
            </a:r>
          </a:p>
        </p:txBody>
      </p:sp>
    </p:spTree>
    <p:extLst>
      <p:ext uri="{BB962C8B-B14F-4D97-AF65-F5344CB8AC3E}">
        <p14:creationId xmlns:p14="http://schemas.microsoft.com/office/powerpoint/2010/main" val="1327239487"/>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20254F-81D8-7947-05F0-908839370012}"/>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5AE3F681-A47D-1768-C5E4-E1B36A92ACC5}"/>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124A64E9-EEE2-9554-CEA0-4AC72A37B733}"/>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0E8A9A98-6318-7254-5A0D-F674D43BB6F3}"/>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82FA3DC0-24A5-3D68-F1EB-216FEA063546}"/>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BF5A4448-5604-6D22-7822-A0E038A83BA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A03EE3D8-2726-84D6-C122-0C4E899D2C29}"/>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27377B79-234B-898E-4FC8-A5B8BF89D08B}"/>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710A9E1E-43CF-188D-8767-9926AE3F19C1}"/>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D0614414-972F-69B7-807A-6E313D00CE24}"/>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1A86C94E-5313-1E89-F559-EB68EE8C0E9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13972A96-847C-E918-9613-94B72283ABB9}"/>
              </a:ext>
            </a:extLst>
          </p:cNvPr>
          <p:cNvGrpSpPr/>
          <p:nvPr/>
        </p:nvGrpSpPr>
        <p:grpSpPr>
          <a:xfrm>
            <a:off x="1187631" y="0"/>
            <a:ext cx="9961092" cy="6858000"/>
            <a:chOff x="491575" y="0"/>
            <a:chExt cx="9961092" cy="6858000"/>
          </a:xfrm>
        </p:grpSpPr>
        <p:sp>
          <p:nvSpPr>
            <p:cNvPr id="61" name="Rectangle 60">
              <a:extLst>
                <a:ext uri="{FF2B5EF4-FFF2-40B4-BE49-F238E27FC236}">
                  <a16:creationId xmlns:a16="http://schemas.microsoft.com/office/drawing/2014/main" id="{EFE00DEF-B3EF-308C-8D25-C1CA471309ED}"/>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29085D8D-B9ED-0EEC-6E56-E2748ADA5FED}"/>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C11752FC-21F6-1A49-ED01-4C7F7878BCEC}"/>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026A13EC-7834-90D9-DF6D-5D21E934889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a16="http://schemas.microsoft.com/office/drawing/2014/main" id="{B0543169-BE45-8AD8-1DE5-CE2AFDC787EB}"/>
              </a:ext>
            </a:extLst>
          </p:cNvPr>
          <p:cNvGrpSpPr/>
          <p:nvPr/>
        </p:nvGrpSpPr>
        <p:grpSpPr>
          <a:xfrm>
            <a:off x="1064545" y="8657"/>
            <a:ext cx="9574094" cy="6858000"/>
            <a:chOff x="491575" y="0"/>
            <a:chExt cx="9574094" cy="6858000"/>
          </a:xfrm>
        </p:grpSpPr>
        <p:sp>
          <p:nvSpPr>
            <p:cNvPr id="96" name="Rectangle 95">
              <a:extLst>
                <a:ext uri="{FF2B5EF4-FFF2-40B4-BE49-F238E27FC236}">
                  <a16:creationId xmlns:a16="http://schemas.microsoft.com/office/drawing/2014/main" id="{B3D787E0-9ABE-0E27-28D2-FE670A6E7107}"/>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83162F82-6B1E-5496-11DE-3AD94583205F}"/>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B01CB282-F2ED-6847-90A6-54E751EBD93E}"/>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F5F3733E-30B0-6ED6-850F-643A3233A8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D8647553-350A-6402-31B5-32DECD3E4E6E}"/>
              </a:ext>
            </a:extLst>
          </p:cNvPr>
          <p:cNvGrpSpPr/>
          <p:nvPr/>
        </p:nvGrpSpPr>
        <p:grpSpPr>
          <a:xfrm>
            <a:off x="-1700240" y="26421"/>
            <a:ext cx="11860720" cy="6858000"/>
            <a:chOff x="-2449883" y="-1"/>
            <a:chExt cx="11860720" cy="6858000"/>
          </a:xfrm>
        </p:grpSpPr>
        <p:sp>
          <p:nvSpPr>
            <p:cNvPr id="72" name="Rectangle 71">
              <a:extLst>
                <a:ext uri="{FF2B5EF4-FFF2-40B4-BE49-F238E27FC236}">
                  <a16:creationId xmlns:a16="http://schemas.microsoft.com/office/drawing/2014/main" id="{34855813-C126-B03A-452E-817E239C6A32}"/>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46D3A2DC-8005-86A8-BD25-4897CA97924F}"/>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068402B0-BED9-1BCD-8298-0C567B9FD0FA}"/>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856E2980-1F7F-E71F-84E1-3A57709B017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4489AFEC-8F66-6F40-819E-78EAA6FC0891}"/>
              </a:ext>
            </a:extLst>
          </p:cNvPr>
          <p:cNvGrpSpPr/>
          <p:nvPr/>
        </p:nvGrpSpPr>
        <p:grpSpPr>
          <a:xfrm>
            <a:off x="900461" y="16095"/>
            <a:ext cx="8715540" cy="6858000"/>
            <a:chOff x="738223" y="-132058"/>
            <a:chExt cx="8715540" cy="6858000"/>
          </a:xfrm>
        </p:grpSpPr>
        <p:sp>
          <p:nvSpPr>
            <p:cNvPr id="3" name="Rectangle 2">
              <a:extLst>
                <a:ext uri="{FF2B5EF4-FFF2-40B4-BE49-F238E27FC236}">
                  <a16:creationId xmlns:a16="http://schemas.microsoft.com/office/drawing/2014/main" id="{CF67D179-6DF6-D6F3-6AB0-CB182D4B65DA}"/>
                </a:ext>
              </a:extLst>
            </p:cNvPr>
            <p:cNvSpPr/>
            <p:nvPr/>
          </p:nvSpPr>
          <p:spPr>
            <a:xfrm>
              <a:off x="738223" y="-132058"/>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3B89A302-1B75-DED2-311F-DD46F47A2254}"/>
                </a:ext>
              </a:extLst>
            </p:cNvPr>
            <p:cNvSpPr/>
            <p:nvPr/>
          </p:nvSpPr>
          <p:spPr>
            <a:xfrm>
              <a:off x="8266515" y="224212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E0FB71A4-2636-020F-77F8-1014506CDA56}"/>
                </a:ext>
              </a:extLst>
            </p:cNvPr>
            <p:cNvSpPr txBox="1"/>
            <p:nvPr/>
          </p:nvSpPr>
          <p:spPr>
            <a:xfrm rot="16200000">
              <a:off x="8134555" y="317685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6" name="Picture 5">
              <a:extLst>
                <a:ext uri="{FF2B5EF4-FFF2-40B4-BE49-F238E27FC236}">
                  <a16:creationId xmlns:a16="http://schemas.microsoft.com/office/drawing/2014/main" id="{83CCC523-6850-EDAD-CF36-7B75F54DAE3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 name="Group 6">
            <a:extLst>
              <a:ext uri="{FF2B5EF4-FFF2-40B4-BE49-F238E27FC236}">
                <a16:creationId xmlns:a16="http://schemas.microsoft.com/office/drawing/2014/main" id="{D4C6EC91-DA01-2CB9-DC52-48A6642D6496}"/>
              </a:ext>
            </a:extLst>
          </p:cNvPr>
          <p:cNvGrpSpPr/>
          <p:nvPr/>
        </p:nvGrpSpPr>
        <p:grpSpPr>
          <a:xfrm>
            <a:off x="362823" y="32569"/>
            <a:ext cx="8692332" cy="6858000"/>
            <a:chOff x="718505" y="-1"/>
            <a:chExt cx="8692332" cy="6858000"/>
          </a:xfrm>
        </p:grpSpPr>
        <p:sp>
          <p:nvSpPr>
            <p:cNvPr id="8" name="Rectangle 7">
              <a:extLst>
                <a:ext uri="{FF2B5EF4-FFF2-40B4-BE49-F238E27FC236}">
                  <a16:creationId xmlns:a16="http://schemas.microsoft.com/office/drawing/2014/main" id="{5C482EAD-D426-81EB-1F29-397DE768F043}"/>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EC4270BF-8A5C-3210-51B0-662EB679AFB8}"/>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D4ED9B71-3D1B-42E6-E2FD-75C060C07B06}"/>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77365DAE-FA0F-8391-0402-F4DBA477641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2" name="Group 11">
            <a:extLst>
              <a:ext uri="{FF2B5EF4-FFF2-40B4-BE49-F238E27FC236}">
                <a16:creationId xmlns:a16="http://schemas.microsoft.com/office/drawing/2014/main" id="{58C21DC8-D1F1-8EE5-4EF6-0BE67D448FAA}"/>
              </a:ext>
            </a:extLst>
          </p:cNvPr>
          <p:cNvGrpSpPr/>
          <p:nvPr/>
        </p:nvGrpSpPr>
        <p:grpSpPr>
          <a:xfrm>
            <a:off x="-9255682" y="26421"/>
            <a:ext cx="9574094" cy="6858000"/>
            <a:chOff x="491575" y="0"/>
            <a:chExt cx="9574094" cy="6858000"/>
          </a:xfrm>
        </p:grpSpPr>
        <p:sp>
          <p:nvSpPr>
            <p:cNvPr id="13" name="Rectangle 12">
              <a:extLst>
                <a:ext uri="{FF2B5EF4-FFF2-40B4-BE49-F238E27FC236}">
                  <a16:creationId xmlns:a16="http://schemas.microsoft.com/office/drawing/2014/main" id="{5A67C638-311B-460B-2396-AE0B3AF40607}"/>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1BCEC285-DA97-A773-1AA9-B871A7AD05FE}"/>
                </a:ext>
              </a:extLst>
            </p:cNvPr>
            <p:cNvSpPr/>
            <p:nvPr/>
          </p:nvSpPr>
          <p:spPr>
            <a:xfrm>
              <a:off x="8897262" y="2385043"/>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BC7E5AC9-5820-A849-0933-6FC56CA2FEED}"/>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6" name="Picture 15">
              <a:extLst>
                <a:ext uri="{FF2B5EF4-FFF2-40B4-BE49-F238E27FC236}">
                  <a16:creationId xmlns:a16="http://schemas.microsoft.com/office/drawing/2014/main" id="{6D98A855-4BB1-B71A-0CA1-7D5B038F4E0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22" name="Group 21">
            <a:extLst>
              <a:ext uri="{FF2B5EF4-FFF2-40B4-BE49-F238E27FC236}">
                <a16:creationId xmlns:a16="http://schemas.microsoft.com/office/drawing/2014/main" id="{5D781A12-C725-CCAB-DD95-32C61D8B4D7E}"/>
              </a:ext>
            </a:extLst>
          </p:cNvPr>
          <p:cNvGrpSpPr/>
          <p:nvPr/>
        </p:nvGrpSpPr>
        <p:grpSpPr>
          <a:xfrm>
            <a:off x="-8916092" y="0"/>
            <a:ext cx="8692332" cy="6858000"/>
            <a:chOff x="718505" y="-57982"/>
            <a:chExt cx="8692332" cy="6858000"/>
          </a:xfrm>
        </p:grpSpPr>
        <p:sp>
          <p:nvSpPr>
            <p:cNvPr id="23" name="Rectangle 22">
              <a:extLst>
                <a:ext uri="{FF2B5EF4-FFF2-40B4-BE49-F238E27FC236}">
                  <a16:creationId xmlns:a16="http://schemas.microsoft.com/office/drawing/2014/main" id="{721C654A-5E08-44CA-D065-4C728AB7836E}"/>
                </a:ext>
              </a:extLst>
            </p:cNvPr>
            <p:cNvSpPr/>
            <p:nvPr/>
          </p:nvSpPr>
          <p:spPr>
            <a:xfrm>
              <a:off x="718505" y="-57982"/>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E00191A4-A38C-752B-2E05-9BC27F1A0C7A}"/>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EA110BE4-860C-6119-CE74-BA64902429A8}"/>
                </a:ext>
              </a:extLst>
            </p:cNvPr>
            <p:cNvSpPr txBox="1"/>
            <p:nvPr/>
          </p:nvSpPr>
          <p:spPr>
            <a:xfrm rot="16200000">
              <a:off x="8025849" y="3255388"/>
              <a:ext cx="212364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6" name="Picture 25">
              <a:extLst>
                <a:ext uri="{FF2B5EF4-FFF2-40B4-BE49-F238E27FC236}">
                  <a16:creationId xmlns:a16="http://schemas.microsoft.com/office/drawing/2014/main" id="{5478BCFB-EA0D-05D7-67AF-185137435D4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28" name="TextBox 27">
            <a:extLst>
              <a:ext uri="{FF2B5EF4-FFF2-40B4-BE49-F238E27FC236}">
                <a16:creationId xmlns:a16="http://schemas.microsoft.com/office/drawing/2014/main" id="{5DA7BFE7-B54C-16E1-F1F6-CA13DB816C2B}"/>
              </a:ext>
            </a:extLst>
          </p:cNvPr>
          <p:cNvSpPr txBox="1"/>
          <p:nvPr/>
        </p:nvSpPr>
        <p:spPr>
          <a:xfrm>
            <a:off x="3317358" y="225510"/>
            <a:ext cx="2190307" cy="461665"/>
          </a:xfrm>
          <a:prstGeom prst="rect">
            <a:avLst/>
          </a:prstGeom>
          <a:noFill/>
        </p:spPr>
        <p:txBody>
          <a:bodyPr wrap="square" rtlCol="0">
            <a:spAutoFit/>
          </a:bodyPr>
          <a:lstStyle/>
          <a:p>
            <a:pPr algn="ctr"/>
            <a:r>
              <a:rPr lang="en-IN" sz="2400" dirty="0">
                <a:solidFill>
                  <a:srgbClr val="92D050"/>
                </a:solidFill>
                <a:latin typeface="Berlin Sans FB Demi" panose="020E0802020502020306" pitchFamily="34" charset="0"/>
              </a:rPr>
              <a:t>SQL</a:t>
            </a:r>
          </a:p>
        </p:txBody>
      </p:sp>
      <p:sp>
        <p:nvSpPr>
          <p:cNvPr id="17" name="TextBox 16">
            <a:extLst>
              <a:ext uri="{FF2B5EF4-FFF2-40B4-BE49-F238E27FC236}">
                <a16:creationId xmlns:a16="http://schemas.microsoft.com/office/drawing/2014/main" id="{7B6E85F6-6CE7-1E88-BFD5-04CFA87802A3}"/>
              </a:ext>
            </a:extLst>
          </p:cNvPr>
          <p:cNvSpPr txBox="1"/>
          <p:nvPr/>
        </p:nvSpPr>
        <p:spPr>
          <a:xfrm>
            <a:off x="600075" y="687176"/>
            <a:ext cx="5162550" cy="2354491"/>
          </a:xfrm>
          <a:prstGeom prst="rect">
            <a:avLst/>
          </a:prstGeom>
          <a:noFill/>
        </p:spPr>
        <p:txBody>
          <a:bodyPr wrap="square" rtlCol="0">
            <a:spAutoFit/>
          </a:bodyPr>
          <a:lstStyle/>
          <a:p>
            <a:r>
              <a:rPr lang="en-US" sz="1050" b="1" dirty="0">
                <a:solidFill>
                  <a:schemeClr val="tx1">
                    <a:lumMod val="75000"/>
                    <a:lumOff val="25000"/>
                  </a:schemeClr>
                </a:solidFill>
              </a:rPr>
              <a:t>1) Weekday Vs Weekend (order_purchase_timestamp) Payment Statistics.</a:t>
            </a:r>
          </a:p>
          <a:p>
            <a:endParaRPr lang="en-US" sz="1050" b="1" dirty="0">
              <a:solidFill>
                <a:schemeClr val="tx1">
                  <a:lumMod val="75000"/>
                  <a:lumOff val="25000"/>
                </a:schemeClr>
              </a:solidFill>
            </a:endParaRPr>
          </a:p>
          <a:p>
            <a:r>
              <a:rPr lang="en-US" sz="1050" dirty="0">
                <a:solidFill>
                  <a:schemeClr val="tx1">
                    <a:lumMod val="75000"/>
                    <a:lumOff val="25000"/>
                  </a:schemeClr>
                </a:solidFill>
              </a:rPr>
              <a:t>SELECT Kpi1.`Day type`,</a:t>
            </a:r>
          </a:p>
          <a:p>
            <a:r>
              <a:rPr lang="en-US" sz="1050" dirty="0">
                <a:solidFill>
                  <a:schemeClr val="tx1">
                    <a:lumMod val="75000"/>
                    <a:lumOff val="25000"/>
                  </a:schemeClr>
                </a:solidFill>
              </a:rPr>
              <a:t>CONCAT(ROUND(</a:t>
            </a:r>
          </a:p>
          <a:p>
            <a:r>
              <a:rPr lang="en-US" sz="1050" dirty="0">
                <a:solidFill>
                  <a:schemeClr val="tx1">
                    <a:lumMod val="75000"/>
                    <a:lumOff val="25000"/>
                  </a:schemeClr>
                </a:solidFill>
              </a:rPr>
              <a:t>Kpi1.total_payments / (SELECT SUM(payment_value) FROM order_payments) * 100,2),' %') AS `Payment Values (%)`</a:t>
            </a:r>
          </a:p>
          <a:p>
            <a:r>
              <a:rPr lang="en-US" sz="1050" dirty="0">
                <a:solidFill>
                  <a:schemeClr val="tx1">
                    <a:lumMod val="75000"/>
                    <a:lumOff val="25000"/>
                  </a:schemeClr>
                </a:solidFill>
              </a:rPr>
              <a:t>FROM (SELECT ord.`Day type`, SUM(pmt.payment_value) AS total_payments</a:t>
            </a:r>
          </a:p>
          <a:p>
            <a:r>
              <a:rPr lang="en-US" sz="1050" dirty="0">
                <a:solidFill>
                  <a:schemeClr val="tx1">
                    <a:lumMod val="75000"/>
                    <a:lumOff val="25000"/>
                  </a:schemeClr>
                </a:solidFill>
              </a:rPr>
              <a:t>FROM order_payments AS pmt</a:t>
            </a:r>
          </a:p>
          <a:p>
            <a:r>
              <a:rPr lang="en-US" sz="1050" dirty="0">
                <a:solidFill>
                  <a:schemeClr val="tx1">
                    <a:lumMod val="75000"/>
                    <a:lumOff val="25000"/>
                  </a:schemeClr>
                </a:solidFill>
              </a:rPr>
              <a:t>JOIN (SELECT DISTINCT order_id, CASE</a:t>
            </a:r>
          </a:p>
          <a:p>
            <a:r>
              <a:rPr lang="en-US" sz="1050" dirty="0">
                <a:solidFill>
                  <a:schemeClr val="tx1">
                    <a:lumMod val="75000"/>
                    <a:lumOff val="25000"/>
                  </a:schemeClr>
                </a:solidFill>
              </a:rPr>
              <a:t>WHEN WEEKDAY(order_purchase_timestamp) IN (5,6) </a:t>
            </a:r>
          </a:p>
          <a:p>
            <a:r>
              <a:rPr lang="en-US" sz="1050" dirty="0">
                <a:solidFill>
                  <a:schemeClr val="tx1">
                    <a:lumMod val="75000"/>
                    <a:lumOff val="25000"/>
                  </a:schemeClr>
                </a:solidFill>
              </a:rPr>
              <a:t>THEN 'Weekend'ELSE 'Weekday'</a:t>
            </a:r>
          </a:p>
          <a:p>
            <a:r>
              <a:rPr lang="en-US" sz="1050" dirty="0">
                <a:solidFill>
                  <a:schemeClr val="tx1">
                    <a:lumMod val="75000"/>
                    <a:lumOff val="25000"/>
                  </a:schemeClr>
                </a:solidFill>
              </a:rPr>
              <a:t>END AS `Day type`</a:t>
            </a:r>
          </a:p>
          <a:p>
            <a:r>
              <a:rPr lang="en-US" sz="1050" dirty="0">
                <a:solidFill>
                  <a:schemeClr val="tx1">
                    <a:lumMod val="75000"/>
                    <a:lumOff val="25000"/>
                  </a:schemeClr>
                </a:solidFill>
              </a:rPr>
              <a:t>FROM orders ) AS ord ON ord.order_id = pmt.order_id</a:t>
            </a:r>
          </a:p>
          <a:p>
            <a:r>
              <a:rPr lang="en-US" sz="1050" dirty="0">
                <a:solidFill>
                  <a:schemeClr val="tx1">
                    <a:lumMod val="75000"/>
                    <a:lumOff val="25000"/>
                  </a:schemeClr>
                </a:solidFill>
              </a:rPr>
              <a:t>GROUP BY ord.`Day type`) AS Kpi1;</a:t>
            </a:r>
            <a:endParaRPr lang="en-IN" sz="1050" dirty="0">
              <a:solidFill>
                <a:schemeClr val="tx1">
                  <a:lumMod val="75000"/>
                  <a:lumOff val="25000"/>
                </a:schemeClr>
              </a:solidFill>
            </a:endParaRPr>
          </a:p>
        </p:txBody>
      </p:sp>
      <p:pic>
        <p:nvPicPr>
          <p:cNvPr id="19" name="Picture 18">
            <a:extLst>
              <a:ext uri="{FF2B5EF4-FFF2-40B4-BE49-F238E27FC236}">
                <a16:creationId xmlns:a16="http://schemas.microsoft.com/office/drawing/2014/main" id="{A8F43107-1534-B411-60F4-AFBA581461E6}"/>
              </a:ext>
            </a:extLst>
          </p:cNvPr>
          <p:cNvPicPr>
            <a:picLocks noChangeAspect="1"/>
          </p:cNvPicPr>
          <p:nvPr/>
        </p:nvPicPr>
        <p:blipFill>
          <a:blip r:embed="rId3">
            <a:extLst>
              <a:ext uri="{28A0092B-C50C-407E-A947-70E740481C1C}">
                <a14:useLocalDpi xmlns:a14="http://schemas.microsoft.com/office/drawing/2010/main" val="0"/>
              </a:ext>
            </a:extLst>
          </a:blip>
          <a:srcRect l="13725" r="9580"/>
          <a:stretch>
            <a:fillRect/>
          </a:stretch>
        </p:blipFill>
        <p:spPr>
          <a:xfrm>
            <a:off x="5762625" y="885827"/>
            <a:ext cx="2650955" cy="1495425"/>
          </a:xfrm>
          <a:prstGeom prst="rect">
            <a:avLst/>
          </a:prstGeom>
        </p:spPr>
      </p:pic>
      <p:sp>
        <p:nvSpPr>
          <p:cNvPr id="20" name="TextBox 19">
            <a:extLst>
              <a:ext uri="{FF2B5EF4-FFF2-40B4-BE49-F238E27FC236}">
                <a16:creationId xmlns:a16="http://schemas.microsoft.com/office/drawing/2014/main" id="{E24AB8E6-4E77-FD47-AD4B-196654937CBC}"/>
              </a:ext>
            </a:extLst>
          </p:cNvPr>
          <p:cNvSpPr txBox="1"/>
          <p:nvPr/>
        </p:nvSpPr>
        <p:spPr>
          <a:xfrm>
            <a:off x="619587" y="3111997"/>
            <a:ext cx="5133975" cy="1384995"/>
          </a:xfrm>
          <a:prstGeom prst="rect">
            <a:avLst/>
          </a:prstGeom>
          <a:noFill/>
        </p:spPr>
        <p:txBody>
          <a:bodyPr wrap="square" rtlCol="0">
            <a:spAutoFit/>
          </a:bodyPr>
          <a:lstStyle/>
          <a:p>
            <a:r>
              <a:rPr lang="en-US" sz="1050" b="1" dirty="0">
                <a:solidFill>
                  <a:schemeClr val="tx1">
                    <a:lumMod val="75000"/>
                    <a:lumOff val="25000"/>
                  </a:schemeClr>
                </a:solidFill>
              </a:rPr>
              <a:t>2) Number of Orders with review score 5 and payment type as credit card.</a:t>
            </a:r>
          </a:p>
          <a:p>
            <a:endParaRPr lang="en-US" sz="1050" dirty="0">
              <a:solidFill>
                <a:schemeClr val="tx1">
                  <a:lumMod val="75000"/>
                  <a:lumOff val="25000"/>
                </a:schemeClr>
              </a:solidFill>
            </a:endParaRPr>
          </a:p>
          <a:p>
            <a:r>
              <a:rPr lang="en-US" sz="1050" dirty="0">
                <a:solidFill>
                  <a:schemeClr val="tx1">
                    <a:lumMod val="75000"/>
                    <a:lumOff val="25000"/>
                  </a:schemeClr>
                </a:solidFill>
              </a:rPr>
              <a:t>SELECT FORMAT(COUNT(pmt.order_id), 0) AS `Total Orders`</a:t>
            </a:r>
          </a:p>
          <a:p>
            <a:r>
              <a:rPr lang="en-US" sz="1050" dirty="0">
                <a:solidFill>
                  <a:schemeClr val="tx1">
                    <a:lumMod val="75000"/>
                    <a:lumOff val="25000"/>
                  </a:schemeClr>
                </a:solidFill>
              </a:rPr>
              <a:t>FROM order_payments pmt</a:t>
            </a:r>
          </a:p>
          <a:p>
            <a:r>
              <a:rPr lang="en-US" sz="1050" dirty="0">
                <a:solidFill>
                  <a:schemeClr val="tx1">
                    <a:lumMod val="75000"/>
                    <a:lumOff val="25000"/>
                  </a:schemeClr>
                </a:solidFill>
              </a:rPr>
              <a:t>INNER JOIN reviews rev</a:t>
            </a:r>
          </a:p>
          <a:p>
            <a:r>
              <a:rPr lang="en-US" sz="1050" dirty="0">
                <a:solidFill>
                  <a:schemeClr val="tx1">
                    <a:lumMod val="75000"/>
                    <a:lumOff val="25000"/>
                  </a:schemeClr>
                </a:solidFill>
              </a:rPr>
              <a:t>ON pmt.order_id = rev.order_id</a:t>
            </a:r>
          </a:p>
          <a:p>
            <a:r>
              <a:rPr lang="en-US" sz="1050" dirty="0">
                <a:solidFill>
                  <a:schemeClr val="tx1">
                    <a:lumMod val="75000"/>
                    <a:lumOff val="25000"/>
                  </a:schemeClr>
                </a:solidFill>
              </a:rPr>
              <a:t>WHERE rev.review_score = 5</a:t>
            </a:r>
          </a:p>
          <a:p>
            <a:r>
              <a:rPr lang="en-US" sz="1050" dirty="0">
                <a:solidFill>
                  <a:schemeClr val="tx1">
                    <a:lumMod val="75000"/>
                    <a:lumOff val="25000"/>
                  </a:schemeClr>
                </a:solidFill>
              </a:rPr>
              <a:t>AND pmt.payment_type = 'Credit_Card';</a:t>
            </a:r>
            <a:endParaRPr lang="en-IN" sz="1050" dirty="0">
              <a:solidFill>
                <a:schemeClr val="tx1">
                  <a:lumMod val="75000"/>
                  <a:lumOff val="25000"/>
                </a:schemeClr>
              </a:solidFill>
            </a:endParaRPr>
          </a:p>
        </p:txBody>
      </p:sp>
      <p:pic>
        <p:nvPicPr>
          <p:cNvPr id="27" name="Picture 26">
            <a:extLst>
              <a:ext uri="{FF2B5EF4-FFF2-40B4-BE49-F238E27FC236}">
                <a16:creationId xmlns:a16="http://schemas.microsoft.com/office/drawing/2014/main" id="{DC0E53D5-D315-B902-19DA-C8CA025B5690}"/>
              </a:ext>
            </a:extLst>
          </p:cNvPr>
          <p:cNvPicPr>
            <a:picLocks noChangeAspect="1"/>
          </p:cNvPicPr>
          <p:nvPr/>
        </p:nvPicPr>
        <p:blipFill>
          <a:blip r:embed="rId4">
            <a:extLst>
              <a:ext uri="{28A0092B-C50C-407E-A947-70E740481C1C}">
                <a14:useLocalDpi xmlns:a14="http://schemas.microsoft.com/office/drawing/2010/main" val="0"/>
              </a:ext>
            </a:extLst>
          </a:blip>
          <a:srcRect l="4855" t="10654" r="37419" b="28300"/>
          <a:stretch>
            <a:fillRect/>
          </a:stretch>
        </p:blipFill>
        <p:spPr>
          <a:xfrm>
            <a:off x="5758813" y="3118045"/>
            <a:ext cx="2101433" cy="1337370"/>
          </a:xfrm>
          <a:prstGeom prst="rect">
            <a:avLst/>
          </a:prstGeom>
        </p:spPr>
      </p:pic>
      <p:sp>
        <p:nvSpPr>
          <p:cNvPr id="29" name="TextBox 28">
            <a:extLst>
              <a:ext uri="{FF2B5EF4-FFF2-40B4-BE49-F238E27FC236}">
                <a16:creationId xmlns:a16="http://schemas.microsoft.com/office/drawing/2014/main" id="{B2EF9907-7DDC-7B3C-EA48-CDE552BCD4A4}"/>
              </a:ext>
            </a:extLst>
          </p:cNvPr>
          <p:cNvSpPr txBox="1"/>
          <p:nvPr/>
        </p:nvSpPr>
        <p:spPr>
          <a:xfrm>
            <a:off x="613996" y="4632523"/>
            <a:ext cx="5047788" cy="2192908"/>
          </a:xfrm>
          <a:prstGeom prst="rect">
            <a:avLst/>
          </a:prstGeom>
          <a:noFill/>
        </p:spPr>
        <p:txBody>
          <a:bodyPr wrap="square" rtlCol="0">
            <a:spAutoFit/>
          </a:bodyPr>
          <a:lstStyle/>
          <a:p>
            <a:r>
              <a:rPr lang="en-IN" sz="1050" b="1" dirty="0">
                <a:solidFill>
                  <a:schemeClr val="tx1">
                    <a:lumMod val="75000"/>
                    <a:lumOff val="25000"/>
                  </a:schemeClr>
                </a:solidFill>
              </a:rPr>
              <a:t>3) Average number of days taken for order_delivered_customer_date for pet_shop.</a:t>
            </a:r>
          </a:p>
          <a:p>
            <a:endParaRPr lang="en-IN" sz="1050" dirty="0">
              <a:solidFill>
                <a:schemeClr val="tx1">
                  <a:lumMod val="75000"/>
                  <a:lumOff val="25000"/>
                </a:schemeClr>
              </a:solidFill>
            </a:endParaRPr>
          </a:p>
          <a:p>
            <a:r>
              <a:rPr lang="en-IN" sz="1050" dirty="0">
                <a:solidFill>
                  <a:schemeClr val="tx1">
                    <a:lumMod val="75000"/>
                    <a:lumOff val="25000"/>
                  </a:schemeClr>
                </a:solidFill>
              </a:rPr>
              <a:t>SELECT p.product_category_name AS `Product category name`,</a:t>
            </a:r>
          </a:p>
          <a:p>
            <a:r>
              <a:rPr lang="en-IN" sz="1050" dirty="0">
                <a:solidFill>
                  <a:schemeClr val="tx1">
                    <a:lumMod val="75000"/>
                    <a:lumOff val="25000"/>
                  </a:schemeClr>
                </a:solidFill>
              </a:rPr>
              <a:t>CONCAT(ROUND(AVG(DATEDIFF(ord.order_delivered_customer_date,ord.order_purchase_timestamp))),' Days') AS `Avg delivery days`</a:t>
            </a:r>
          </a:p>
          <a:p>
            <a:r>
              <a:rPr lang="en-IN" sz="1050" dirty="0">
                <a:solidFill>
                  <a:schemeClr val="tx1">
                    <a:lumMod val="75000"/>
                    <a:lumOff val="25000"/>
                  </a:schemeClr>
                </a:solidFill>
              </a:rPr>
              <a:t>FROM orders ord</a:t>
            </a:r>
          </a:p>
          <a:p>
            <a:r>
              <a:rPr lang="en-IN" sz="1050" dirty="0">
                <a:solidFill>
                  <a:schemeClr val="tx1">
                    <a:lumMod val="75000"/>
                    <a:lumOff val="25000"/>
                  </a:schemeClr>
                </a:solidFill>
              </a:rPr>
              <a:t>JOIN order_items oi</a:t>
            </a:r>
          </a:p>
          <a:p>
            <a:r>
              <a:rPr lang="en-IN" sz="1050" dirty="0">
                <a:solidFill>
                  <a:schemeClr val="tx1">
                    <a:lumMod val="75000"/>
                    <a:lumOff val="25000"/>
                  </a:schemeClr>
                </a:solidFill>
              </a:rPr>
              <a:t>ON ord.order_id = oi.order_id</a:t>
            </a:r>
          </a:p>
          <a:p>
            <a:r>
              <a:rPr lang="en-IN" sz="1050" dirty="0">
                <a:solidFill>
                  <a:schemeClr val="tx1">
                    <a:lumMod val="75000"/>
                    <a:lumOff val="25000"/>
                  </a:schemeClr>
                </a:solidFill>
              </a:rPr>
              <a:t>JOIN products p</a:t>
            </a:r>
          </a:p>
          <a:p>
            <a:r>
              <a:rPr lang="en-IN" sz="1050" dirty="0">
                <a:solidFill>
                  <a:schemeClr val="tx1">
                    <a:lumMod val="75000"/>
                    <a:lumOff val="25000"/>
                  </a:schemeClr>
                </a:solidFill>
              </a:rPr>
              <a:t>ON oi.product_id = p.product_id</a:t>
            </a:r>
          </a:p>
          <a:p>
            <a:r>
              <a:rPr lang="en-IN" sz="1050" dirty="0">
                <a:solidFill>
                  <a:schemeClr val="tx1">
                    <a:lumMod val="75000"/>
                    <a:lumOff val="25000"/>
                  </a:schemeClr>
                </a:solidFill>
              </a:rPr>
              <a:t>WHERE p.product_category_name = 'pet_shop'</a:t>
            </a:r>
          </a:p>
          <a:p>
            <a:r>
              <a:rPr lang="en-IN" sz="1050" dirty="0">
                <a:solidFill>
                  <a:schemeClr val="tx1">
                    <a:lumMod val="75000"/>
                    <a:lumOff val="25000"/>
                  </a:schemeClr>
                </a:solidFill>
              </a:rPr>
              <a:t>AND ord.order_delivered_customer_date IS NOT NULL</a:t>
            </a:r>
          </a:p>
          <a:p>
            <a:r>
              <a:rPr lang="en-IN" sz="1050" dirty="0">
                <a:solidFill>
                  <a:schemeClr val="tx1">
                    <a:lumMod val="75000"/>
                    <a:lumOff val="25000"/>
                  </a:schemeClr>
                </a:solidFill>
              </a:rPr>
              <a:t>GROUP BY p.product_category_name;</a:t>
            </a:r>
          </a:p>
        </p:txBody>
      </p:sp>
      <p:pic>
        <p:nvPicPr>
          <p:cNvPr id="31" name="Picture 30">
            <a:extLst>
              <a:ext uri="{FF2B5EF4-FFF2-40B4-BE49-F238E27FC236}">
                <a16:creationId xmlns:a16="http://schemas.microsoft.com/office/drawing/2014/main" id="{B2048D8C-98DD-FC32-BDF8-01DBEC73E31D}"/>
              </a:ext>
            </a:extLst>
          </p:cNvPr>
          <p:cNvPicPr>
            <a:picLocks noChangeAspect="1"/>
          </p:cNvPicPr>
          <p:nvPr/>
        </p:nvPicPr>
        <p:blipFill>
          <a:blip r:embed="rId5">
            <a:extLst>
              <a:ext uri="{28A0092B-C50C-407E-A947-70E740481C1C}">
                <a14:useLocalDpi xmlns:a14="http://schemas.microsoft.com/office/drawing/2010/main" val="0"/>
              </a:ext>
            </a:extLst>
          </a:blip>
          <a:srcRect l="3791" r="27201" b="19538"/>
          <a:stretch>
            <a:fillRect/>
          </a:stretch>
        </p:blipFill>
        <p:spPr>
          <a:xfrm>
            <a:off x="5750391" y="4989735"/>
            <a:ext cx="2678362" cy="1563465"/>
          </a:xfrm>
          <a:prstGeom prst="rect">
            <a:avLst/>
          </a:prstGeom>
        </p:spPr>
      </p:pic>
    </p:spTree>
    <p:extLst>
      <p:ext uri="{BB962C8B-B14F-4D97-AF65-F5344CB8AC3E}">
        <p14:creationId xmlns:p14="http://schemas.microsoft.com/office/powerpoint/2010/main" val="82234794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2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DBC6DB-AA6E-8BAB-B6C4-734CCFD63B03}"/>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EF2C7A57-FE4D-7D0B-72D0-859C15D13014}"/>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CF1E171C-061E-B01C-E25E-320806D5A02D}"/>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9F5DDFE3-6CDE-118C-E889-EFD512276641}"/>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70D71119-4AF9-24BB-7D19-A34E850CF0BB}"/>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723507A0-C58A-82F4-0BA4-924A1BA6246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34AF7619-369F-36D5-3E92-E8D87138C084}"/>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49B8A734-CD34-9B90-13CB-E6D7AC76A344}"/>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1D2B730B-45BA-F71D-5840-281B5343389B}"/>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7C80F267-9DF2-2636-8436-132CF7C4E134}"/>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FC0F6A76-8861-6065-3B71-DA0112B74F9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70A2C37E-BCA5-7DB9-499D-56057C06D16A}"/>
              </a:ext>
            </a:extLst>
          </p:cNvPr>
          <p:cNvGrpSpPr/>
          <p:nvPr/>
        </p:nvGrpSpPr>
        <p:grpSpPr>
          <a:xfrm>
            <a:off x="1187631" y="0"/>
            <a:ext cx="9961092" cy="6858000"/>
            <a:chOff x="491575" y="0"/>
            <a:chExt cx="9961092" cy="6858000"/>
          </a:xfrm>
        </p:grpSpPr>
        <p:sp>
          <p:nvSpPr>
            <p:cNvPr id="61" name="Rectangle 60">
              <a:extLst>
                <a:ext uri="{FF2B5EF4-FFF2-40B4-BE49-F238E27FC236}">
                  <a16:creationId xmlns:a16="http://schemas.microsoft.com/office/drawing/2014/main" id="{3744C28B-8449-E6A5-F138-C77ABA10CFDE}"/>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C8B83C91-70FB-A6A1-6EC5-40C5A2B4706D}"/>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0BE142D1-CBB6-B236-F9DC-D0FB68B3D763}"/>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77A29809-64C2-5EBB-40DA-D20F43F7AE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a16="http://schemas.microsoft.com/office/drawing/2014/main" id="{CD20C640-E33F-40C9-36A7-349D8E6B4D26}"/>
              </a:ext>
            </a:extLst>
          </p:cNvPr>
          <p:cNvGrpSpPr/>
          <p:nvPr/>
        </p:nvGrpSpPr>
        <p:grpSpPr>
          <a:xfrm>
            <a:off x="1064545" y="8657"/>
            <a:ext cx="9574094" cy="6858000"/>
            <a:chOff x="491575" y="0"/>
            <a:chExt cx="9574094" cy="6858000"/>
          </a:xfrm>
        </p:grpSpPr>
        <p:sp>
          <p:nvSpPr>
            <p:cNvPr id="96" name="Rectangle 95">
              <a:extLst>
                <a:ext uri="{FF2B5EF4-FFF2-40B4-BE49-F238E27FC236}">
                  <a16:creationId xmlns:a16="http://schemas.microsoft.com/office/drawing/2014/main" id="{AE158B2E-1E9E-523B-3083-F75F2E4C1EB9}"/>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32F2343E-730B-3E62-C665-E751778FA15C}"/>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2884C321-D9FD-0ED5-FEFA-F2BDF83D2008}"/>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6E29B56D-2A8D-C863-9A96-BA1DEFD64C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A1F05BFC-6911-9883-8948-AF9B4D22EF68}"/>
              </a:ext>
            </a:extLst>
          </p:cNvPr>
          <p:cNvGrpSpPr/>
          <p:nvPr/>
        </p:nvGrpSpPr>
        <p:grpSpPr>
          <a:xfrm>
            <a:off x="-1700240" y="26421"/>
            <a:ext cx="11821168" cy="6858000"/>
            <a:chOff x="-2449883" y="-1"/>
            <a:chExt cx="11860720" cy="6858000"/>
          </a:xfrm>
        </p:grpSpPr>
        <p:sp>
          <p:nvSpPr>
            <p:cNvPr id="72" name="Rectangle 71">
              <a:extLst>
                <a:ext uri="{FF2B5EF4-FFF2-40B4-BE49-F238E27FC236}">
                  <a16:creationId xmlns:a16="http://schemas.microsoft.com/office/drawing/2014/main" id="{1E4BF0C8-F638-41AA-42FD-A25CF541D1C8}"/>
                </a:ext>
              </a:extLst>
            </p:cNvPr>
            <p:cNvSpPr/>
            <p:nvPr/>
          </p:nvSpPr>
          <p:spPr>
            <a:xfrm>
              <a:off x="-2449883" y="-1"/>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5EEB84E6-A18B-BE54-0B59-9477E36ACE31}"/>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E1FDCF1F-E6AE-4AA2-B027-C948FCB6E3DE}"/>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50EE351C-5656-D55B-DED0-35FDDE4385D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29386F5E-D6A9-2ACC-8E01-3D17DCC4DECE}"/>
              </a:ext>
            </a:extLst>
          </p:cNvPr>
          <p:cNvGrpSpPr/>
          <p:nvPr/>
        </p:nvGrpSpPr>
        <p:grpSpPr>
          <a:xfrm>
            <a:off x="900461" y="16095"/>
            <a:ext cx="8715540" cy="6858000"/>
            <a:chOff x="738223" y="-132058"/>
            <a:chExt cx="8715540" cy="6858000"/>
          </a:xfrm>
        </p:grpSpPr>
        <p:sp>
          <p:nvSpPr>
            <p:cNvPr id="3" name="Rectangle 2">
              <a:extLst>
                <a:ext uri="{FF2B5EF4-FFF2-40B4-BE49-F238E27FC236}">
                  <a16:creationId xmlns:a16="http://schemas.microsoft.com/office/drawing/2014/main" id="{C9760465-3C73-029A-78D9-B9FF96216D9E}"/>
                </a:ext>
              </a:extLst>
            </p:cNvPr>
            <p:cNvSpPr/>
            <p:nvPr/>
          </p:nvSpPr>
          <p:spPr>
            <a:xfrm>
              <a:off x="738223" y="-132058"/>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DF718F2A-E81A-7601-7791-5EF150165AFA}"/>
                </a:ext>
              </a:extLst>
            </p:cNvPr>
            <p:cNvSpPr/>
            <p:nvPr/>
          </p:nvSpPr>
          <p:spPr>
            <a:xfrm>
              <a:off x="8266515" y="224212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8CA36004-1E70-6857-FAD2-9B073E2DC6E0}"/>
                </a:ext>
              </a:extLst>
            </p:cNvPr>
            <p:cNvSpPr txBox="1"/>
            <p:nvPr/>
          </p:nvSpPr>
          <p:spPr>
            <a:xfrm rot="16200000">
              <a:off x="8134555" y="3176858"/>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6" name="Picture 5">
              <a:extLst>
                <a:ext uri="{FF2B5EF4-FFF2-40B4-BE49-F238E27FC236}">
                  <a16:creationId xmlns:a16="http://schemas.microsoft.com/office/drawing/2014/main" id="{839DB01D-1F2A-DBAF-A27D-24AF4E2E68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 name="Group 6">
            <a:extLst>
              <a:ext uri="{FF2B5EF4-FFF2-40B4-BE49-F238E27FC236}">
                <a16:creationId xmlns:a16="http://schemas.microsoft.com/office/drawing/2014/main" id="{CFE80539-8C7E-399A-5316-DF4D432DA296}"/>
              </a:ext>
            </a:extLst>
          </p:cNvPr>
          <p:cNvGrpSpPr/>
          <p:nvPr/>
        </p:nvGrpSpPr>
        <p:grpSpPr>
          <a:xfrm>
            <a:off x="342951" y="23533"/>
            <a:ext cx="8692332" cy="6858000"/>
            <a:chOff x="718505" y="-1"/>
            <a:chExt cx="8692332" cy="6858000"/>
          </a:xfrm>
        </p:grpSpPr>
        <p:sp>
          <p:nvSpPr>
            <p:cNvPr id="8" name="Rectangle 7">
              <a:extLst>
                <a:ext uri="{FF2B5EF4-FFF2-40B4-BE49-F238E27FC236}">
                  <a16:creationId xmlns:a16="http://schemas.microsoft.com/office/drawing/2014/main" id="{C5B00F61-F6B3-A5C8-9F1A-4C95CB827B9D}"/>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5FCD8100-2D3A-E5B5-7893-1A01BA15407F}"/>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B799109C-BC13-4050-CD10-E507614BC2F5}"/>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B04BEDCA-DB30-39F3-04C2-7DE1705E8B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2" name="Group 11">
            <a:extLst>
              <a:ext uri="{FF2B5EF4-FFF2-40B4-BE49-F238E27FC236}">
                <a16:creationId xmlns:a16="http://schemas.microsoft.com/office/drawing/2014/main" id="{0FAE59C0-C445-4C18-16FF-D54F7087A8E0}"/>
              </a:ext>
            </a:extLst>
          </p:cNvPr>
          <p:cNvGrpSpPr/>
          <p:nvPr/>
        </p:nvGrpSpPr>
        <p:grpSpPr>
          <a:xfrm>
            <a:off x="-9261899" y="-8661"/>
            <a:ext cx="9574094" cy="6858000"/>
            <a:chOff x="491575" y="0"/>
            <a:chExt cx="9574094" cy="6858000"/>
          </a:xfrm>
        </p:grpSpPr>
        <p:sp>
          <p:nvSpPr>
            <p:cNvPr id="13" name="Rectangle 12">
              <a:extLst>
                <a:ext uri="{FF2B5EF4-FFF2-40B4-BE49-F238E27FC236}">
                  <a16:creationId xmlns:a16="http://schemas.microsoft.com/office/drawing/2014/main" id="{2102D6B5-FEA4-DFD5-F712-E6BFBAA95F26}"/>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E9820EE3-D8C0-8447-9BF2-3D05901EE053}"/>
                </a:ext>
              </a:extLst>
            </p:cNvPr>
            <p:cNvSpPr/>
            <p:nvPr/>
          </p:nvSpPr>
          <p:spPr>
            <a:xfrm>
              <a:off x="8897262" y="2385043"/>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E4A163D-DFC2-A9E6-BFF2-FFE5CF4B4502}"/>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6" name="Picture 15">
              <a:extLst>
                <a:ext uri="{FF2B5EF4-FFF2-40B4-BE49-F238E27FC236}">
                  <a16:creationId xmlns:a16="http://schemas.microsoft.com/office/drawing/2014/main" id="{B4DE3671-F38E-A4EA-5EF7-82F65993323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22" name="Group 21">
            <a:extLst>
              <a:ext uri="{FF2B5EF4-FFF2-40B4-BE49-F238E27FC236}">
                <a16:creationId xmlns:a16="http://schemas.microsoft.com/office/drawing/2014/main" id="{5283E0D4-22A6-EF96-0651-D38887F787BA}"/>
              </a:ext>
            </a:extLst>
          </p:cNvPr>
          <p:cNvGrpSpPr/>
          <p:nvPr/>
        </p:nvGrpSpPr>
        <p:grpSpPr>
          <a:xfrm>
            <a:off x="-8916092" y="0"/>
            <a:ext cx="8692332" cy="6858000"/>
            <a:chOff x="718505" y="-57982"/>
            <a:chExt cx="8692332" cy="6858000"/>
          </a:xfrm>
        </p:grpSpPr>
        <p:sp>
          <p:nvSpPr>
            <p:cNvPr id="23" name="Rectangle 22">
              <a:extLst>
                <a:ext uri="{FF2B5EF4-FFF2-40B4-BE49-F238E27FC236}">
                  <a16:creationId xmlns:a16="http://schemas.microsoft.com/office/drawing/2014/main" id="{675A85DC-BA70-2B3A-CA89-C82E9501DCED}"/>
                </a:ext>
              </a:extLst>
            </p:cNvPr>
            <p:cNvSpPr/>
            <p:nvPr/>
          </p:nvSpPr>
          <p:spPr>
            <a:xfrm>
              <a:off x="718505" y="-57982"/>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2AF2031C-1077-C280-697B-C0701137A047}"/>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23CF497F-1B72-9F86-31AF-CC2CC390B28E}"/>
                </a:ext>
              </a:extLst>
            </p:cNvPr>
            <p:cNvSpPr txBox="1"/>
            <p:nvPr/>
          </p:nvSpPr>
          <p:spPr>
            <a:xfrm rot="16200000">
              <a:off x="8025849" y="3255388"/>
              <a:ext cx="212364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6" name="Picture 25">
              <a:extLst>
                <a:ext uri="{FF2B5EF4-FFF2-40B4-BE49-F238E27FC236}">
                  <a16:creationId xmlns:a16="http://schemas.microsoft.com/office/drawing/2014/main" id="{056828B5-D3C9-6961-D4D7-5CBBBF1D4BA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20" name="TextBox 19">
            <a:extLst>
              <a:ext uri="{FF2B5EF4-FFF2-40B4-BE49-F238E27FC236}">
                <a16:creationId xmlns:a16="http://schemas.microsoft.com/office/drawing/2014/main" id="{6F345DE5-53BD-6D48-6B34-A77B465311F3}"/>
              </a:ext>
            </a:extLst>
          </p:cNvPr>
          <p:cNvSpPr txBox="1"/>
          <p:nvPr/>
        </p:nvSpPr>
        <p:spPr>
          <a:xfrm>
            <a:off x="609919" y="4796080"/>
            <a:ext cx="7609333" cy="2031325"/>
          </a:xfrm>
          <a:prstGeom prst="rect">
            <a:avLst/>
          </a:prstGeom>
          <a:noFill/>
        </p:spPr>
        <p:txBody>
          <a:bodyPr wrap="square">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sz="1400" b="1" dirty="0">
                <a:solidFill>
                  <a:schemeClr val="tx1">
                    <a:lumMod val="75000"/>
                    <a:lumOff val="25000"/>
                  </a:schemeClr>
                </a:solidFill>
                <a:latin typeface="Arial" panose="020B0604020202020204" pitchFamily="34" charset="0"/>
              </a:rPr>
              <a:t>Sales Performance:</a:t>
            </a:r>
            <a:r>
              <a:rPr lang="en-US" altLang="en-US" sz="1400" dirty="0">
                <a:solidFill>
                  <a:schemeClr val="tx1">
                    <a:lumMod val="75000"/>
                    <a:lumOff val="25000"/>
                  </a:schemeClr>
                </a:solidFill>
                <a:latin typeface="Arial" panose="020B0604020202020204" pitchFamily="34" charset="0"/>
              </a:rPr>
              <a:t> Tracks total orders, revenue trends, and business growth.</a:t>
            </a:r>
          </a:p>
          <a:p>
            <a:pPr marL="285750" lvl="0" indent="-285750" algn="just" eaLnBrk="0" fontAlgn="base" hangingPunct="0">
              <a:spcBef>
                <a:spcPct val="0"/>
              </a:spcBef>
              <a:spcAft>
                <a:spcPct val="0"/>
              </a:spcAft>
              <a:buFont typeface="Arial" panose="020B0604020202020204" pitchFamily="34" charset="0"/>
              <a:buChar char="•"/>
            </a:pPr>
            <a:r>
              <a:rPr lang="en-US" altLang="en-US" sz="1400" b="1" dirty="0">
                <a:solidFill>
                  <a:schemeClr val="tx1">
                    <a:lumMod val="75000"/>
                    <a:lumOff val="25000"/>
                  </a:schemeClr>
                </a:solidFill>
                <a:latin typeface="Arial" panose="020B0604020202020204" pitchFamily="34" charset="0"/>
              </a:rPr>
              <a:t>Delivery Efficiency:</a:t>
            </a:r>
            <a:r>
              <a:rPr lang="en-US" altLang="en-US" sz="1400" dirty="0">
                <a:solidFill>
                  <a:schemeClr val="tx1">
                    <a:lumMod val="75000"/>
                    <a:lumOff val="25000"/>
                  </a:schemeClr>
                </a:solidFill>
                <a:latin typeface="Arial" panose="020B0604020202020204" pitchFamily="34" charset="0"/>
              </a:rPr>
              <a:t> Monitors on-time vs delayed deliveries to improve customer experience.</a:t>
            </a:r>
          </a:p>
          <a:p>
            <a:pPr marL="285750" lvl="0" indent="-285750" algn="just" eaLnBrk="0" fontAlgn="base" hangingPunct="0">
              <a:spcBef>
                <a:spcPct val="0"/>
              </a:spcBef>
              <a:spcAft>
                <a:spcPct val="0"/>
              </a:spcAft>
              <a:buFont typeface="Arial" panose="020B0604020202020204" pitchFamily="34" charset="0"/>
              <a:buChar char="•"/>
            </a:pPr>
            <a:r>
              <a:rPr lang="en-US" altLang="en-US" sz="1400" b="1" dirty="0">
                <a:solidFill>
                  <a:schemeClr val="tx1">
                    <a:lumMod val="75000"/>
                    <a:lumOff val="25000"/>
                  </a:schemeClr>
                </a:solidFill>
                <a:latin typeface="Arial" panose="020B0604020202020204" pitchFamily="34" charset="0"/>
              </a:rPr>
              <a:t>Top Products &amp; Categories:</a:t>
            </a:r>
            <a:r>
              <a:rPr lang="en-US" altLang="en-US" sz="1400" dirty="0">
                <a:solidFill>
                  <a:schemeClr val="tx1">
                    <a:lumMod val="75000"/>
                    <a:lumOff val="25000"/>
                  </a:schemeClr>
                </a:solidFill>
                <a:latin typeface="Arial" panose="020B0604020202020204" pitchFamily="34" charset="0"/>
              </a:rPr>
              <a:t> Identifies best-selling items to support stock and marketing decisions.</a:t>
            </a:r>
          </a:p>
          <a:p>
            <a:pPr marL="285750" lvl="0" indent="-285750" algn="just" eaLnBrk="0" fontAlgn="base" hangingPunct="0">
              <a:spcBef>
                <a:spcPct val="0"/>
              </a:spcBef>
              <a:spcAft>
                <a:spcPct val="0"/>
              </a:spcAft>
              <a:buFont typeface="Arial" panose="020B0604020202020204" pitchFamily="34" charset="0"/>
              <a:buChar char="•"/>
            </a:pPr>
            <a:r>
              <a:rPr lang="en-US" altLang="en-US" sz="1400" b="1" dirty="0">
                <a:solidFill>
                  <a:schemeClr val="tx1">
                    <a:lumMod val="75000"/>
                    <a:lumOff val="25000"/>
                  </a:schemeClr>
                </a:solidFill>
                <a:latin typeface="Arial" panose="020B0604020202020204" pitchFamily="34" charset="0"/>
              </a:rPr>
              <a:t>Customer Retention:</a:t>
            </a:r>
            <a:r>
              <a:rPr lang="en-US" altLang="en-US" sz="1400" dirty="0">
                <a:solidFill>
                  <a:schemeClr val="tx1">
                    <a:lumMod val="75000"/>
                    <a:lumOff val="25000"/>
                  </a:schemeClr>
                </a:solidFill>
                <a:latin typeface="Arial" panose="020B0604020202020204" pitchFamily="34" charset="0"/>
              </a:rPr>
              <a:t> Analyzes new vs repeat customers to understand loyalty and engagement.</a:t>
            </a:r>
          </a:p>
          <a:p>
            <a:pPr marL="285750" lvl="0" indent="-285750" algn="just" eaLnBrk="0" fontAlgn="base" hangingPunct="0">
              <a:spcBef>
                <a:spcPct val="0"/>
              </a:spcBef>
              <a:spcAft>
                <a:spcPct val="0"/>
              </a:spcAft>
              <a:buFont typeface="Arial" panose="020B0604020202020204" pitchFamily="34" charset="0"/>
              <a:buChar char="•"/>
            </a:pPr>
            <a:r>
              <a:rPr lang="en-US" altLang="en-US" sz="1400" b="1" dirty="0">
                <a:solidFill>
                  <a:schemeClr val="tx1">
                    <a:lumMod val="75000"/>
                    <a:lumOff val="25000"/>
                  </a:schemeClr>
                </a:solidFill>
                <a:latin typeface="Arial" panose="020B0604020202020204" pitchFamily="34" charset="0"/>
              </a:rPr>
              <a:t>Order Status Monitoring:</a:t>
            </a:r>
            <a:r>
              <a:rPr lang="en-US" altLang="en-US" sz="1400" dirty="0">
                <a:solidFill>
                  <a:schemeClr val="tx1">
                    <a:lumMod val="75000"/>
                    <a:lumOff val="25000"/>
                  </a:schemeClr>
                </a:solidFill>
                <a:latin typeface="Arial" panose="020B0604020202020204" pitchFamily="34" charset="0"/>
              </a:rPr>
              <a:t> Reviews delivered, canceled, and pending orders to assess operational health.</a:t>
            </a:r>
          </a:p>
        </p:txBody>
      </p:sp>
      <p:sp>
        <p:nvSpPr>
          <p:cNvPr id="27" name="TextBox 26">
            <a:extLst>
              <a:ext uri="{FF2B5EF4-FFF2-40B4-BE49-F238E27FC236}">
                <a16:creationId xmlns:a16="http://schemas.microsoft.com/office/drawing/2014/main" id="{7DA64144-C49D-1FC5-0848-B4640FAE8D7B}"/>
              </a:ext>
            </a:extLst>
          </p:cNvPr>
          <p:cNvSpPr txBox="1"/>
          <p:nvPr/>
        </p:nvSpPr>
        <p:spPr>
          <a:xfrm>
            <a:off x="609910" y="4513691"/>
            <a:ext cx="4338988" cy="369332"/>
          </a:xfrm>
          <a:prstGeom prst="rect">
            <a:avLst/>
          </a:prstGeom>
          <a:noFill/>
        </p:spPr>
        <p:txBody>
          <a:bodyPr wrap="square">
            <a:spAutoFit/>
          </a:bodyPr>
          <a:lstStyle/>
          <a:p>
            <a:r>
              <a:rPr lang="en-IN" dirty="0">
                <a:solidFill>
                  <a:srgbClr val="92D050"/>
                </a:solidFill>
                <a:latin typeface="Berlin Sans FB Demi" panose="020E0802020502020306" pitchFamily="34" charset="0"/>
              </a:rPr>
              <a:t>INSIGHT GENERATION </a:t>
            </a:r>
          </a:p>
        </p:txBody>
      </p:sp>
      <p:sp>
        <p:nvSpPr>
          <p:cNvPr id="17" name="TextBox 16">
            <a:extLst>
              <a:ext uri="{FF2B5EF4-FFF2-40B4-BE49-F238E27FC236}">
                <a16:creationId xmlns:a16="http://schemas.microsoft.com/office/drawing/2014/main" id="{3D4CAC3F-94C3-58E1-91E1-5557828964A0}"/>
              </a:ext>
            </a:extLst>
          </p:cNvPr>
          <p:cNvSpPr txBox="1"/>
          <p:nvPr/>
        </p:nvSpPr>
        <p:spPr>
          <a:xfrm>
            <a:off x="695365" y="144531"/>
            <a:ext cx="5163252" cy="2192908"/>
          </a:xfrm>
          <a:prstGeom prst="rect">
            <a:avLst/>
          </a:prstGeom>
          <a:noFill/>
        </p:spPr>
        <p:txBody>
          <a:bodyPr wrap="square" rtlCol="0">
            <a:spAutoFit/>
          </a:bodyPr>
          <a:lstStyle/>
          <a:p>
            <a:r>
              <a:rPr lang="en-IN" sz="1050" b="1" dirty="0">
                <a:solidFill>
                  <a:schemeClr val="tx1">
                    <a:lumMod val="75000"/>
                    <a:lumOff val="25000"/>
                  </a:schemeClr>
                </a:solidFill>
              </a:rPr>
              <a:t>4) Average price and payment values from customers of sao paulo city.</a:t>
            </a:r>
          </a:p>
          <a:p>
            <a:endParaRPr lang="en-IN" sz="1050" dirty="0">
              <a:solidFill>
                <a:schemeClr val="tx1">
                  <a:lumMod val="75000"/>
                  <a:lumOff val="25000"/>
                </a:schemeClr>
              </a:solidFill>
            </a:endParaRPr>
          </a:p>
          <a:p>
            <a:r>
              <a:rPr lang="en-IN" sz="1050" dirty="0">
                <a:solidFill>
                  <a:schemeClr val="tx1">
                    <a:lumMod val="75000"/>
                    <a:lumOff val="25000"/>
                  </a:schemeClr>
                </a:solidFill>
              </a:rPr>
              <a:t>SELECT</a:t>
            </a:r>
          </a:p>
          <a:p>
            <a:r>
              <a:rPr lang="en-IN" sz="1050" dirty="0">
                <a:solidFill>
                  <a:schemeClr val="tx1">
                    <a:lumMod val="75000"/>
                    <a:lumOff val="25000"/>
                  </a:schemeClr>
                </a:solidFill>
              </a:rPr>
              <a:t>ROUND(AVG(oi.price)) AS `Avg order item price`,</a:t>
            </a:r>
          </a:p>
          <a:p>
            <a:r>
              <a:rPr lang="en-IN" sz="1050" dirty="0">
                <a:solidFill>
                  <a:schemeClr val="tx1">
                    <a:lumMod val="75000"/>
                    <a:lumOff val="25000"/>
                  </a:schemeClr>
                </a:solidFill>
              </a:rPr>
              <a:t>ROUND(AVG(pmt.payment_value)) AS `Avg payment value`</a:t>
            </a:r>
          </a:p>
          <a:p>
            <a:r>
              <a:rPr lang="en-IN" sz="1050" dirty="0">
                <a:solidFill>
                  <a:schemeClr val="tx1">
                    <a:lumMod val="75000"/>
                    <a:lumOff val="25000"/>
                  </a:schemeClr>
                </a:solidFill>
              </a:rPr>
              <a:t>FROM orders ord</a:t>
            </a:r>
          </a:p>
          <a:p>
            <a:r>
              <a:rPr lang="en-IN" sz="1050" dirty="0">
                <a:solidFill>
                  <a:schemeClr val="tx1">
                    <a:lumMod val="75000"/>
                    <a:lumOff val="25000"/>
                  </a:schemeClr>
                </a:solidFill>
              </a:rPr>
              <a:t>JOIN customers c</a:t>
            </a:r>
          </a:p>
          <a:p>
            <a:r>
              <a:rPr lang="en-IN" sz="1050" dirty="0">
                <a:solidFill>
                  <a:schemeClr val="tx1">
                    <a:lumMod val="75000"/>
                    <a:lumOff val="25000"/>
                  </a:schemeClr>
                </a:solidFill>
              </a:rPr>
              <a:t>ON ord.customer_id = c.customer_id</a:t>
            </a:r>
          </a:p>
          <a:p>
            <a:r>
              <a:rPr lang="en-IN" sz="1050" dirty="0">
                <a:solidFill>
                  <a:schemeClr val="tx1">
                    <a:lumMod val="75000"/>
                    <a:lumOff val="25000"/>
                  </a:schemeClr>
                </a:solidFill>
              </a:rPr>
              <a:t>JOIN order_items oi</a:t>
            </a:r>
          </a:p>
          <a:p>
            <a:r>
              <a:rPr lang="en-IN" sz="1050" dirty="0">
                <a:solidFill>
                  <a:schemeClr val="tx1">
                    <a:lumMod val="75000"/>
                    <a:lumOff val="25000"/>
                  </a:schemeClr>
                </a:solidFill>
              </a:rPr>
              <a:t>ON ord.order_id = oi.order_id</a:t>
            </a:r>
          </a:p>
          <a:p>
            <a:r>
              <a:rPr lang="en-IN" sz="1050" dirty="0">
                <a:solidFill>
                  <a:schemeClr val="tx1">
                    <a:lumMod val="75000"/>
                    <a:lumOff val="25000"/>
                  </a:schemeClr>
                </a:solidFill>
              </a:rPr>
              <a:t>JOIN order_payments pmt</a:t>
            </a:r>
          </a:p>
          <a:p>
            <a:r>
              <a:rPr lang="en-IN" sz="1050" dirty="0">
                <a:solidFill>
                  <a:schemeClr val="tx1">
                    <a:lumMod val="75000"/>
                    <a:lumOff val="25000"/>
                  </a:schemeClr>
                </a:solidFill>
              </a:rPr>
              <a:t>ON ord.order_id = pmt.order_id</a:t>
            </a:r>
          </a:p>
          <a:p>
            <a:r>
              <a:rPr lang="en-IN" sz="1050" dirty="0">
                <a:solidFill>
                  <a:schemeClr val="tx1">
                    <a:lumMod val="75000"/>
                    <a:lumOff val="25000"/>
                  </a:schemeClr>
                </a:solidFill>
              </a:rPr>
              <a:t>WHERE c.customer_city = 'sao paulo';</a:t>
            </a:r>
          </a:p>
        </p:txBody>
      </p:sp>
      <p:sp>
        <p:nvSpPr>
          <p:cNvPr id="18" name="TextBox 17">
            <a:extLst>
              <a:ext uri="{FF2B5EF4-FFF2-40B4-BE49-F238E27FC236}">
                <a16:creationId xmlns:a16="http://schemas.microsoft.com/office/drawing/2014/main" id="{0EFD7DFD-A5C2-099E-25F8-D253A427799E}"/>
              </a:ext>
            </a:extLst>
          </p:cNvPr>
          <p:cNvSpPr txBox="1"/>
          <p:nvPr/>
        </p:nvSpPr>
        <p:spPr>
          <a:xfrm>
            <a:off x="709133" y="2360972"/>
            <a:ext cx="4646779" cy="2192908"/>
          </a:xfrm>
          <a:prstGeom prst="rect">
            <a:avLst/>
          </a:prstGeom>
          <a:noFill/>
        </p:spPr>
        <p:txBody>
          <a:bodyPr wrap="square" rtlCol="0">
            <a:spAutoFit/>
          </a:bodyPr>
          <a:lstStyle/>
          <a:p>
            <a:r>
              <a:rPr lang="en-IN" sz="1050" b="1" dirty="0">
                <a:solidFill>
                  <a:schemeClr val="tx1">
                    <a:lumMod val="75000"/>
                    <a:lumOff val="25000"/>
                  </a:schemeClr>
                </a:solidFill>
              </a:rPr>
              <a:t>5) Relationship between shipping days (order_delivered_customer_date - order_purchase_timestamp) Vs review scores.</a:t>
            </a:r>
          </a:p>
          <a:p>
            <a:endParaRPr lang="en-IN" sz="1050" dirty="0">
              <a:solidFill>
                <a:schemeClr val="tx1">
                  <a:lumMod val="75000"/>
                  <a:lumOff val="25000"/>
                </a:schemeClr>
              </a:solidFill>
            </a:endParaRPr>
          </a:p>
          <a:p>
            <a:r>
              <a:rPr lang="en-IN" sz="1050" dirty="0">
                <a:solidFill>
                  <a:schemeClr val="tx1">
                    <a:lumMod val="75000"/>
                    <a:lumOff val="25000"/>
                  </a:schemeClr>
                </a:solidFill>
              </a:rPr>
              <a:t>SELECT CONCAT(REPEAT('★', r.review_score),' (',r.review_score,')') AS `Review Stars`,</a:t>
            </a:r>
          </a:p>
          <a:p>
            <a:r>
              <a:rPr lang="en-IN" sz="1050" dirty="0">
                <a:solidFill>
                  <a:schemeClr val="tx1">
                    <a:lumMod val="75000"/>
                    <a:lumOff val="25000"/>
                  </a:schemeClr>
                </a:solidFill>
              </a:rPr>
              <a:t>ROUND(AVG(DATEDIFF(ord.order_delivered_customer_date, ord.order_purchase_timestamp)),0) AS `Avg shipping days`</a:t>
            </a:r>
          </a:p>
          <a:p>
            <a:r>
              <a:rPr lang="en-IN" sz="1050" dirty="0">
                <a:solidFill>
                  <a:schemeClr val="tx1">
                    <a:lumMod val="75000"/>
                    <a:lumOff val="25000"/>
                  </a:schemeClr>
                </a:solidFill>
              </a:rPr>
              <a:t>FROM orders ord</a:t>
            </a:r>
          </a:p>
          <a:p>
            <a:r>
              <a:rPr lang="en-IN" sz="1050" dirty="0">
                <a:solidFill>
                  <a:schemeClr val="tx1">
                    <a:lumMod val="75000"/>
                    <a:lumOff val="25000"/>
                  </a:schemeClr>
                </a:solidFill>
              </a:rPr>
              <a:t>JOIN reviews r</a:t>
            </a:r>
          </a:p>
          <a:p>
            <a:r>
              <a:rPr lang="en-IN" sz="1050" dirty="0">
                <a:solidFill>
                  <a:schemeClr val="tx1">
                    <a:lumMod val="75000"/>
                    <a:lumOff val="25000"/>
                  </a:schemeClr>
                </a:solidFill>
              </a:rPr>
              <a:t>ON r.order_id = ord.order_id</a:t>
            </a:r>
          </a:p>
          <a:p>
            <a:r>
              <a:rPr lang="en-IN" sz="1050" dirty="0">
                <a:solidFill>
                  <a:schemeClr val="tx1">
                    <a:lumMod val="75000"/>
                    <a:lumOff val="25000"/>
                  </a:schemeClr>
                </a:solidFill>
              </a:rPr>
              <a:t>WHERE ord.order_delivered_customer_date IS NOT NULL</a:t>
            </a:r>
          </a:p>
          <a:p>
            <a:r>
              <a:rPr lang="en-IN" sz="1050" dirty="0">
                <a:solidFill>
                  <a:schemeClr val="tx1">
                    <a:lumMod val="75000"/>
                    <a:lumOff val="25000"/>
                  </a:schemeClr>
                </a:solidFill>
              </a:rPr>
              <a:t>GROUP BY r.review_score</a:t>
            </a:r>
          </a:p>
          <a:p>
            <a:r>
              <a:rPr lang="en-IN" sz="1050" dirty="0">
                <a:solidFill>
                  <a:schemeClr val="tx1">
                    <a:lumMod val="75000"/>
                    <a:lumOff val="25000"/>
                  </a:schemeClr>
                </a:solidFill>
              </a:rPr>
              <a:t>ORDER BY r.review_score;</a:t>
            </a:r>
          </a:p>
        </p:txBody>
      </p:sp>
      <p:pic>
        <p:nvPicPr>
          <p:cNvPr id="21" name="Picture 20">
            <a:extLst>
              <a:ext uri="{FF2B5EF4-FFF2-40B4-BE49-F238E27FC236}">
                <a16:creationId xmlns:a16="http://schemas.microsoft.com/office/drawing/2014/main" id="{F6CC784A-77B6-A42A-F847-CEDB2F32F3A8}"/>
              </a:ext>
            </a:extLst>
          </p:cNvPr>
          <p:cNvPicPr>
            <a:picLocks noChangeAspect="1"/>
          </p:cNvPicPr>
          <p:nvPr/>
        </p:nvPicPr>
        <p:blipFill>
          <a:blip r:embed="rId3">
            <a:extLst>
              <a:ext uri="{28A0092B-C50C-407E-A947-70E740481C1C}">
                <a14:useLocalDpi xmlns:a14="http://schemas.microsoft.com/office/drawing/2010/main" val="0"/>
              </a:ext>
            </a:extLst>
          </a:blip>
          <a:srcRect l="6945" r="29409" b="21893"/>
          <a:stretch>
            <a:fillRect/>
          </a:stretch>
        </p:blipFill>
        <p:spPr>
          <a:xfrm>
            <a:off x="5355912" y="582066"/>
            <a:ext cx="2758370" cy="1413535"/>
          </a:xfrm>
          <a:prstGeom prst="rect">
            <a:avLst/>
          </a:prstGeom>
        </p:spPr>
      </p:pic>
      <p:pic>
        <p:nvPicPr>
          <p:cNvPr id="29" name="Picture 28">
            <a:extLst>
              <a:ext uri="{FF2B5EF4-FFF2-40B4-BE49-F238E27FC236}">
                <a16:creationId xmlns:a16="http://schemas.microsoft.com/office/drawing/2014/main" id="{3276593B-4F6A-5AC1-C1C6-A59A9063D02A}"/>
              </a:ext>
            </a:extLst>
          </p:cNvPr>
          <p:cNvPicPr>
            <a:picLocks noChangeAspect="1"/>
          </p:cNvPicPr>
          <p:nvPr/>
        </p:nvPicPr>
        <p:blipFill>
          <a:blip r:embed="rId4">
            <a:extLst>
              <a:ext uri="{28A0092B-C50C-407E-A947-70E740481C1C}">
                <a14:useLocalDpi xmlns:a14="http://schemas.microsoft.com/office/drawing/2010/main" val="0"/>
              </a:ext>
            </a:extLst>
          </a:blip>
          <a:srcRect l="4764" t="19017" r="10807" b="11576"/>
          <a:stretch>
            <a:fillRect/>
          </a:stretch>
        </p:blipFill>
        <p:spPr>
          <a:xfrm>
            <a:off x="5355912" y="2867601"/>
            <a:ext cx="2501985" cy="1439174"/>
          </a:xfrm>
          <a:prstGeom prst="rect">
            <a:avLst/>
          </a:prstGeom>
        </p:spPr>
      </p:pic>
    </p:spTree>
    <p:extLst>
      <p:ext uri="{BB962C8B-B14F-4D97-AF65-F5344CB8AC3E}">
        <p14:creationId xmlns:p14="http://schemas.microsoft.com/office/powerpoint/2010/main" val="3119020225"/>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AE310-390C-4AF9-1D1B-E8127F68DCC5}"/>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B762EFE0-8831-C6FA-80DE-93648CFA909C}"/>
              </a:ext>
            </a:extLst>
          </p:cNvPr>
          <p:cNvGrpSpPr/>
          <p:nvPr/>
        </p:nvGrpSpPr>
        <p:grpSpPr>
          <a:xfrm>
            <a:off x="-272641" y="104699"/>
            <a:ext cx="12494090" cy="6858000"/>
            <a:chOff x="-272641" y="104699"/>
            <a:chExt cx="12494090" cy="6858000"/>
          </a:xfrm>
        </p:grpSpPr>
        <p:sp>
          <p:nvSpPr>
            <p:cNvPr id="51" name="Rectangle 50">
              <a:extLst>
                <a:ext uri="{FF2B5EF4-FFF2-40B4-BE49-F238E27FC236}">
                  <a16:creationId xmlns:a16="http://schemas.microsoft.com/office/drawing/2014/main" id="{5E46CB7C-A7E1-C8A6-85CD-4B9F312E8930}"/>
                </a:ext>
              </a:extLst>
            </p:cNvPr>
            <p:cNvSpPr/>
            <p:nvPr/>
          </p:nvSpPr>
          <p:spPr>
            <a:xfrm>
              <a:off x="-272641" y="104699"/>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37626596-1811-D909-CB49-82B03C916A3B}"/>
                </a:ext>
              </a:extLst>
            </p:cNvPr>
            <p:cNvSpPr/>
            <p:nvPr/>
          </p:nvSpPr>
          <p:spPr>
            <a:xfrm>
              <a:off x="11053049" y="2423443"/>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B514EF0F-07C8-1B57-D6D1-7EC638C51C97}"/>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C9AC73FF-D5D3-B63E-BE85-D8D54A9CBFC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0150AE8F-27BA-F207-E192-D8829034BDE1}"/>
              </a:ext>
            </a:extLst>
          </p:cNvPr>
          <p:cNvGrpSpPr/>
          <p:nvPr/>
        </p:nvGrpSpPr>
        <p:grpSpPr>
          <a:xfrm>
            <a:off x="245069" y="104699"/>
            <a:ext cx="11447504" cy="6858000"/>
            <a:chOff x="213096" y="0"/>
            <a:chExt cx="11447504" cy="6858000"/>
          </a:xfrm>
        </p:grpSpPr>
        <p:sp>
          <p:nvSpPr>
            <p:cNvPr id="56" name="Rectangle 55">
              <a:extLst>
                <a:ext uri="{FF2B5EF4-FFF2-40B4-BE49-F238E27FC236}">
                  <a16:creationId xmlns:a16="http://schemas.microsoft.com/office/drawing/2014/main" id="{872B6E03-D5B7-683E-D59D-558E00895CF8}"/>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5984A267-F66F-4520-6044-C10A38F089F8}"/>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00E0EE71-96EC-59BA-A331-712E55B98949}"/>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CF331553-5060-24A9-B1E2-46CEC9646C3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7C8B6F5B-2209-696B-141F-62F11BC5B6A9}"/>
              </a:ext>
            </a:extLst>
          </p:cNvPr>
          <p:cNvGrpSpPr/>
          <p:nvPr/>
        </p:nvGrpSpPr>
        <p:grpSpPr>
          <a:xfrm>
            <a:off x="1184133" y="104699"/>
            <a:ext cx="9961092" cy="6858000"/>
            <a:chOff x="491575" y="-9474"/>
            <a:chExt cx="9961092" cy="6858000"/>
          </a:xfrm>
        </p:grpSpPr>
        <p:sp>
          <p:nvSpPr>
            <p:cNvPr id="61" name="Rectangle 60">
              <a:extLst>
                <a:ext uri="{FF2B5EF4-FFF2-40B4-BE49-F238E27FC236}">
                  <a16:creationId xmlns:a16="http://schemas.microsoft.com/office/drawing/2014/main" id="{D5591C43-9C47-9C75-2165-1E1B58B31573}"/>
                </a:ext>
              </a:extLst>
            </p:cNvPr>
            <p:cNvSpPr/>
            <p:nvPr/>
          </p:nvSpPr>
          <p:spPr>
            <a:xfrm>
              <a:off x="491575" y="-9474"/>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1AFC491A-AB99-3DC6-0FAB-176A0E5E8518}"/>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9B2B9871-E2BA-82B2-0458-F43267F9B64F}"/>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BB128DC3-9664-1B1B-618F-77921432359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a16="http://schemas.microsoft.com/office/drawing/2014/main" id="{404A376B-25E5-CD82-CF94-672090569402}"/>
              </a:ext>
            </a:extLst>
          </p:cNvPr>
          <p:cNvGrpSpPr/>
          <p:nvPr/>
        </p:nvGrpSpPr>
        <p:grpSpPr>
          <a:xfrm>
            <a:off x="1073063" y="95551"/>
            <a:ext cx="9574094" cy="6858000"/>
            <a:chOff x="512794" y="125272"/>
            <a:chExt cx="9574094" cy="6858000"/>
          </a:xfrm>
        </p:grpSpPr>
        <p:sp>
          <p:nvSpPr>
            <p:cNvPr id="96" name="Rectangle 95">
              <a:extLst>
                <a:ext uri="{FF2B5EF4-FFF2-40B4-BE49-F238E27FC236}">
                  <a16:creationId xmlns:a16="http://schemas.microsoft.com/office/drawing/2014/main" id="{179C2C49-9262-E041-82BE-44C451BA74BF}"/>
                </a:ext>
              </a:extLst>
            </p:cNvPr>
            <p:cNvSpPr/>
            <p:nvPr/>
          </p:nvSpPr>
          <p:spPr>
            <a:xfrm>
              <a:off x="512794" y="125272"/>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0D393CE3-0855-7BEF-AA98-88D889684D74}"/>
                </a:ext>
              </a:extLst>
            </p:cNvPr>
            <p:cNvSpPr/>
            <p:nvPr/>
          </p:nvSpPr>
          <p:spPr>
            <a:xfrm>
              <a:off x="8916485" y="2403464"/>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6C851421-A538-5BC7-C8ED-3F385B3DE778}"/>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9B88FEC6-A6A3-4FF7-E026-FF63DFF8DD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9C14824F-FEB2-DCE7-F4E5-C2CDF4C26AA5}"/>
              </a:ext>
            </a:extLst>
          </p:cNvPr>
          <p:cNvGrpSpPr/>
          <p:nvPr/>
        </p:nvGrpSpPr>
        <p:grpSpPr>
          <a:xfrm>
            <a:off x="-1695128" y="95551"/>
            <a:ext cx="11831875" cy="6858000"/>
            <a:chOff x="-2443037" y="37569"/>
            <a:chExt cx="11882362" cy="6858000"/>
          </a:xfrm>
        </p:grpSpPr>
        <p:sp>
          <p:nvSpPr>
            <p:cNvPr id="72" name="Rectangle 71">
              <a:extLst>
                <a:ext uri="{FF2B5EF4-FFF2-40B4-BE49-F238E27FC236}">
                  <a16:creationId xmlns:a16="http://schemas.microsoft.com/office/drawing/2014/main" id="{AB734808-F5BC-EC19-D5B6-6582D3912C98}"/>
                </a:ext>
              </a:extLst>
            </p:cNvPr>
            <p:cNvSpPr/>
            <p:nvPr/>
          </p:nvSpPr>
          <p:spPr>
            <a:xfrm>
              <a:off x="-2443037" y="37569"/>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348826E5-CABE-82C5-BE66-B3941CA71B65}"/>
                </a:ext>
              </a:extLst>
            </p:cNvPr>
            <p:cNvSpPr/>
            <p:nvPr/>
          </p:nvSpPr>
          <p:spPr>
            <a:xfrm>
              <a:off x="8270925" y="2354678"/>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BB6B6C02-2922-D317-5244-6CDF613F323B}"/>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FD1CB1D7-3BA3-D6A2-BA73-B9FD75AE412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FE037CF7-305E-974F-1FEF-011EE820F3D4}"/>
              </a:ext>
            </a:extLst>
          </p:cNvPr>
          <p:cNvGrpSpPr/>
          <p:nvPr/>
        </p:nvGrpSpPr>
        <p:grpSpPr>
          <a:xfrm>
            <a:off x="939810" y="115962"/>
            <a:ext cx="8692331" cy="6858000"/>
            <a:chOff x="805699" y="9696"/>
            <a:chExt cx="8692331" cy="6858000"/>
          </a:xfrm>
        </p:grpSpPr>
        <p:sp>
          <p:nvSpPr>
            <p:cNvPr id="3" name="Rectangle 2">
              <a:extLst>
                <a:ext uri="{FF2B5EF4-FFF2-40B4-BE49-F238E27FC236}">
                  <a16:creationId xmlns:a16="http://schemas.microsoft.com/office/drawing/2014/main" id="{E69CF043-7C1D-F8A6-151D-1544175AD6B9}"/>
                </a:ext>
              </a:extLst>
            </p:cNvPr>
            <p:cNvSpPr/>
            <p:nvPr/>
          </p:nvSpPr>
          <p:spPr>
            <a:xfrm>
              <a:off x="805699" y="9696"/>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A75A485C-A5A7-5893-FAC4-ADA0EAAD62CA}"/>
                </a:ext>
              </a:extLst>
            </p:cNvPr>
            <p:cNvSpPr/>
            <p:nvPr/>
          </p:nvSpPr>
          <p:spPr>
            <a:xfrm>
              <a:off x="8328900" y="2326633"/>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9F31965F-1FB8-D26A-BED8-29D215B87004}"/>
                </a:ext>
              </a:extLst>
            </p:cNvPr>
            <p:cNvSpPr txBox="1"/>
            <p:nvPr/>
          </p:nvSpPr>
          <p:spPr>
            <a:xfrm rot="16200000">
              <a:off x="8149162" y="319936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6" name="Picture 5">
              <a:extLst>
                <a:ext uri="{FF2B5EF4-FFF2-40B4-BE49-F238E27FC236}">
                  <a16:creationId xmlns:a16="http://schemas.microsoft.com/office/drawing/2014/main" id="{BB4CE75B-F2B0-F6B6-1C1A-B19E37D5619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 name="Group 6">
            <a:extLst>
              <a:ext uri="{FF2B5EF4-FFF2-40B4-BE49-F238E27FC236}">
                <a16:creationId xmlns:a16="http://schemas.microsoft.com/office/drawing/2014/main" id="{DEA899EF-3462-A0F5-00DE-4D59FDDD4BEE}"/>
              </a:ext>
            </a:extLst>
          </p:cNvPr>
          <p:cNvGrpSpPr/>
          <p:nvPr/>
        </p:nvGrpSpPr>
        <p:grpSpPr>
          <a:xfrm>
            <a:off x="366826" y="115962"/>
            <a:ext cx="8692332" cy="6858000"/>
            <a:chOff x="718505" y="-1"/>
            <a:chExt cx="8692332" cy="6858000"/>
          </a:xfrm>
        </p:grpSpPr>
        <p:sp>
          <p:nvSpPr>
            <p:cNvPr id="8" name="Rectangle 7">
              <a:extLst>
                <a:ext uri="{FF2B5EF4-FFF2-40B4-BE49-F238E27FC236}">
                  <a16:creationId xmlns:a16="http://schemas.microsoft.com/office/drawing/2014/main" id="{543BF818-DD0C-0FFC-F02F-DE34036FB1C6}"/>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40A5FE9D-16CB-D0B4-370B-AF3C52B90645}"/>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0916C40A-8F44-F3CC-07DD-6457F2D84789}"/>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671536AD-7811-C4D7-6858-3E119170CD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2" name="Group 11">
            <a:extLst>
              <a:ext uri="{FF2B5EF4-FFF2-40B4-BE49-F238E27FC236}">
                <a16:creationId xmlns:a16="http://schemas.microsoft.com/office/drawing/2014/main" id="{3932D511-B95E-A89E-255E-A00E957FF98E}"/>
              </a:ext>
            </a:extLst>
          </p:cNvPr>
          <p:cNvGrpSpPr/>
          <p:nvPr/>
        </p:nvGrpSpPr>
        <p:grpSpPr>
          <a:xfrm>
            <a:off x="-1017029" y="54052"/>
            <a:ext cx="9574094" cy="6858000"/>
            <a:chOff x="491575" y="0"/>
            <a:chExt cx="9574094" cy="6858000"/>
          </a:xfrm>
        </p:grpSpPr>
        <p:sp>
          <p:nvSpPr>
            <p:cNvPr id="13" name="Rectangle 12">
              <a:extLst>
                <a:ext uri="{FF2B5EF4-FFF2-40B4-BE49-F238E27FC236}">
                  <a16:creationId xmlns:a16="http://schemas.microsoft.com/office/drawing/2014/main" id="{C90CC2DA-F78F-DEA0-1BA2-BFB7D9AE021D}"/>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C6A0FFA3-FCD5-B326-64E6-423A4B6520B8}"/>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6C34D6D5-B7DE-7888-3800-F705143B671B}"/>
                </a:ext>
              </a:extLst>
            </p:cNvPr>
            <p:cNvSpPr txBox="1"/>
            <p:nvPr/>
          </p:nvSpPr>
          <p:spPr>
            <a:xfrm rot="16200000">
              <a:off x="8642218" y="3241198"/>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6" name="Picture 15">
              <a:extLst>
                <a:ext uri="{FF2B5EF4-FFF2-40B4-BE49-F238E27FC236}">
                  <a16:creationId xmlns:a16="http://schemas.microsoft.com/office/drawing/2014/main" id="{B5DB8AC9-13A1-5825-AD54-B13AF382C64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22" name="Group 21">
            <a:extLst>
              <a:ext uri="{FF2B5EF4-FFF2-40B4-BE49-F238E27FC236}">
                <a16:creationId xmlns:a16="http://schemas.microsoft.com/office/drawing/2014/main" id="{C391C3E3-D048-19CC-CB52-E6F8A614AABC}"/>
              </a:ext>
            </a:extLst>
          </p:cNvPr>
          <p:cNvGrpSpPr/>
          <p:nvPr/>
        </p:nvGrpSpPr>
        <p:grpSpPr>
          <a:xfrm>
            <a:off x="-8916093" y="83773"/>
            <a:ext cx="8692332" cy="6858000"/>
            <a:chOff x="718505" y="-1"/>
            <a:chExt cx="8692332" cy="6858000"/>
          </a:xfrm>
        </p:grpSpPr>
        <p:sp>
          <p:nvSpPr>
            <p:cNvPr id="23" name="Rectangle 22">
              <a:extLst>
                <a:ext uri="{FF2B5EF4-FFF2-40B4-BE49-F238E27FC236}">
                  <a16:creationId xmlns:a16="http://schemas.microsoft.com/office/drawing/2014/main" id="{503DE678-DE5A-38EC-4876-A6A637173735}"/>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092A16F7-D208-0148-6017-6C4B662B2797}"/>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81837C57-695D-FFBA-80F8-C33660B55D1A}"/>
                </a:ext>
              </a:extLst>
            </p:cNvPr>
            <p:cNvSpPr txBox="1"/>
            <p:nvPr/>
          </p:nvSpPr>
          <p:spPr>
            <a:xfrm rot="16200000">
              <a:off x="8025849" y="3255388"/>
              <a:ext cx="212364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Questions</a:t>
              </a:r>
            </a:p>
          </p:txBody>
        </p:sp>
        <p:pic>
          <p:nvPicPr>
            <p:cNvPr id="26" name="Picture 25">
              <a:extLst>
                <a:ext uri="{FF2B5EF4-FFF2-40B4-BE49-F238E27FC236}">
                  <a16:creationId xmlns:a16="http://schemas.microsoft.com/office/drawing/2014/main" id="{E9CD23D4-B21B-19F0-89B8-0A46AF83DD2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17" name="TextBox 16">
            <a:extLst>
              <a:ext uri="{FF2B5EF4-FFF2-40B4-BE49-F238E27FC236}">
                <a16:creationId xmlns:a16="http://schemas.microsoft.com/office/drawing/2014/main" id="{B35ED45A-D752-1B02-B2B2-DC04995BE15D}"/>
              </a:ext>
            </a:extLst>
          </p:cNvPr>
          <p:cNvSpPr txBox="1"/>
          <p:nvPr/>
        </p:nvSpPr>
        <p:spPr>
          <a:xfrm>
            <a:off x="2413591" y="435935"/>
            <a:ext cx="3285460" cy="461665"/>
          </a:xfrm>
          <a:prstGeom prst="rect">
            <a:avLst/>
          </a:prstGeom>
          <a:noFill/>
        </p:spPr>
        <p:txBody>
          <a:bodyPr wrap="square" rtlCol="0">
            <a:spAutoFit/>
          </a:bodyPr>
          <a:lstStyle/>
          <a:p>
            <a:pPr algn="ctr"/>
            <a:r>
              <a:rPr lang="en-IN" sz="2400" dirty="0">
                <a:solidFill>
                  <a:schemeClr val="bg2">
                    <a:lumMod val="50000"/>
                  </a:schemeClr>
                </a:solidFill>
                <a:latin typeface="Berlin Sans FB Demi" panose="020E0802020502020306" pitchFamily="34" charset="0"/>
              </a:rPr>
              <a:t>KEYTAKE AWAYS</a:t>
            </a:r>
          </a:p>
        </p:txBody>
      </p:sp>
      <p:sp>
        <p:nvSpPr>
          <p:cNvPr id="18" name="TextBox 17">
            <a:extLst>
              <a:ext uri="{FF2B5EF4-FFF2-40B4-BE49-F238E27FC236}">
                <a16:creationId xmlns:a16="http://schemas.microsoft.com/office/drawing/2014/main" id="{59057979-03C5-4D91-5CDB-D1073E982943}"/>
              </a:ext>
            </a:extLst>
          </p:cNvPr>
          <p:cNvSpPr txBox="1"/>
          <p:nvPr/>
        </p:nvSpPr>
        <p:spPr>
          <a:xfrm>
            <a:off x="-853004" y="887375"/>
            <a:ext cx="3285460" cy="400110"/>
          </a:xfrm>
          <a:prstGeom prst="rect">
            <a:avLst/>
          </a:prstGeom>
          <a:noFill/>
        </p:spPr>
        <p:txBody>
          <a:bodyPr wrap="square" rtlCol="0">
            <a:spAutoFit/>
          </a:bodyPr>
          <a:lstStyle/>
          <a:p>
            <a:pPr algn="ctr"/>
            <a:r>
              <a:rPr lang="en-IN" sz="2000" dirty="0">
                <a:solidFill>
                  <a:schemeClr val="bg2">
                    <a:lumMod val="50000"/>
                  </a:schemeClr>
                </a:solidFill>
                <a:latin typeface="Berlin Sans FB Demi" panose="020E0802020502020306" pitchFamily="34" charset="0"/>
              </a:rPr>
              <a:t>INSIGHTS</a:t>
            </a:r>
          </a:p>
        </p:txBody>
      </p:sp>
      <p:sp>
        <p:nvSpPr>
          <p:cNvPr id="20" name="TextBox 19">
            <a:extLst>
              <a:ext uri="{FF2B5EF4-FFF2-40B4-BE49-F238E27FC236}">
                <a16:creationId xmlns:a16="http://schemas.microsoft.com/office/drawing/2014/main" id="{6911DF48-F2E1-DA99-AD97-CC1EB7678E13}"/>
              </a:ext>
            </a:extLst>
          </p:cNvPr>
          <p:cNvSpPr txBox="1"/>
          <p:nvPr/>
        </p:nvSpPr>
        <p:spPr>
          <a:xfrm>
            <a:off x="-636293" y="3504077"/>
            <a:ext cx="3285460" cy="400110"/>
          </a:xfrm>
          <a:prstGeom prst="rect">
            <a:avLst/>
          </a:prstGeom>
          <a:noFill/>
        </p:spPr>
        <p:txBody>
          <a:bodyPr wrap="square" rtlCol="0">
            <a:spAutoFit/>
          </a:bodyPr>
          <a:lstStyle/>
          <a:p>
            <a:pPr algn="ctr"/>
            <a:r>
              <a:rPr lang="en-IN" sz="2000" dirty="0">
                <a:solidFill>
                  <a:schemeClr val="bg2">
                    <a:lumMod val="50000"/>
                  </a:schemeClr>
                </a:solidFill>
                <a:latin typeface="Berlin Sans FB Demi" panose="020E0802020502020306" pitchFamily="34" charset="0"/>
              </a:rPr>
              <a:t>CHALLENGES</a:t>
            </a:r>
          </a:p>
        </p:txBody>
      </p:sp>
      <p:sp>
        <p:nvSpPr>
          <p:cNvPr id="21" name="TextBox 20">
            <a:extLst>
              <a:ext uri="{FF2B5EF4-FFF2-40B4-BE49-F238E27FC236}">
                <a16:creationId xmlns:a16="http://schemas.microsoft.com/office/drawing/2014/main" id="{75C12216-4413-502A-B8EB-FF66FF73C39C}"/>
              </a:ext>
            </a:extLst>
          </p:cNvPr>
          <p:cNvSpPr txBox="1"/>
          <p:nvPr/>
        </p:nvSpPr>
        <p:spPr>
          <a:xfrm>
            <a:off x="-30085" y="1298883"/>
            <a:ext cx="6617019" cy="2062103"/>
          </a:xfrm>
          <a:prstGeom prst="rect">
            <a:avLst/>
          </a:prstGeom>
          <a:noFill/>
        </p:spPr>
        <p:txBody>
          <a:bodyPr wrap="square" rtlCol="0">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Boost Revenue:</a:t>
            </a:r>
            <a:r>
              <a:rPr lang="en-US" altLang="en-US" sz="1600" dirty="0">
                <a:solidFill>
                  <a:schemeClr val="tx1">
                    <a:lumMod val="75000"/>
                    <a:lumOff val="25000"/>
                  </a:schemeClr>
                </a:solidFill>
                <a:latin typeface="Arial" panose="020B0604020202020204" pitchFamily="34" charset="0"/>
              </a:rPr>
              <a:t> Optimize product sales and pricing.</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Improve Operations:</a:t>
            </a:r>
            <a:r>
              <a:rPr lang="en-US" altLang="en-US" sz="1600" dirty="0">
                <a:solidFill>
                  <a:schemeClr val="tx1">
                    <a:lumMod val="75000"/>
                    <a:lumOff val="25000"/>
                  </a:schemeClr>
                </a:solidFill>
                <a:latin typeface="Arial" panose="020B0604020202020204" pitchFamily="34" charset="0"/>
              </a:rPr>
              <a:t> Streamline inventory and delivery.</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Enhance Customer Experience:</a:t>
            </a:r>
            <a:r>
              <a:rPr lang="en-US" altLang="en-US" sz="1600" dirty="0">
                <a:solidFill>
                  <a:schemeClr val="tx1">
                    <a:lumMod val="75000"/>
                    <a:lumOff val="25000"/>
                  </a:schemeClr>
                </a:solidFill>
                <a:latin typeface="Arial" panose="020B0604020202020204" pitchFamily="34" charset="0"/>
              </a:rPr>
              <a:t> Faster service, happier buyers.</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Data-Driven Decisions:</a:t>
            </a:r>
            <a:r>
              <a:rPr lang="en-US" altLang="en-US" sz="1600" dirty="0">
                <a:solidFill>
                  <a:schemeClr val="tx1">
                    <a:lumMod val="75000"/>
                    <a:lumOff val="25000"/>
                  </a:schemeClr>
                </a:solidFill>
                <a:latin typeface="Arial" panose="020B0604020202020204" pitchFamily="34" charset="0"/>
              </a:rPr>
              <a:t> Analyze trends and performance.</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Market Insights:</a:t>
            </a:r>
            <a:r>
              <a:rPr lang="en-US" altLang="en-US" sz="1600" dirty="0">
                <a:solidFill>
                  <a:schemeClr val="tx1">
                    <a:lumMod val="75000"/>
                    <a:lumOff val="25000"/>
                  </a:schemeClr>
                </a:solidFill>
                <a:latin typeface="Arial" panose="020B0604020202020204" pitchFamily="34" charset="0"/>
              </a:rPr>
              <a:t> Track demand and top products.</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Better Collaboration:</a:t>
            </a:r>
            <a:r>
              <a:rPr lang="en-US" altLang="en-US" sz="1600" dirty="0">
                <a:solidFill>
                  <a:schemeClr val="tx1">
                    <a:lumMod val="75000"/>
                    <a:lumOff val="25000"/>
                  </a:schemeClr>
                </a:solidFill>
                <a:latin typeface="Arial" panose="020B0604020202020204" pitchFamily="34" charset="0"/>
              </a:rPr>
              <a:t> Coordinate with suppliers and support.</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Innovate Services:</a:t>
            </a:r>
            <a:r>
              <a:rPr lang="en-US" altLang="en-US" sz="1600" dirty="0">
                <a:solidFill>
                  <a:schemeClr val="tx1">
                    <a:lumMod val="75000"/>
                    <a:lumOff val="25000"/>
                  </a:schemeClr>
                </a:solidFill>
                <a:latin typeface="Arial" panose="020B0604020202020204" pitchFamily="34" charset="0"/>
              </a:rPr>
              <a:t> New products and personalized offers.</a:t>
            </a:r>
          </a:p>
          <a:p>
            <a:pPr algn="just"/>
            <a:endParaRPr lang="en-IN" sz="1600" dirty="0">
              <a:solidFill>
                <a:schemeClr val="tx1">
                  <a:lumMod val="75000"/>
                  <a:lumOff val="25000"/>
                </a:schemeClr>
              </a:solidFill>
            </a:endParaRPr>
          </a:p>
        </p:txBody>
      </p:sp>
      <p:sp>
        <p:nvSpPr>
          <p:cNvPr id="28" name="TextBox 27">
            <a:extLst>
              <a:ext uri="{FF2B5EF4-FFF2-40B4-BE49-F238E27FC236}">
                <a16:creationId xmlns:a16="http://schemas.microsoft.com/office/drawing/2014/main" id="{FC26932D-45F8-F1BE-3287-2FDDF0D1061A}"/>
              </a:ext>
            </a:extLst>
          </p:cNvPr>
          <p:cNvSpPr txBox="1"/>
          <p:nvPr/>
        </p:nvSpPr>
        <p:spPr>
          <a:xfrm>
            <a:off x="-32259" y="3886820"/>
            <a:ext cx="7516680" cy="2062103"/>
          </a:xfrm>
          <a:prstGeom prst="rect">
            <a:avLst/>
          </a:prstGeom>
          <a:noFill/>
        </p:spPr>
        <p:txBody>
          <a:bodyPr wrap="square" rtlCol="0">
            <a:spAutoFit/>
          </a:bodyPr>
          <a:lstStyle/>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Inventory Management Issues:</a:t>
            </a:r>
            <a:r>
              <a:rPr lang="en-US" altLang="en-US" sz="1600" dirty="0">
                <a:solidFill>
                  <a:schemeClr val="tx1">
                    <a:lumMod val="75000"/>
                    <a:lumOff val="25000"/>
                  </a:schemeClr>
                </a:solidFill>
                <a:latin typeface="Arial" panose="020B0604020202020204" pitchFamily="34" charset="0"/>
              </a:rPr>
              <a:t> Stockouts or overstocking of products.</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Logistics &amp; Delivery Delays:</a:t>
            </a:r>
            <a:r>
              <a:rPr lang="en-US" altLang="en-US" sz="1600" dirty="0">
                <a:solidFill>
                  <a:schemeClr val="tx1">
                    <a:lumMod val="75000"/>
                    <a:lumOff val="25000"/>
                  </a:schemeClr>
                </a:solidFill>
                <a:latin typeface="Arial" panose="020B0604020202020204" pitchFamily="34" charset="0"/>
              </a:rPr>
              <a:t> Late shipments affecting customer satisfaction.</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High Competition:</a:t>
            </a:r>
            <a:r>
              <a:rPr lang="en-US" altLang="en-US" sz="1600" dirty="0">
                <a:solidFill>
                  <a:schemeClr val="tx1">
                    <a:lumMod val="75000"/>
                    <a:lumOff val="25000"/>
                  </a:schemeClr>
                </a:solidFill>
                <a:latin typeface="Arial" panose="020B0604020202020204" pitchFamily="34" charset="0"/>
              </a:rPr>
              <a:t> Competing with multiple sellers and marketplaces.</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Customer Retention:</a:t>
            </a:r>
            <a:r>
              <a:rPr lang="en-US" altLang="en-US" sz="1600" dirty="0">
                <a:solidFill>
                  <a:schemeClr val="tx1">
                    <a:lumMod val="75000"/>
                    <a:lumOff val="25000"/>
                  </a:schemeClr>
                </a:solidFill>
                <a:latin typeface="Arial" panose="020B0604020202020204" pitchFamily="34" charset="0"/>
              </a:rPr>
              <a:t> Maintaining loyalty and repeat purchases.</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Data Accuracy &amp; Insights:</a:t>
            </a:r>
            <a:r>
              <a:rPr lang="en-US" altLang="en-US" sz="1600" dirty="0">
                <a:solidFill>
                  <a:schemeClr val="tx1">
                    <a:lumMod val="75000"/>
                    <a:lumOff val="25000"/>
                  </a:schemeClr>
                </a:solidFill>
                <a:latin typeface="Arial" panose="020B0604020202020204" pitchFamily="34" charset="0"/>
              </a:rPr>
              <a:t> Incomplete or inconsistent sales and customer data.</a:t>
            </a:r>
          </a:p>
          <a:p>
            <a:pPr marL="285750" lvl="0" indent="-285750" algn="just" eaLnBrk="0" fontAlgn="base" hangingPunct="0">
              <a:spcBef>
                <a:spcPct val="0"/>
              </a:spcBef>
              <a:spcAft>
                <a:spcPct val="0"/>
              </a:spcAft>
              <a:buFont typeface="Arial" panose="020B0604020202020204" pitchFamily="34" charset="0"/>
              <a:buChar char="•"/>
            </a:pPr>
            <a:r>
              <a:rPr lang="en-US" altLang="en-US" sz="1600" b="1" dirty="0">
                <a:solidFill>
                  <a:schemeClr val="tx1">
                    <a:lumMod val="75000"/>
                    <a:lumOff val="25000"/>
                  </a:schemeClr>
                </a:solidFill>
                <a:latin typeface="Arial" panose="020B0604020202020204" pitchFamily="34" charset="0"/>
              </a:rPr>
              <a:t>Return &amp; Refund Handling:</a:t>
            </a:r>
            <a:r>
              <a:rPr lang="en-US" altLang="en-US" sz="1600" dirty="0">
                <a:solidFill>
                  <a:schemeClr val="tx1">
                    <a:lumMod val="75000"/>
                    <a:lumOff val="25000"/>
                  </a:schemeClr>
                </a:solidFill>
                <a:latin typeface="Arial" panose="020B0604020202020204" pitchFamily="34" charset="0"/>
              </a:rPr>
              <a:t> Managing high return rates efficiently.</a:t>
            </a:r>
          </a:p>
          <a:p>
            <a:pPr algn="just"/>
            <a:endParaRPr lang="en-IN" sz="1600" dirty="0">
              <a:solidFill>
                <a:schemeClr val="tx1">
                  <a:lumMod val="75000"/>
                  <a:lumOff val="25000"/>
                </a:schemeClr>
              </a:solidFill>
            </a:endParaRPr>
          </a:p>
        </p:txBody>
      </p:sp>
    </p:spTree>
    <p:extLst>
      <p:ext uri="{BB962C8B-B14F-4D97-AF65-F5344CB8AC3E}">
        <p14:creationId xmlns:p14="http://schemas.microsoft.com/office/powerpoint/2010/main" val="205424831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499"/>
                                          </p:stCondLst>
                                        </p:cTn>
                                        <p:tgtEl>
                                          <p:spTgt spid="17"/>
                                        </p:tgtEl>
                                        <p:attrNameLst>
                                          <p:attrName>style.visibility</p:attrName>
                                        </p:attrNameLst>
                                      </p:cBhvr>
                                      <p:to>
                                        <p:strVal val="visible"/>
                                      </p:to>
                                    </p:set>
                                  </p:childTnLst>
                                </p:cTn>
                              </p:par>
                            </p:childTnLst>
                          </p:cTn>
                        </p:par>
                        <p:par>
                          <p:cTn id="7" fill="hold">
                            <p:stCondLst>
                              <p:cond delay="500"/>
                            </p:stCondLst>
                            <p:childTnLst>
                              <p:par>
                                <p:cTn id="8" presetID="1" presetClass="entr" presetSubtype="0" fill="hold" grpId="0" nodeType="afterEffect">
                                  <p:stCondLst>
                                    <p:cond delay="0"/>
                                  </p:stCondLst>
                                  <p:childTnLst>
                                    <p:set>
                                      <p:cBhvr>
                                        <p:cTn id="9" dur="1" fill="hold">
                                          <p:stCondLst>
                                            <p:cond delay="499"/>
                                          </p:stCondLst>
                                        </p:cTn>
                                        <p:tgtEl>
                                          <p:spTgt spid="18"/>
                                        </p:tgtEl>
                                        <p:attrNameLst>
                                          <p:attrName>style.visibility</p:attrName>
                                        </p:attrNameLst>
                                      </p:cBhvr>
                                      <p:to>
                                        <p:strVal val="visible"/>
                                      </p:to>
                                    </p:set>
                                  </p:childTnLst>
                                </p:cTn>
                              </p:par>
                            </p:childTnLst>
                          </p:cTn>
                        </p:par>
                        <p:par>
                          <p:cTn id="10" fill="hold">
                            <p:stCondLst>
                              <p:cond delay="1000"/>
                            </p:stCondLst>
                            <p:childTnLst>
                              <p:par>
                                <p:cTn id="11" presetID="1" presetClass="entr" presetSubtype="0" fill="hold" grpId="0" nodeType="afterEffect">
                                  <p:stCondLst>
                                    <p:cond delay="0"/>
                                  </p:stCondLst>
                                  <p:childTnLst>
                                    <p:set>
                                      <p:cBhvr>
                                        <p:cTn id="12" dur="1" fill="hold">
                                          <p:stCondLst>
                                            <p:cond delay="499"/>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p:bldP spid="18" grpId="0"/>
      <p:bldP spid="20"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4C89D1-7584-4725-7553-B730F2808D81}"/>
            </a:ext>
          </a:extLst>
        </p:cNvPr>
        <p:cNvGrpSpPr/>
        <p:nvPr/>
      </p:nvGrpSpPr>
      <p:grpSpPr>
        <a:xfrm>
          <a:off x="0" y="0"/>
          <a:ext cx="0" cy="0"/>
          <a:chOff x="0" y="0"/>
          <a:chExt cx="0" cy="0"/>
        </a:xfrm>
      </p:grpSpPr>
      <p:grpSp>
        <p:nvGrpSpPr>
          <p:cNvPr id="50" name="Group 49">
            <a:extLst>
              <a:ext uri="{FF2B5EF4-FFF2-40B4-BE49-F238E27FC236}">
                <a16:creationId xmlns:a16="http://schemas.microsoft.com/office/drawing/2014/main" id="{7347CDA5-9C97-9951-A95D-6FEADF312679}"/>
              </a:ext>
            </a:extLst>
          </p:cNvPr>
          <p:cNvGrpSpPr/>
          <p:nvPr/>
        </p:nvGrpSpPr>
        <p:grpSpPr>
          <a:xfrm>
            <a:off x="-290920" y="0"/>
            <a:ext cx="12482920" cy="6858000"/>
            <a:chOff x="-290920" y="0"/>
            <a:chExt cx="12482920" cy="6858000"/>
          </a:xfrm>
        </p:grpSpPr>
        <p:sp>
          <p:nvSpPr>
            <p:cNvPr id="51" name="Rectangle 50">
              <a:extLst>
                <a:ext uri="{FF2B5EF4-FFF2-40B4-BE49-F238E27FC236}">
                  <a16:creationId xmlns:a16="http://schemas.microsoft.com/office/drawing/2014/main" id="{C87A0972-4896-099D-8D23-AF869B112AE8}"/>
                </a:ext>
              </a:extLst>
            </p:cNvPr>
            <p:cNvSpPr/>
            <p:nvPr/>
          </p:nvSpPr>
          <p:spPr>
            <a:xfrm>
              <a:off x="-290920" y="0"/>
              <a:ext cx="124829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2" name="Freeform: Shape 51">
              <a:extLst>
                <a:ext uri="{FF2B5EF4-FFF2-40B4-BE49-F238E27FC236}">
                  <a16:creationId xmlns:a16="http://schemas.microsoft.com/office/drawing/2014/main" id="{AEE158FC-A205-6C2B-A8DE-E4A2C42EC042}"/>
                </a:ext>
              </a:extLst>
            </p:cNvPr>
            <p:cNvSpPr/>
            <p:nvPr/>
          </p:nvSpPr>
          <p:spPr>
            <a:xfrm>
              <a:off x="11023600"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3" name="TextBox 52">
              <a:extLst>
                <a:ext uri="{FF2B5EF4-FFF2-40B4-BE49-F238E27FC236}">
                  <a16:creationId xmlns:a16="http://schemas.microsoft.com/office/drawing/2014/main" id="{84E3EBEB-CA3E-D25D-E05D-AD535ADABCFD}"/>
                </a:ext>
              </a:extLst>
            </p:cNvPr>
            <p:cNvSpPr txBox="1"/>
            <p:nvPr/>
          </p:nvSpPr>
          <p:spPr>
            <a:xfrm rot="16200000">
              <a:off x="10872792" y="3194734"/>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Group</a:t>
              </a:r>
            </a:p>
          </p:txBody>
        </p:sp>
        <p:pic>
          <p:nvPicPr>
            <p:cNvPr id="54" name="Picture 53">
              <a:extLst>
                <a:ext uri="{FF2B5EF4-FFF2-40B4-BE49-F238E27FC236}">
                  <a16:creationId xmlns:a16="http://schemas.microsoft.com/office/drawing/2014/main" id="{5255A1EA-6891-8D8F-0A92-58176A64525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1129999" y="3247473"/>
              <a:ext cx="530600" cy="530600"/>
            </a:xfrm>
            <a:prstGeom prst="rect">
              <a:avLst/>
            </a:prstGeom>
          </p:spPr>
        </p:pic>
      </p:grpSp>
      <p:grpSp>
        <p:nvGrpSpPr>
          <p:cNvPr id="55" name="Group 54">
            <a:extLst>
              <a:ext uri="{FF2B5EF4-FFF2-40B4-BE49-F238E27FC236}">
                <a16:creationId xmlns:a16="http://schemas.microsoft.com/office/drawing/2014/main" id="{3D8249CD-19C9-D142-24E9-E91999D434B4}"/>
              </a:ext>
            </a:extLst>
          </p:cNvPr>
          <p:cNvGrpSpPr/>
          <p:nvPr/>
        </p:nvGrpSpPr>
        <p:grpSpPr>
          <a:xfrm>
            <a:off x="226788" y="-2"/>
            <a:ext cx="11447504" cy="6858000"/>
            <a:chOff x="213096" y="0"/>
            <a:chExt cx="11447504" cy="6858000"/>
          </a:xfrm>
        </p:grpSpPr>
        <p:sp>
          <p:nvSpPr>
            <p:cNvPr id="56" name="Rectangle 55">
              <a:extLst>
                <a:ext uri="{FF2B5EF4-FFF2-40B4-BE49-F238E27FC236}">
                  <a16:creationId xmlns:a16="http://schemas.microsoft.com/office/drawing/2014/main" id="{0EC5AD9D-A7B0-054E-0022-3F61CD1C6BBC}"/>
                </a:ext>
              </a:extLst>
            </p:cNvPr>
            <p:cNvSpPr/>
            <p:nvPr/>
          </p:nvSpPr>
          <p:spPr>
            <a:xfrm>
              <a:off x="213096" y="0"/>
              <a:ext cx="1144750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7" name="Freeform: Shape 56">
              <a:extLst>
                <a:ext uri="{FF2B5EF4-FFF2-40B4-BE49-F238E27FC236}">
                  <a16:creationId xmlns:a16="http://schemas.microsoft.com/office/drawing/2014/main" id="{84F969A1-23D0-D106-24B7-319A0D66C1CA}"/>
                </a:ext>
              </a:extLst>
            </p:cNvPr>
            <p:cNvSpPr/>
            <p:nvPr/>
          </p:nvSpPr>
          <p:spPr>
            <a:xfrm>
              <a:off x="10492197" y="2337441"/>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2CDC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8" name="TextBox 57">
              <a:extLst>
                <a:ext uri="{FF2B5EF4-FFF2-40B4-BE49-F238E27FC236}">
                  <a16:creationId xmlns:a16="http://schemas.microsoft.com/office/drawing/2014/main" id="{FF7B1431-8B65-E63D-D862-95B80DEE2184}"/>
                </a:ext>
              </a:extLst>
            </p:cNvPr>
            <p:cNvSpPr txBox="1"/>
            <p:nvPr/>
          </p:nvSpPr>
          <p:spPr>
            <a:xfrm rot="16200000">
              <a:off x="10283407" y="3163818"/>
              <a:ext cx="2108055"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Summary</a:t>
              </a:r>
            </a:p>
          </p:txBody>
        </p:sp>
        <p:pic>
          <p:nvPicPr>
            <p:cNvPr id="59" name="Picture 58">
              <a:extLst>
                <a:ext uri="{FF2B5EF4-FFF2-40B4-BE49-F238E27FC236}">
                  <a16:creationId xmlns:a16="http://schemas.microsoft.com/office/drawing/2014/main" id="{95173A74-455A-33D1-E826-043AED4C96F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10600933" y="3247473"/>
              <a:ext cx="530600" cy="530600"/>
            </a:xfrm>
            <a:prstGeom prst="rect">
              <a:avLst/>
            </a:prstGeom>
          </p:spPr>
        </p:pic>
      </p:grpSp>
      <p:grpSp>
        <p:nvGrpSpPr>
          <p:cNvPr id="60" name="Group 59">
            <a:extLst>
              <a:ext uri="{FF2B5EF4-FFF2-40B4-BE49-F238E27FC236}">
                <a16:creationId xmlns:a16="http://schemas.microsoft.com/office/drawing/2014/main" id="{9B58DD2C-E72C-D1F6-4CBE-3CBF24D932B6}"/>
              </a:ext>
            </a:extLst>
          </p:cNvPr>
          <p:cNvGrpSpPr/>
          <p:nvPr/>
        </p:nvGrpSpPr>
        <p:grpSpPr>
          <a:xfrm>
            <a:off x="1184133" y="0"/>
            <a:ext cx="9961092" cy="6858000"/>
            <a:chOff x="491575" y="0"/>
            <a:chExt cx="9961092" cy="6858000"/>
          </a:xfrm>
        </p:grpSpPr>
        <p:sp>
          <p:nvSpPr>
            <p:cNvPr id="61" name="Rectangle 60">
              <a:extLst>
                <a:ext uri="{FF2B5EF4-FFF2-40B4-BE49-F238E27FC236}">
                  <a16:creationId xmlns:a16="http://schemas.microsoft.com/office/drawing/2014/main" id="{B81F91AE-B4B2-AE2B-92CF-02063B018B4E}"/>
                </a:ext>
              </a:extLst>
            </p:cNvPr>
            <p:cNvSpPr/>
            <p:nvPr/>
          </p:nvSpPr>
          <p:spPr>
            <a:xfrm>
              <a:off x="491575" y="0"/>
              <a:ext cx="9961092"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2" name="Freeform: Shape 61">
              <a:extLst>
                <a:ext uri="{FF2B5EF4-FFF2-40B4-BE49-F238E27FC236}">
                  <a16:creationId xmlns:a16="http://schemas.microsoft.com/office/drawing/2014/main" id="{A2638489-62A0-2AC7-EBDD-1FAEB13527BB}"/>
                </a:ext>
              </a:extLst>
            </p:cNvPr>
            <p:cNvSpPr/>
            <p:nvPr/>
          </p:nvSpPr>
          <p:spPr>
            <a:xfrm>
              <a:off x="9284267"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C73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3" name="TextBox 62">
              <a:extLst>
                <a:ext uri="{FF2B5EF4-FFF2-40B4-BE49-F238E27FC236}">
                  <a16:creationId xmlns:a16="http://schemas.microsoft.com/office/drawing/2014/main" id="{18AC24C9-064F-4488-80EA-FBF365E32129}"/>
                </a:ext>
              </a:extLst>
            </p:cNvPr>
            <p:cNvSpPr txBox="1"/>
            <p:nvPr/>
          </p:nvSpPr>
          <p:spPr>
            <a:xfrm rot="16200000">
              <a:off x="9117129" y="3189611"/>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KPI List</a:t>
              </a:r>
            </a:p>
          </p:txBody>
        </p:sp>
        <p:pic>
          <p:nvPicPr>
            <p:cNvPr id="64" name="Picture 63">
              <a:extLst>
                <a:ext uri="{FF2B5EF4-FFF2-40B4-BE49-F238E27FC236}">
                  <a16:creationId xmlns:a16="http://schemas.microsoft.com/office/drawing/2014/main" id="{4B0D385D-0A35-EE3E-3187-F79A5225A83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9385467" y="3247473"/>
              <a:ext cx="530600" cy="530600"/>
            </a:xfrm>
            <a:prstGeom prst="rect">
              <a:avLst/>
            </a:prstGeom>
          </p:spPr>
        </p:pic>
      </p:grpSp>
      <p:grpSp>
        <p:nvGrpSpPr>
          <p:cNvPr id="95" name="Group 94">
            <a:extLst>
              <a:ext uri="{FF2B5EF4-FFF2-40B4-BE49-F238E27FC236}">
                <a16:creationId xmlns:a16="http://schemas.microsoft.com/office/drawing/2014/main" id="{D8574AA6-A54B-BD3F-9A34-0D134A7E5CAC}"/>
              </a:ext>
            </a:extLst>
          </p:cNvPr>
          <p:cNvGrpSpPr/>
          <p:nvPr/>
        </p:nvGrpSpPr>
        <p:grpSpPr>
          <a:xfrm>
            <a:off x="1049062" y="0"/>
            <a:ext cx="9574094" cy="6858000"/>
            <a:chOff x="491575" y="0"/>
            <a:chExt cx="9574094" cy="6858000"/>
          </a:xfrm>
        </p:grpSpPr>
        <p:sp>
          <p:nvSpPr>
            <p:cNvPr id="96" name="Rectangle 95">
              <a:extLst>
                <a:ext uri="{FF2B5EF4-FFF2-40B4-BE49-F238E27FC236}">
                  <a16:creationId xmlns:a16="http://schemas.microsoft.com/office/drawing/2014/main" id="{FE8DAE27-6377-6D08-F80B-2871C71579D5}"/>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7" name="Freeform: Shape 96">
              <a:extLst>
                <a:ext uri="{FF2B5EF4-FFF2-40B4-BE49-F238E27FC236}">
                  <a16:creationId xmlns:a16="http://schemas.microsoft.com/office/drawing/2014/main" id="{B69EDEC9-34AC-29B6-1310-98B9E285972E}"/>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5D737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8" name="TextBox 97">
              <a:extLst>
                <a:ext uri="{FF2B5EF4-FFF2-40B4-BE49-F238E27FC236}">
                  <a16:creationId xmlns:a16="http://schemas.microsoft.com/office/drawing/2014/main" id="{5E1D38CC-0300-C736-0BC5-9073FF652DA2}"/>
                </a:ext>
              </a:extLst>
            </p:cNvPr>
            <p:cNvSpPr txBox="1"/>
            <p:nvPr/>
          </p:nvSpPr>
          <p:spPr>
            <a:xfrm rot="16200000">
              <a:off x="8746453" y="3189610"/>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Excel</a:t>
              </a:r>
            </a:p>
          </p:txBody>
        </p:sp>
        <p:pic>
          <p:nvPicPr>
            <p:cNvPr id="99" name="Picture 98">
              <a:extLst>
                <a:ext uri="{FF2B5EF4-FFF2-40B4-BE49-F238E27FC236}">
                  <a16:creationId xmlns:a16="http://schemas.microsoft.com/office/drawing/2014/main" id="{4EBCEB34-767B-8EE3-C4BD-6D5F473DBE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71" name="Group 70">
            <a:extLst>
              <a:ext uri="{FF2B5EF4-FFF2-40B4-BE49-F238E27FC236}">
                <a16:creationId xmlns:a16="http://schemas.microsoft.com/office/drawing/2014/main" id="{93B20F8F-3EBA-5854-B493-B6758502DD5F}"/>
              </a:ext>
            </a:extLst>
          </p:cNvPr>
          <p:cNvGrpSpPr/>
          <p:nvPr/>
        </p:nvGrpSpPr>
        <p:grpSpPr>
          <a:xfrm>
            <a:off x="-1743342" y="11249"/>
            <a:ext cx="11902088" cy="6858000"/>
            <a:chOff x="-2491251" y="-46733"/>
            <a:chExt cx="11902088" cy="6858000"/>
          </a:xfrm>
        </p:grpSpPr>
        <p:sp>
          <p:nvSpPr>
            <p:cNvPr id="72" name="Rectangle 71">
              <a:extLst>
                <a:ext uri="{FF2B5EF4-FFF2-40B4-BE49-F238E27FC236}">
                  <a16:creationId xmlns:a16="http://schemas.microsoft.com/office/drawing/2014/main" id="{B3E6415F-C07B-2559-CF7A-D89C5C5C2647}"/>
                </a:ext>
              </a:extLst>
            </p:cNvPr>
            <p:cNvSpPr/>
            <p:nvPr/>
          </p:nvSpPr>
          <p:spPr>
            <a:xfrm>
              <a:off x="-2491251" y="-46733"/>
              <a:ext cx="11860720"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3" name="Freeform: Shape 72">
              <a:extLst>
                <a:ext uri="{FF2B5EF4-FFF2-40B4-BE49-F238E27FC236}">
                  <a16:creationId xmlns:a16="http://schemas.microsoft.com/office/drawing/2014/main" id="{B92E55CC-A888-0970-EDD7-2A232E9DC751}"/>
                </a:ext>
              </a:extLst>
            </p:cNvPr>
            <p:cNvSpPr/>
            <p:nvPr/>
          </p:nvSpPr>
          <p:spPr>
            <a:xfrm>
              <a:off x="8194816" y="234562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4" name="TextBox 73">
              <a:extLst>
                <a:ext uri="{FF2B5EF4-FFF2-40B4-BE49-F238E27FC236}">
                  <a16:creationId xmlns:a16="http://schemas.microsoft.com/office/drawing/2014/main" id="{005E458E-4CB2-96A8-3736-2E04ED333530}"/>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Tableau</a:t>
              </a:r>
            </a:p>
          </p:txBody>
        </p:sp>
        <p:pic>
          <p:nvPicPr>
            <p:cNvPr id="75" name="Picture 74">
              <a:extLst>
                <a:ext uri="{FF2B5EF4-FFF2-40B4-BE49-F238E27FC236}">
                  <a16:creationId xmlns:a16="http://schemas.microsoft.com/office/drawing/2014/main" id="{4FB3147A-F2D5-8C85-022C-5B394E470E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2" name="Group 1">
            <a:extLst>
              <a:ext uri="{FF2B5EF4-FFF2-40B4-BE49-F238E27FC236}">
                <a16:creationId xmlns:a16="http://schemas.microsoft.com/office/drawing/2014/main" id="{C92D317D-EAE2-EEC0-A0EC-7EB349D94BEB}"/>
              </a:ext>
            </a:extLst>
          </p:cNvPr>
          <p:cNvGrpSpPr/>
          <p:nvPr/>
        </p:nvGrpSpPr>
        <p:grpSpPr>
          <a:xfrm>
            <a:off x="907245" y="16095"/>
            <a:ext cx="8704386" cy="6858000"/>
            <a:chOff x="757071" y="-74077"/>
            <a:chExt cx="8704386" cy="6858000"/>
          </a:xfrm>
        </p:grpSpPr>
        <p:sp>
          <p:nvSpPr>
            <p:cNvPr id="3" name="Rectangle 2">
              <a:extLst>
                <a:ext uri="{FF2B5EF4-FFF2-40B4-BE49-F238E27FC236}">
                  <a16:creationId xmlns:a16="http://schemas.microsoft.com/office/drawing/2014/main" id="{A28C6B88-ADD2-4B9E-9D81-7EF6C1A203B6}"/>
                </a:ext>
              </a:extLst>
            </p:cNvPr>
            <p:cNvSpPr/>
            <p:nvPr/>
          </p:nvSpPr>
          <p:spPr>
            <a:xfrm>
              <a:off x="757071" y="-74077"/>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Freeform: Shape 3">
              <a:extLst>
                <a:ext uri="{FF2B5EF4-FFF2-40B4-BE49-F238E27FC236}">
                  <a16:creationId xmlns:a16="http://schemas.microsoft.com/office/drawing/2014/main" id="{C5E3D5A8-FCB3-AEFA-738D-5165A39A4762}"/>
                </a:ext>
              </a:extLst>
            </p:cNvPr>
            <p:cNvSpPr/>
            <p:nvPr/>
          </p:nvSpPr>
          <p:spPr>
            <a:xfrm>
              <a:off x="8293057" y="2313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00B0F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0C016917-0302-EC83-6BEF-BF232D425916}"/>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Power BI</a:t>
              </a:r>
            </a:p>
          </p:txBody>
        </p:sp>
        <p:pic>
          <p:nvPicPr>
            <p:cNvPr id="6" name="Picture 5">
              <a:extLst>
                <a:ext uri="{FF2B5EF4-FFF2-40B4-BE49-F238E27FC236}">
                  <a16:creationId xmlns:a16="http://schemas.microsoft.com/office/drawing/2014/main" id="{47808889-0E51-9BB4-DB9C-074955FB758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7" name="Group 6">
            <a:extLst>
              <a:ext uri="{FF2B5EF4-FFF2-40B4-BE49-F238E27FC236}">
                <a16:creationId xmlns:a16="http://schemas.microsoft.com/office/drawing/2014/main" id="{E9F53503-0356-2BC6-D200-786BE728B4CA}"/>
              </a:ext>
            </a:extLst>
          </p:cNvPr>
          <p:cNvGrpSpPr/>
          <p:nvPr/>
        </p:nvGrpSpPr>
        <p:grpSpPr>
          <a:xfrm>
            <a:off x="364930" y="18518"/>
            <a:ext cx="8692332" cy="6858000"/>
            <a:chOff x="718505" y="-1"/>
            <a:chExt cx="8692332" cy="6858000"/>
          </a:xfrm>
        </p:grpSpPr>
        <p:sp>
          <p:nvSpPr>
            <p:cNvPr id="8" name="Rectangle 7">
              <a:extLst>
                <a:ext uri="{FF2B5EF4-FFF2-40B4-BE49-F238E27FC236}">
                  <a16:creationId xmlns:a16="http://schemas.microsoft.com/office/drawing/2014/main" id="{80C69FA6-D22B-EECC-3B0B-D191104E84F4}"/>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9" name="Freeform: Shape 8">
              <a:extLst>
                <a:ext uri="{FF2B5EF4-FFF2-40B4-BE49-F238E27FC236}">
                  <a16:creationId xmlns:a16="http://schemas.microsoft.com/office/drawing/2014/main" id="{25941CDC-DAF0-D8C6-144B-BF3E97C616CC}"/>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92D05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a:extLst>
                <a:ext uri="{FF2B5EF4-FFF2-40B4-BE49-F238E27FC236}">
                  <a16:creationId xmlns:a16="http://schemas.microsoft.com/office/drawing/2014/main" id="{37923DF6-45C9-F2BF-7539-4AC99CBA90C0}"/>
                </a:ext>
              </a:extLst>
            </p:cNvPr>
            <p:cNvSpPr txBox="1"/>
            <p:nvPr/>
          </p:nvSpPr>
          <p:spPr>
            <a:xfrm rot="16200000">
              <a:off x="8091629" y="3189609"/>
              <a:ext cx="1992086"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SQL</a:t>
              </a:r>
            </a:p>
          </p:txBody>
        </p:sp>
        <p:pic>
          <p:nvPicPr>
            <p:cNvPr id="11" name="Picture 10">
              <a:extLst>
                <a:ext uri="{FF2B5EF4-FFF2-40B4-BE49-F238E27FC236}">
                  <a16:creationId xmlns:a16="http://schemas.microsoft.com/office/drawing/2014/main" id="{64A7D5A1-C81D-A126-8126-BFD5FEAB3A8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grpSp>
        <p:nvGrpSpPr>
          <p:cNvPr id="12" name="Group 11">
            <a:extLst>
              <a:ext uri="{FF2B5EF4-FFF2-40B4-BE49-F238E27FC236}">
                <a16:creationId xmlns:a16="http://schemas.microsoft.com/office/drawing/2014/main" id="{EB42DEF4-9DC0-D21E-8000-D461D917820D}"/>
              </a:ext>
            </a:extLst>
          </p:cNvPr>
          <p:cNvGrpSpPr/>
          <p:nvPr/>
        </p:nvGrpSpPr>
        <p:grpSpPr>
          <a:xfrm>
            <a:off x="-1021293" y="41884"/>
            <a:ext cx="9574094" cy="6858000"/>
            <a:chOff x="491575" y="0"/>
            <a:chExt cx="9574094" cy="6858000"/>
          </a:xfrm>
        </p:grpSpPr>
        <p:sp>
          <p:nvSpPr>
            <p:cNvPr id="13" name="Rectangle 12">
              <a:extLst>
                <a:ext uri="{FF2B5EF4-FFF2-40B4-BE49-F238E27FC236}">
                  <a16:creationId xmlns:a16="http://schemas.microsoft.com/office/drawing/2014/main" id="{48F1BC54-05E1-9C6E-3DF2-BF63DBBBDA3C}"/>
                </a:ext>
              </a:extLst>
            </p:cNvPr>
            <p:cNvSpPr/>
            <p:nvPr/>
          </p:nvSpPr>
          <p:spPr>
            <a:xfrm>
              <a:off x="491575" y="0"/>
              <a:ext cx="9574094"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4" name="Freeform: Shape 13">
              <a:extLst>
                <a:ext uri="{FF2B5EF4-FFF2-40B4-BE49-F238E27FC236}">
                  <a16:creationId xmlns:a16="http://schemas.microsoft.com/office/drawing/2014/main" id="{9FF0DCF2-1B81-A198-0E56-1B08058419A8}"/>
                </a:ext>
              </a:extLst>
            </p:cNvPr>
            <p:cNvSpPr/>
            <p:nvPr/>
          </p:nvSpPr>
          <p:spPr>
            <a:xfrm>
              <a:off x="8897260" y="2337440"/>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TextBox 14">
              <a:extLst>
                <a:ext uri="{FF2B5EF4-FFF2-40B4-BE49-F238E27FC236}">
                  <a16:creationId xmlns:a16="http://schemas.microsoft.com/office/drawing/2014/main" id="{C6232286-2B8E-59BC-B8CE-F3B81A976F30}"/>
                </a:ext>
              </a:extLst>
            </p:cNvPr>
            <p:cNvSpPr txBox="1"/>
            <p:nvPr/>
          </p:nvSpPr>
          <p:spPr>
            <a:xfrm rot="16200000">
              <a:off x="8651682" y="3284380"/>
              <a:ext cx="2181627" cy="646331"/>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Takeaway</a:t>
              </a:r>
            </a:p>
          </p:txBody>
        </p:sp>
        <p:pic>
          <p:nvPicPr>
            <p:cNvPr id="16" name="Picture 15">
              <a:extLst>
                <a:ext uri="{FF2B5EF4-FFF2-40B4-BE49-F238E27FC236}">
                  <a16:creationId xmlns:a16="http://schemas.microsoft.com/office/drawing/2014/main" id="{46307DC1-3CEB-4974-3410-3AFAD5D877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992269" y="3247473"/>
              <a:ext cx="530600" cy="530600"/>
            </a:xfrm>
            <a:prstGeom prst="rect">
              <a:avLst/>
            </a:prstGeom>
          </p:spPr>
        </p:pic>
      </p:grpSp>
      <p:grpSp>
        <p:nvGrpSpPr>
          <p:cNvPr id="22" name="Group 21">
            <a:extLst>
              <a:ext uri="{FF2B5EF4-FFF2-40B4-BE49-F238E27FC236}">
                <a16:creationId xmlns:a16="http://schemas.microsoft.com/office/drawing/2014/main" id="{7BDDAE84-868B-EDD5-75FE-7691ABB0E58D}"/>
              </a:ext>
            </a:extLst>
          </p:cNvPr>
          <p:cNvGrpSpPr/>
          <p:nvPr/>
        </p:nvGrpSpPr>
        <p:grpSpPr>
          <a:xfrm>
            <a:off x="-1784710" y="37038"/>
            <a:ext cx="9796323" cy="6858000"/>
            <a:chOff x="718505" y="-1"/>
            <a:chExt cx="8692331" cy="6858000"/>
          </a:xfrm>
        </p:grpSpPr>
        <p:sp>
          <p:nvSpPr>
            <p:cNvPr id="23" name="Rectangle 22">
              <a:extLst>
                <a:ext uri="{FF2B5EF4-FFF2-40B4-BE49-F238E27FC236}">
                  <a16:creationId xmlns:a16="http://schemas.microsoft.com/office/drawing/2014/main" id="{E6466C6B-097C-CC31-9073-532F6D334331}"/>
                </a:ext>
              </a:extLst>
            </p:cNvPr>
            <p:cNvSpPr/>
            <p:nvPr/>
          </p:nvSpPr>
          <p:spPr>
            <a:xfrm>
              <a:off x="718505" y="-1"/>
              <a:ext cx="8692331" cy="6858000"/>
            </a:xfrm>
            <a:prstGeom prst="rect">
              <a:avLst/>
            </a:prstGeom>
            <a:solidFill>
              <a:srgbClr val="F0EEF0"/>
            </a:solidFill>
            <a:ln>
              <a:noFill/>
            </a:ln>
            <a:effectLst>
              <a:outerShdw blurRad="215900" dist="38100" sx="101000" sy="101000" algn="l" rotWithShape="0">
                <a:schemeClr val="tx1">
                  <a:lumMod val="65000"/>
                  <a:lumOff val="3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Freeform: Shape 23">
              <a:extLst>
                <a:ext uri="{FF2B5EF4-FFF2-40B4-BE49-F238E27FC236}">
                  <a16:creationId xmlns:a16="http://schemas.microsoft.com/office/drawing/2014/main" id="{EE25A34F-DCCE-5BCE-106B-1FA866F39A45}"/>
                </a:ext>
              </a:extLst>
            </p:cNvPr>
            <p:cNvSpPr/>
            <p:nvPr/>
          </p:nvSpPr>
          <p:spPr>
            <a:xfrm>
              <a:off x="8242436" y="2337439"/>
              <a:ext cx="1168400" cy="2360918"/>
            </a:xfrm>
            <a:custGeom>
              <a:avLst/>
              <a:gdLst>
                <a:gd name="connsiteX0" fmla="*/ 1168400 w 1168400"/>
                <a:gd name="connsiteY0" fmla="*/ 0 h 2360918"/>
                <a:gd name="connsiteX1" fmla="*/ 1168400 w 1168400"/>
                <a:gd name="connsiteY1" fmla="*/ 2360918 h 2360918"/>
                <a:gd name="connsiteX2" fmla="*/ 1060340 w 1168400"/>
                <a:gd name="connsiteY2" fmla="*/ 2355461 h 2360918"/>
                <a:gd name="connsiteX3" fmla="*/ 0 w 1168400"/>
                <a:gd name="connsiteY3" fmla="*/ 1180459 h 2360918"/>
                <a:gd name="connsiteX4" fmla="*/ 1060340 w 1168400"/>
                <a:gd name="connsiteY4" fmla="*/ 5457 h 23609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68400" h="2360918">
                  <a:moveTo>
                    <a:pt x="1168400" y="0"/>
                  </a:moveTo>
                  <a:lnTo>
                    <a:pt x="1168400" y="2360918"/>
                  </a:lnTo>
                  <a:lnTo>
                    <a:pt x="1060340" y="2355461"/>
                  </a:lnTo>
                  <a:cubicBezTo>
                    <a:pt x="464762" y="2294977"/>
                    <a:pt x="0" y="1791994"/>
                    <a:pt x="0" y="1180459"/>
                  </a:cubicBezTo>
                  <a:cubicBezTo>
                    <a:pt x="0" y="568924"/>
                    <a:pt x="464762" y="65941"/>
                    <a:pt x="1060340" y="5457"/>
                  </a:cubicBezTo>
                  <a:close/>
                </a:path>
              </a:pathLst>
            </a:custGeom>
            <a:solidFill>
              <a:srgbClr val="FF596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5" name="TextBox 24">
              <a:extLst>
                <a:ext uri="{FF2B5EF4-FFF2-40B4-BE49-F238E27FC236}">
                  <a16:creationId xmlns:a16="http://schemas.microsoft.com/office/drawing/2014/main" id="{B0160EA4-A86C-3971-F6B0-2EB2942F3AEA}"/>
                </a:ext>
              </a:extLst>
            </p:cNvPr>
            <p:cNvSpPr txBox="1"/>
            <p:nvPr/>
          </p:nvSpPr>
          <p:spPr>
            <a:xfrm rot="16200000">
              <a:off x="7936450" y="3260388"/>
              <a:ext cx="2302443" cy="573493"/>
            </a:xfrm>
            <a:prstGeom prst="rect">
              <a:avLst/>
            </a:prstGeom>
            <a:noFill/>
          </p:spPr>
          <p:txBody>
            <a:bodyPr wrap="square" rtlCol="0">
              <a:spAutoFit/>
            </a:bodyPr>
            <a:lstStyle/>
            <a:p>
              <a:pPr algn="ctr"/>
              <a:r>
                <a:rPr lang="en-US" sz="3600" b="1" dirty="0">
                  <a:solidFill>
                    <a:srgbClr val="F0EEF0"/>
                  </a:solidFill>
                  <a:latin typeface="Tw Cen MT" panose="020B0602020104020603" pitchFamily="34" charset="0"/>
                </a:rPr>
                <a:t>Conclusion</a:t>
              </a:r>
            </a:p>
          </p:txBody>
        </p:sp>
        <p:pic>
          <p:nvPicPr>
            <p:cNvPr id="26" name="Picture 25">
              <a:extLst>
                <a:ext uri="{FF2B5EF4-FFF2-40B4-BE49-F238E27FC236}">
                  <a16:creationId xmlns:a16="http://schemas.microsoft.com/office/drawing/2014/main" id="{D2441471-3ECD-EFD5-107C-61C750AFBAE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rot="16200000">
              <a:off x="8340472" y="3247473"/>
              <a:ext cx="530600" cy="530600"/>
            </a:xfrm>
            <a:prstGeom prst="rect">
              <a:avLst/>
            </a:prstGeom>
          </p:spPr>
        </p:pic>
      </p:grpSp>
      <p:sp>
        <p:nvSpPr>
          <p:cNvPr id="18" name="TextBox 17">
            <a:extLst>
              <a:ext uri="{FF2B5EF4-FFF2-40B4-BE49-F238E27FC236}">
                <a16:creationId xmlns:a16="http://schemas.microsoft.com/office/drawing/2014/main" id="{2297A5E5-0E1A-EA03-A06C-877EB569A776}"/>
              </a:ext>
            </a:extLst>
          </p:cNvPr>
          <p:cNvSpPr txBox="1"/>
          <p:nvPr/>
        </p:nvSpPr>
        <p:spPr>
          <a:xfrm>
            <a:off x="41112" y="1251459"/>
            <a:ext cx="6440375" cy="3416320"/>
          </a:xfrm>
          <a:prstGeom prst="rect">
            <a:avLst/>
          </a:prstGeom>
          <a:noFill/>
        </p:spPr>
        <p:txBody>
          <a:bodyPr wrap="square" rtlCol="0">
            <a:spAutoFit/>
          </a:bodyPr>
          <a:lstStyle/>
          <a:p>
            <a:pPr algn="just"/>
            <a:r>
              <a:rPr lang="en-US" dirty="0">
                <a:solidFill>
                  <a:schemeClr val="tx1">
                    <a:lumMod val="75000"/>
                    <a:lumOff val="25000"/>
                  </a:schemeClr>
                </a:solidFill>
              </a:rPr>
              <a:t>The Olist e-commerce store demonstrates significant potential for growth through data-driven strategies. By analyzing sales trends, customer behavior, and market demand, Olist can optimize product offerings, pricing, and marketing efforts to boost revenue. Operational efficiency, including inventory management and timely delivery, remains key to enhancing customer satisfaction and loyalty. Challenges such as high competition, return management, and data accuracy require continuous monitoring and process improvement. By focusing on innovation, personalized services, and effective collaboration with suppliers and logistics partners, Olist can strengthen its market presence and achieve sustainable success in the competitive e-commerce landscape.</a:t>
            </a:r>
            <a:endParaRPr lang="en-IN" dirty="0">
              <a:solidFill>
                <a:schemeClr val="tx1">
                  <a:lumMod val="75000"/>
                  <a:lumOff val="25000"/>
                </a:schemeClr>
              </a:solidFill>
            </a:endParaRPr>
          </a:p>
        </p:txBody>
      </p:sp>
      <p:sp>
        <p:nvSpPr>
          <p:cNvPr id="27" name="TextBox 26">
            <a:extLst>
              <a:ext uri="{FF2B5EF4-FFF2-40B4-BE49-F238E27FC236}">
                <a16:creationId xmlns:a16="http://schemas.microsoft.com/office/drawing/2014/main" id="{0DD8EB74-356E-401F-4AA3-105F4D20BC3C}"/>
              </a:ext>
            </a:extLst>
          </p:cNvPr>
          <p:cNvSpPr txBox="1"/>
          <p:nvPr/>
        </p:nvSpPr>
        <p:spPr>
          <a:xfrm>
            <a:off x="-611500" y="636428"/>
            <a:ext cx="7273212" cy="461665"/>
          </a:xfrm>
          <a:prstGeom prst="rect">
            <a:avLst/>
          </a:prstGeom>
          <a:noFill/>
        </p:spPr>
        <p:txBody>
          <a:bodyPr wrap="square">
            <a:spAutoFit/>
          </a:bodyPr>
          <a:lstStyle/>
          <a:p>
            <a:pPr algn="ctr"/>
            <a:r>
              <a:rPr lang="en-IN" sz="2400" dirty="0">
                <a:solidFill>
                  <a:srgbClr val="FF5969"/>
                </a:solidFill>
                <a:latin typeface="Berlin Sans FB Demi" panose="020E0802020502020306" pitchFamily="34" charset="0"/>
              </a:rPr>
              <a:t>CONCLUSION</a:t>
            </a:r>
          </a:p>
        </p:txBody>
      </p:sp>
      <p:sp>
        <p:nvSpPr>
          <p:cNvPr id="30" name="TextBox 29">
            <a:extLst>
              <a:ext uri="{FF2B5EF4-FFF2-40B4-BE49-F238E27FC236}">
                <a16:creationId xmlns:a16="http://schemas.microsoft.com/office/drawing/2014/main" id="{E1FBEAB2-2EE9-C162-F04D-6D208753371E}"/>
              </a:ext>
            </a:extLst>
          </p:cNvPr>
          <p:cNvSpPr txBox="1"/>
          <p:nvPr/>
        </p:nvSpPr>
        <p:spPr>
          <a:xfrm>
            <a:off x="-521850" y="5015646"/>
            <a:ext cx="7273212" cy="369332"/>
          </a:xfrm>
          <a:prstGeom prst="rect">
            <a:avLst/>
          </a:prstGeom>
          <a:noFill/>
        </p:spPr>
        <p:txBody>
          <a:bodyPr wrap="square">
            <a:spAutoFit/>
          </a:bodyPr>
          <a:lstStyle/>
          <a:p>
            <a:pPr algn="ctr"/>
            <a:r>
              <a:rPr lang="en-IN" sz="1800" dirty="0">
                <a:solidFill>
                  <a:srgbClr val="FF5969"/>
                </a:solidFill>
                <a:latin typeface="Berlin Sans FB Demi" panose="020E0802020502020306" pitchFamily="34" charset="0"/>
              </a:rPr>
              <a:t>THANK YOU</a:t>
            </a:r>
          </a:p>
        </p:txBody>
      </p:sp>
    </p:spTree>
    <p:extLst>
      <p:ext uri="{BB962C8B-B14F-4D97-AF65-F5344CB8AC3E}">
        <p14:creationId xmlns:p14="http://schemas.microsoft.com/office/powerpoint/2010/main" val="3156763231"/>
      </p:ext>
    </p:extLst>
  </p:cSld>
  <p:clrMapOvr>
    <a:masterClrMapping/>
  </p:clrMapOvr>
  <mc:AlternateContent xmlns:mc="http://schemas.openxmlformats.org/markup-compatibility/2006" xmlns:p159="http://schemas.microsoft.com/office/powerpoint/2015/09/main">
    <mc:Choice Requires="p159">
      <p:transition spd="med">
        <p159:morph option="byObject"/>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499"/>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p:bldLst>
  </p:timing>
</p:sld>
</file>

<file path=ppt/theme/theme1.xml><?xml version="1.0" encoding="utf-8"?>
<a:theme xmlns:a="http://schemas.openxmlformats.org/drawingml/2006/main" name="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1485</TotalTime>
  <Words>1661</Words>
  <Application>Microsoft Office PowerPoint</Application>
  <PresentationFormat>Widescreen</PresentationFormat>
  <Paragraphs>248</Paragraphs>
  <Slides>11</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11</vt:i4>
      </vt:variant>
    </vt:vector>
  </HeadingPairs>
  <TitlesOfParts>
    <vt:vector size="17" baseType="lpstr">
      <vt:lpstr>Arial</vt:lpstr>
      <vt:lpstr>Berlin Sans FB Demi</vt:lpstr>
      <vt:lpstr>Calibri</vt:lpstr>
      <vt:lpstr>Calibri Light</vt:lpstr>
      <vt:lpstr>Tw Cen MT</vt:lpstr>
      <vt:lpstr>Office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PowerPoint-Präsentation</dc:title>
  <dc:creator>Zähringer</dc:creator>
  <cp:lastModifiedBy>Smrutishree Behera</cp:lastModifiedBy>
  <cp:revision>31</cp:revision>
  <dcterms:created xsi:type="dcterms:W3CDTF">2017-01-05T13:17:27Z</dcterms:created>
  <dcterms:modified xsi:type="dcterms:W3CDTF">2026-01-07T06:51:08Z</dcterms:modified>
</cp:coreProperties>
</file>